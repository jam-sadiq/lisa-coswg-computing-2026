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Title slide (~1 min)
Welcome. This 30-minute session covers two practical skills that tend to make a big difference to day-to-day research productivity: understanding where your code is actually slow, and using clusters efficiently.
We'll use a running example throughout — a realistic LISA-style data analysis script — so everything is connected.
No slides are meant to be memorised. The goal is that by the end you know which tool to reach for and roughly how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Overview (~30 sec)
Here's the plan. Two blocks, about 15 minutes each.
The profiling block is about finding where your code is actually slow — before you spend time optimising the wrong thing. The cluster block is about using HPC resources efficiently and reproducibly.
Both blocks use examples from a LISA-style data analysis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Section divider
The most common mistake: spending 2 hours making a function 10x faster, only to discover it was called once and took 0.01s. Profiling prevents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Why profile (~2 min)
Show of hands — how many people have rewritten a function to make it faster, then run the overall script and found it was no faster overall? That's the problem profiling solves.
The Knuth quote is famous and still true. Optimise based on evidence, not intuition.
The 80/20 rule almost always holds in scientific code. A matched-filter pipeline I've seen had 90% of runtime in a single np.dot inside a loop — completely obvious once you profile, completely non-obvious before.
For LISA specifically: reading large TDI data files, computing PSDs, running matched filters — all of these have classic bottlenecks that profiling reveals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Toolkit (~2 min)
Four tools, each at a different level of granularity.
CPROFILE: built-in, no install needed. Run it first, every time. It tells you which FUNCTION is slow.
SNAKEVIZ: takes cProfile's output and makes it interactive in the browser. The icicle chart is really intuitive — wide bars = lots of time. Takes 30 seconds to install and use.
LINE_PROFILER: once cProfile tells you "it's slow in compute_psd()", line_profiler tells you which LINE of compute_psd is slow. Needs a @profile decorator on the function you want to inspect.
MEMORY_PROFILER: same idea but for RAM. Very useful when your cluster job gets OOM-killed and you don't know why.
The workflow is: cProfile → SnakeViz → line_profiler. You almost never need all four in one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Demo (~4 min)
[If live-demoing, switch to terminal here and run: python -m cProfile -o out.prof pipeline.py &amp;&amp; snakeviz out.prof]
Walk through the script: load_strain reads a numpy array (fast). compute_psd runs scipy.signal.welch (moderate). matched_filter loops over 10,000 templates and calls np.dot each time. That's the problem.
The cProfile output is immediately clear: 41 seconds in matched_filter, almost all of that in np.dot called 10,000 times. load_strain: 0.01s. compute_psd: 0.43s. So optimising compute_psd would have given us maybe a 10% improvement. The loop is the real bottleneck.
The fix: stack all templates into a 2D matrix and do one matrix multiplication. NumPy's @ operator calls BLAS under the hood — written in Fortran, optimised over decades. Result: ~80x speedup with 2 lines changed.
KEY POINT: We didn't need to understand the code deeply to find this. We just ran cProfile and looked at the top line. That's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Deep-dive tools (~3 min)
LINE_PROFILER: once cProfile names the slow function, decorate it with @profile and run kernprof. The output shows you each line's % contribution. In this example, a call to noise_curve(f) inside compute_psd is costing 99.5% of that function's time — because noise_curve was making a database lookup on every call. Not obvious at all from reading the code.
MEMORY_PROFILER: shows RAM usage line by line. Very useful when your cluster job is OOM-killed. The example shows loading all segments at once — 5.7 GB in one list comprehension. The fix is to stream data in chunks instead.
SUMMARY: The workflow is always the same: cProfile → SnakeViz → line_profiler → fix → re-profile. Never optimise and then profile; always profile first.
PRACTICAL TIP: Keep a profiling script in your repo. Something like profile_pipeline.py that runs with a tiny test dataset and produces out.prof. Run it whenever you make major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Section divider
Moving to clusters. Most of you submit SLURM jobs. The question is: are you using the cluster well? There are 5–6 common mistakes that cost a lot of compute time and queue time. We'll go through them and the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Job arrays (~3 min)
This is the single most impactful change most researchers can make to how they use clusters.
The bad pattern: a bash loop that calls sbatch 1000 times. This hammers the scheduler, creates 1000 separate queue entries, and is a pain to manage. Cluster admins actively dislike this.
Job arrays are the right solution. One sbatch command, one queue entry, SLURM handles the parallelism. SLURM_ARRAY_TASK_ID is an integer from 0 to N-1 that each subjob gets. You use it to index into your parameter list — e.g., read line SLURM_ARRAY_TASK_ID from a file of signal parameters.
The --array=0-999%50 syntax is particularly useful: it says "run 1000 jobs total, but at most 50 simultaneously." Good for cluster etiquette and for not monopolising the queue.
LISA use case: you have 10,000 signal templates to filter. Put the template parameters in a CSV file, use the task ID to read the right row. Clean, simple,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I/O + checkpointing (~3 min)
I/O WALL: This catches a lot of people. You submit 500 jobs that all start at the same time and all try to read the same large file from a shared NFS filesystem. The filesystem collapses under the load and every job slows to a crawl. 
The fix: TMPDIR. Every SLURM job gets a private fast local scratch directory. Copy your data there at the start of the job. It takes 10–30 seconds and can make jobs 5–10× faster.
The other option: pre-split your data. If job 0 needs signal templates 0–99 and job 1 needs 100–199, pre-generate those files rather than reading the whole dataset each time.
CHECKPOINTING: Wall time limits are the enemy of long calculations. The solution is to save your state periodically. The key trick is the SIGTERM handler — SLURM sends SIGTERM before killing your job. If you catch it and save state, you can resume rather than restart.
The atomic rename (write to .tmp then rename) prevents corrupt checkpoint files if the job is killed mid-write.
Note: some clusters have --signal=USR1@60 which sends a custom signal 60 seconds before the wall time — very useful for triggering a final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Environment reproducibility (~2 min)
This is about making your code run correctly on the cluster and being reproducible for reviewers (and yourself in 2 years).
CONDA/MAMBA: Best for scientific Python. Mamba is a faster drop-in for conda. The key file is environment.yml — commit this to your git repository. When you run on the cluster, recreate the environment from this file. Use mamba instead of conda — it's dramatically faster at solving dependencies.
PIP + REQUIREMENTS: Simpler but Python-only. pip freeze captures exact versions. Fine for pure-Python projects.
CONTAINERS (APPTAINER): This is the gold standard. Apptainer (formerly Singularity) is the HPC-safe container system — unlike Docker, it doesn't require root. The image contains your entire environment: Python, libraries, system libraries. Build it once, it works anywhere. Very good for long-term reproducibility — your analysis from 2024 still runs in 2029.
QUICK RECOMMENDATION: For most LISA researchers, start with conda/mamba and environment.yml. Graduate to Apptainer when you're submitting to journals and need to guarantee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SLURM anatomy (~3 min)
Let's look at what a good SLURM script actually looks like, with all the practices together.
Walk through each annotation:
--array=0-9999%100: job array with a rate limit of 100 simultaneous tasks. This is polite cluster use.
--cpus-per-task=4 and --mem=16G: request what you actually measured you need. Over-requesting wastes your allocation and keeps jobs in the queue longer.
--output=logs/%A_%a.out: keeps logs organised. %A is the array job ID, %a is the task ID. Make the logs/ directory before submitting.
--signal=USR1@120: this is the checkpointing hook. 2 minutes before wall time, SLURM sends USR1. Catch it in Python to save state.
cp to TMPDIR: fast local scratch. Always do this if reading data.
source activate lisa_env: environment loaded from a reproducible spec.
SLURM_ARRAY_TASK_ID in the python call: the task ID is how your script knows which piece of work to do.
This script is a template — save it in your repo as slurm_template.sh and adapt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Monitoring (~2 min)
Quick tour of the commands you'll use most. These are worth knowing by heart.
squeue: most used. -u $USER filters to your jobs. STATUS column: R=running, PD=pending.
squeue with --format: when a job is stuck in PD, look at the REASON. "Resources" means the cluster is busy. "QOSMaxCpuPerUserLimit" means you've hit your fair-share limit — submit fewer jobs.
sacct: post-mortem. ExitCode 0:0 means success. Anything else: look at the log files. MaxRSS is peak RAM — use it to tune your --mem requests next time.
seff: gives you efficiency percentages. If CPU efficiency is 20%, your code isn't using all 4 cores you requested. If memory efficiency is 10%, you massively over-requested.
The OOM tip at the bottom is practical: if your job gets killed with "OUT_OF_MEMORY", sacct MaxRSS tells you what it actually needed. Add 20% margin and resubmit.
KEY MESSAGE: Check seff on your jobs. It's the fastest way to find inefficiencies.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Checklist (~1 min)
This is the takeaway slide. Both lists are short enough to keep in mind.
On profiling: the workflow is always profile → identify → fix → re-profile. Never skip the last step.
On clusters: the biggest wins are job arrays, $TMPDIR for I/O, and checking seff.
I'd suggest taking a photo of this slide. When you're about to submit your next big job or start optimising, run down the list.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891B2"/>
          </a:solidFill>
          <a:ln/>
        </p:spPr>
      </p:sp>
      <p:sp>
        <p:nvSpPr>
          <p:cNvPr id="3" name="Shape 1"/>
          <p:cNvSpPr/>
          <p:nvPr/>
        </p:nvSpPr>
        <p:spPr>
          <a:xfrm>
            <a:off x="6583680" y="-1188720"/>
            <a:ext cx="4572000" cy="4572000"/>
          </a:xfrm>
          <a:prstGeom prst="ellipse">
            <a:avLst/>
          </a:prstGeom>
          <a:solidFill>
            <a:srgbClr val="0E4D8B">
              <a:alpha val="30000"/>
            </a:srgbClr>
          </a:solidFill>
          <a:ln w="12700">
            <a:solidFill>
              <a:srgbClr val="0E4D8B">
                <a:alpha val="30000"/>
              </a:srgbClr>
            </a:solidFill>
            <a:prstDash val="solid"/>
          </a:ln>
        </p:spPr>
      </p:sp>
      <p:sp>
        <p:nvSpPr>
          <p:cNvPr id="4" name="Shape 2"/>
          <p:cNvSpPr/>
          <p:nvPr/>
        </p:nvSpPr>
        <p:spPr>
          <a:xfrm>
            <a:off x="7315200" y="-548640"/>
            <a:ext cx="2926080" cy="2926080"/>
          </a:xfrm>
          <a:prstGeom prst="ellipse">
            <a:avLst/>
          </a:prstGeom>
          <a:solidFill>
            <a:srgbClr val="0891B2">
              <a:alpha val="22000"/>
            </a:srgbClr>
          </a:solidFill>
          <a:ln w="12700">
            <a:solidFill>
              <a:srgbClr val="0891B2">
                <a:alpha val="22000"/>
              </a:srgbClr>
            </a:solidFill>
            <a:prstDash val="solid"/>
          </a:ln>
        </p:spPr>
      </p:sp>
      <p:sp>
        <p:nvSpPr>
          <p:cNvPr id="5" name="Text 3"/>
          <p:cNvSpPr/>
          <p:nvPr/>
        </p:nvSpPr>
        <p:spPr>
          <a:xfrm>
            <a:off x="411480" y="594360"/>
            <a:ext cx="8046720" cy="219456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Code Profiling &amp;</a:t>
            </a:r>
            <a:endParaRPr lang="en-US" sz="3800" dirty="0"/>
          </a:p>
          <a:p>
            <a:pPr indent="0" marL="0">
              <a:buNone/>
            </a:pPr>
            <a:r>
              <a:rPr lang="en-US" sz="3800" b="1" dirty="0">
                <a:solidFill>
                  <a:srgbClr val="FFFFFF"/>
                </a:solidFill>
                <a:latin typeface="Georgia" pitchFamily="34" charset="0"/>
                <a:ea typeface="Georgia" pitchFamily="34" charset="-122"/>
                <a:cs typeface="Georgia" pitchFamily="34" charset="-120"/>
              </a:rPr>
              <a:t>Cluster Good Practices</a:t>
            </a:r>
            <a:endParaRPr lang="en-US" sz="3800" dirty="0"/>
          </a:p>
        </p:txBody>
      </p:sp>
      <p:sp>
        <p:nvSpPr>
          <p:cNvPr id="6" name="Text 4"/>
          <p:cNvSpPr/>
          <p:nvPr/>
        </p:nvSpPr>
        <p:spPr>
          <a:xfrm>
            <a:off x="411480" y="2788920"/>
            <a:ext cx="7772400" cy="502920"/>
          </a:xfrm>
          <a:prstGeom prst="rect">
            <a:avLst/>
          </a:prstGeom>
          <a:noFill/>
          <a:ln/>
        </p:spPr>
        <p:txBody>
          <a:bodyPr wrap="square" rtlCol="0" anchor="ctr"/>
          <a:lstStyle/>
          <a:p>
            <a:pPr indent="0" marL="0">
              <a:buNone/>
            </a:pPr>
            <a:r>
              <a:rPr lang="en-US" sz="1700" i="1" dirty="0">
                <a:solidFill>
                  <a:srgbClr val="A8C8E8"/>
                </a:solidFill>
                <a:latin typeface="Calibri" pitchFamily="34" charset="0"/>
                <a:ea typeface="Calibri" pitchFamily="34" charset="-122"/>
                <a:cs typeface="Calibri" pitchFamily="34" charset="-120"/>
              </a:rPr>
              <a:t>A practical guide for researchers working on LISA GW data</a:t>
            </a:r>
            <a:endParaRPr lang="en-US" sz="1700" dirty="0"/>
          </a:p>
        </p:txBody>
      </p:sp>
      <p:sp>
        <p:nvSpPr>
          <p:cNvPr id="7" name="Shape 5"/>
          <p:cNvSpPr/>
          <p:nvPr/>
        </p:nvSpPr>
        <p:spPr>
          <a:xfrm>
            <a:off x="411480" y="3383280"/>
            <a:ext cx="5029200" cy="45720"/>
          </a:xfrm>
          <a:prstGeom prst="rect">
            <a:avLst/>
          </a:prstGeom>
          <a:solidFill>
            <a:srgbClr val="0891B2"/>
          </a:solidFill>
          <a:ln/>
        </p:spPr>
      </p:sp>
      <p:sp>
        <p:nvSpPr>
          <p:cNvPr id="8" name="Text 6"/>
          <p:cNvSpPr/>
          <p:nvPr/>
        </p:nvSpPr>
        <p:spPr>
          <a:xfrm>
            <a:off x="411480" y="3520440"/>
            <a:ext cx="8229600" cy="347472"/>
          </a:xfrm>
          <a:prstGeom prst="rect">
            <a:avLst/>
          </a:prstGeom>
          <a:noFill/>
          <a:ln/>
        </p:spPr>
        <p:txBody>
          <a:bodyPr wrap="square" rtlCol="0" anchor="ctr"/>
          <a:lstStyle/>
          <a:p>
            <a:pPr indent="0" marL="0">
              <a:buNone/>
            </a:pPr>
            <a:r>
              <a:rPr lang="en-US" sz="1300" dirty="0">
                <a:solidFill>
                  <a:srgbClr val="7BAFD4"/>
                </a:solidFill>
                <a:latin typeface="Calibri" pitchFamily="34" charset="0"/>
                <a:ea typeface="Calibri" pitchFamily="34" charset="-122"/>
                <a:cs typeface="Calibri" pitchFamily="34" charset="-120"/>
              </a:rPr>
              <a:t>30-minute session  ·  PhD students &amp; postdocs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4D8B"/>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We'll Cover</a:t>
            </a:r>
            <a:endParaRPr lang="en-US" sz="2600" dirty="0"/>
          </a:p>
        </p:txBody>
      </p:sp>
      <p:sp>
        <p:nvSpPr>
          <p:cNvPr id="4" name="Shape 2"/>
          <p:cNvSpPr/>
          <p:nvPr/>
        </p:nvSpPr>
        <p:spPr>
          <a:xfrm>
            <a:off x="274320" y="914400"/>
            <a:ext cx="3931920" cy="3931920"/>
          </a:xfrm>
          <a:prstGeom prst="rect">
            <a:avLst/>
          </a:prstGeom>
          <a:solidFill>
            <a:srgbClr val="FFFFFF"/>
          </a:solidFill>
          <a:ln w="10160">
            <a:solidFill>
              <a:srgbClr val="C4D8F0"/>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274320" y="914400"/>
            <a:ext cx="3931920" cy="502920"/>
          </a:xfrm>
          <a:prstGeom prst="rect">
            <a:avLst/>
          </a:prstGeom>
          <a:solidFill>
            <a:srgbClr val="0E4D8B"/>
          </a:solidFill>
          <a:ln/>
        </p:spPr>
      </p:sp>
      <p:sp>
        <p:nvSpPr>
          <p:cNvPr id="6" name="Text 4"/>
          <p:cNvSpPr/>
          <p:nvPr/>
        </p:nvSpPr>
        <p:spPr>
          <a:xfrm>
            <a:off x="411480" y="932688"/>
            <a:ext cx="3657600" cy="466344"/>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  Code Profiling  ·  ~15 min</a:t>
            </a:r>
            <a:endParaRPr lang="en-US" sz="1400" dirty="0"/>
          </a:p>
        </p:txBody>
      </p:sp>
      <p:sp>
        <p:nvSpPr>
          <p:cNvPr id="7" name="Text 5"/>
          <p:cNvSpPr/>
          <p:nvPr/>
        </p:nvSpPr>
        <p:spPr>
          <a:xfrm>
            <a:off x="457200" y="1508760"/>
            <a:ext cx="3611880" cy="3200400"/>
          </a:xfrm>
          <a:prstGeom prst="rect">
            <a:avLst/>
          </a:prstGeom>
          <a:noFill/>
          <a:ln/>
        </p:spPr>
        <p:txBody>
          <a:bodyPr wrap="square" rtlCol="0" anchor="ctr"/>
          <a:lstStyle/>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Why profiling first, optimising second</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cProfile — the standard starting point</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SnakeViz — visualise the call graph</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line_profiler — find the exact slow line</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memory_profiler — catch memory leaks</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Workflow: profile → identify → fix → verify</a:t>
            </a:r>
            <a:endParaRPr lang="en-US" sz="1200" dirty="0"/>
          </a:p>
        </p:txBody>
      </p:sp>
      <p:sp>
        <p:nvSpPr>
          <p:cNvPr id="8" name="Shape 6"/>
          <p:cNvSpPr/>
          <p:nvPr/>
        </p:nvSpPr>
        <p:spPr>
          <a:xfrm>
            <a:off x="4937760" y="914400"/>
            <a:ext cx="3931920" cy="3931920"/>
          </a:xfrm>
          <a:prstGeom prst="rect">
            <a:avLst/>
          </a:prstGeom>
          <a:solidFill>
            <a:srgbClr val="FFFFFF"/>
          </a:solidFill>
          <a:ln w="10160">
            <a:solidFill>
              <a:srgbClr val="C4D8F0"/>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4937760" y="914400"/>
            <a:ext cx="3931920" cy="502920"/>
          </a:xfrm>
          <a:prstGeom prst="rect">
            <a:avLst/>
          </a:prstGeom>
          <a:solidFill>
            <a:srgbClr val="1A6B4A"/>
          </a:solidFill>
          <a:ln/>
        </p:spPr>
      </p:sp>
      <p:sp>
        <p:nvSpPr>
          <p:cNvPr id="10" name="Text 8"/>
          <p:cNvSpPr/>
          <p:nvPr/>
        </p:nvSpPr>
        <p:spPr>
          <a:xfrm>
            <a:off x="5074920" y="932688"/>
            <a:ext cx="3657600" cy="466344"/>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  Cluster Practices  ·  ~15 min</a:t>
            </a:r>
            <a:endParaRPr lang="en-US" sz="1400" dirty="0"/>
          </a:p>
        </p:txBody>
      </p:sp>
      <p:sp>
        <p:nvSpPr>
          <p:cNvPr id="11" name="Text 9"/>
          <p:cNvSpPr/>
          <p:nvPr/>
        </p:nvSpPr>
        <p:spPr>
          <a:xfrm>
            <a:off x="5120640" y="1508760"/>
            <a:ext cx="3611880" cy="3200400"/>
          </a:xfrm>
          <a:prstGeom prst="rect">
            <a:avLst/>
          </a:prstGeom>
          <a:noFill/>
          <a:ln/>
        </p:spPr>
        <p:txBody>
          <a:bodyPr wrap="square" rtlCol="0" anchor="ctr"/>
          <a:lstStyle/>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Job arrays — the right abstraction</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Avoiding the I/O wall</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Checkpointing long runs</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Environment reproducibility</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Monitoring &amp; diagnosing failures</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Good SLURM script anatomy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4D8B"/>
          </a:solidFill>
          <a:ln/>
        </p:spPr>
      </p:sp>
      <p:sp>
        <p:nvSpPr>
          <p:cNvPr id="3" name="Shape 1"/>
          <p:cNvSpPr/>
          <p:nvPr/>
        </p:nvSpPr>
        <p:spPr>
          <a:xfrm>
            <a:off x="5943600" y="-1371600"/>
            <a:ext cx="4572000" cy="4572000"/>
          </a:xfrm>
          <a:prstGeom prst="ellipse">
            <a:avLst/>
          </a:prstGeom>
          <a:solidFill>
            <a:srgbClr val="0E4D8B">
              <a:alpha val="20000"/>
            </a:srgbClr>
          </a:solidFill>
          <a:ln w="12700">
            <a:solidFill>
              <a:srgbClr val="0E4D8B">
                <a:alpha val="20000"/>
              </a:srgbClr>
            </a:solidFill>
            <a:prstDash val="solid"/>
          </a:ln>
        </p:spPr>
      </p:sp>
      <p:sp>
        <p:nvSpPr>
          <p:cNvPr id="4" name="Text 2"/>
          <p:cNvSpPr/>
          <p:nvPr/>
        </p:nvSpPr>
        <p:spPr>
          <a:xfrm>
            <a:off x="365760" y="1280160"/>
            <a:ext cx="8412480" cy="109728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Part 1</a:t>
            </a:r>
            <a:endParaRPr lang="en-US" sz="4200" dirty="0"/>
          </a:p>
          <a:p>
            <a:pPr indent="0" marL="0">
              <a:buNone/>
            </a:pPr>
            <a:r>
              <a:rPr lang="en-US" sz="4200" b="1" dirty="0">
                <a:solidFill>
                  <a:srgbClr val="FFFFFF"/>
                </a:solidFill>
                <a:latin typeface="Georgia" pitchFamily="34" charset="0"/>
                <a:ea typeface="Georgia" pitchFamily="34" charset="-122"/>
                <a:cs typeface="Georgia" pitchFamily="34" charset="-120"/>
              </a:rPr>
              <a:t>Code Profiling</a:t>
            </a:r>
            <a:endParaRPr lang="en-US" sz="4200" dirty="0"/>
          </a:p>
        </p:txBody>
      </p:sp>
      <p:sp>
        <p:nvSpPr>
          <p:cNvPr id="5" name="Text 3"/>
          <p:cNvSpPr/>
          <p:nvPr/>
        </p:nvSpPr>
        <p:spPr>
          <a:xfrm>
            <a:off x="365760" y="2423160"/>
            <a:ext cx="7315200" cy="502920"/>
          </a:xfrm>
          <a:prstGeom prst="rect">
            <a:avLst/>
          </a:prstGeom>
          <a:noFill/>
          <a:ln/>
        </p:spPr>
        <p:txBody>
          <a:bodyPr wrap="square" rtlCol="0" anchor="ctr"/>
          <a:lstStyle/>
          <a:p>
            <a:pPr indent="0" marL="0">
              <a:buNone/>
            </a:pPr>
            <a:r>
              <a:rPr lang="en-US" sz="1700" i="1" dirty="0">
                <a:solidFill>
                  <a:srgbClr val="A8C8E8"/>
                </a:solidFill>
                <a:latin typeface="Calibri" pitchFamily="34" charset="0"/>
                <a:ea typeface="Calibri" pitchFamily="34" charset="-122"/>
                <a:cs typeface="Calibri" pitchFamily="34" charset="-120"/>
              </a:rPr>
              <a:t>Find where your code is slow — before you start optimising</a:t>
            </a:r>
            <a:endParaRPr lang="en-US" sz="1700" dirty="0"/>
          </a:p>
        </p:txBody>
      </p:sp>
      <p:sp>
        <p:nvSpPr>
          <p:cNvPr id="6" name="Shape 4"/>
          <p:cNvSpPr/>
          <p:nvPr/>
        </p:nvSpPr>
        <p:spPr>
          <a:xfrm>
            <a:off x="365760" y="3017520"/>
            <a:ext cx="3657600" cy="45720"/>
          </a:xfrm>
          <a:prstGeom prst="rect">
            <a:avLst/>
          </a:prstGeom>
          <a:solidFill>
            <a:srgbClr val="0E4D8B"/>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4D8B"/>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Profile First?</a:t>
            </a:r>
            <a:endParaRPr lang="en-US" sz="2600" dirty="0"/>
          </a:p>
        </p:txBody>
      </p:sp>
      <p:sp>
        <p:nvSpPr>
          <p:cNvPr id="4" name="Shape 2"/>
          <p:cNvSpPr/>
          <p:nvPr/>
        </p:nvSpPr>
        <p:spPr>
          <a:xfrm>
            <a:off x="274320" y="868680"/>
            <a:ext cx="8595360" cy="960120"/>
          </a:xfrm>
          <a:prstGeom prst="rect">
            <a:avLst/>
          </a:prstGeom>
          <a:solidFill>
            <a:srgbClr val="EBF3FF"/>
          </a:solidFill>
          <a:ln w="10160">
            <a:solidFill>
              <a:srgbClr val="BBCFE8"/>
            </a:solidFill>
            <a:prstDash val="solid"/>
          </a:ln>
        </p:spPr>
      </p:sp>
      <p:sp>
        <p:nvSpPr>
          <p:cNvPr id="5" name="Text 3"/>
          <p:cNvSpPr/>
          <p:nvPr/>
        </p:nvSpPr>
        <p:spPr>
          <a:xfrm>
            <a:off x="457200" y="896112"/>
            <a:ext cx="8321040" cy="868680"/>
          </a:xfrm>
          <a:prstGeom prst="rect">
            <a:avLst/>
          </a:prstGeom>
          <a:noFill/>
          <a:ln/>
        </p:spPr>
        <p:txBody>
          <a:bodyPr wrap="square" rtlCol="0" anchor="ctr"/>
          <a:lstStyle/>
          <a:p>
            <a:pPr indent="0" marL="0">
              <a:buNone/>
            </a:pPr>
            <a:r>
              <a:rPr lang="en-US" sz="1700" b="1" i="1" dirty="0">
                <a:solidFill>
                  <a:srgbClr val="0E4D8B"/>
                </a:solidFill>
                <a:latin typeface="Georgia" pitchFamily="34" charset="0"/>
                <a:ea typeface="Georgia" pitchFamily="34" charset="-122"/>
                <a:cs typeface="Georgia" pitchFamily="34" charset="-120"/>
              </a:rPr>
              <a:t>"Premature optimisation is the root of all evil"</a:t>
            </a:r>
            <a:pPr indent="0" marL="0">
              <a:buNone/>
            </a:pPr>
            <a:r>
              <a:rPr lang="en-US" sz="1300" dirty="0">
                <a:solidFill>
                  <a:srgbClr val="4A6688"/>
                </a:solidFill>
                <a:latin typeface="Georgia" pitchFamily="34" charset="0"/>
                <a:ea typeface="Georgia" pitchFamily="34" charset="-122"/>
                <a:cs typeface="Georgia" pitchFamily="34" charset="-120"/>
              </a:rPr>
              <a:t>  — Donald Knuth</a:t>
            </a:r>
            <a:endParaRPr lang="en-US" sz="1700" dirty="0"/>
          </a:p>
        </p:txBody>
      </p:sp>
      <p:sp>
        <p:nvSpPr>
          <p:cNvPr id="6" name="Shape 4"/>
          <p:cNvSpPr/>
          <p:nvPr/>
        </p:nvSpPr>
        <p:spPr>
          <a:xfrm>
            <a:off x="274320" y="1965960"/>
            <a:ext cx="2743200" cy="269748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274320" y="1965960"/>
            <a:ext cx="2743200" cy="457200"/>
          </a:xfrm>
          <a:prstGeom prst="rect">
            <a:avLst/>
          </a:prstGeom>
          <a:solidFill>
            <a:srgbClr val="C0392B"/>
          </a:solidFill>
          <a:ln/>
        </p:spPr>
      </p:sp>
      <p:sp>
        <p:nvSpPr>
          <p:cNvPr id="8" name="Text 6"/>
          <p:cNvSpPr/>
          <p:nvPr/>
        </p:nvSpPr>
        <p:spPr>
          <a:xfrm>
            <a:off x="384048" y="1984248"/>
            <a:ext cx="2523744" cy="420624"/>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  You guess wrong</a:t>
            </a:r>
            <a:endParaRPr lang="en-US" sz="1300" dirty="0"/>
          </a:p>
        </p:txBody>
      </p:sp>
      <p:sp>
        <p:nvSpPr>
          <p:cNvPr id="9" name="Text 7"/>
          <p:cNvSpPr/>
          <p:nvPr/>
        </p:nvSpPr>
        <p:spPr>
          <a:xfrm>
            <a:off x="384048" y="2496312"/>
            <a:ext cx="2523744" cy="114300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Intuition about bottlenecks is wrong ~70% of the time. The slow part is rarely where you think.</a:t>
            </a:r>
            <a:endParaRPr lang="en-US" sz="1150" dirty="0"/>
          </a:p>
        </p:txBody>
      </p:sp>
      <p:sp>
        <p:nvSpPr>
          <p:cNvPr id="10" name="Shape 8"/>
          <p:cNvSpPr/>
          <p:nvPr/>
        </p:nvSpPr>
        <p:spPr>
          <a:xfrm>
            <a:off x="3200400" y="1965960"/>
            <a:ext cx="2743200" cy="269748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1" name="Shape 9"/>
          <p:cNvSpPr/>
          <p:nvPr/>
        </p:nvSpPr>
        <p:spPr>
          <a:xfrm>
            <a:off x="3200400" y="1965960"/>
            <a:ext cx="2743200" cy="457200"/>
          </a:xfrm>
          <a:prstGeom prst="rect">
            <a:avLst/>
          </a:prstGeom>
          <a:solidFill>
            <a:srgbClr val="0E4D8B"/>
          </a:solidFill>
          <a:ln/>
        </p:spPr>
      </p:sp>
      <p:sp>
        <p:nvSpPr>
          <p:cNvPr id="12" name="Text 10"/>
          <p:cNvSpPr/>
          <p:nvPr/>
        </p:nvSpPr>
        <p:spPr>
          <a:xfrm>
            <a:off x="3310128" y="1984248"/>
            <a:ext cx="2523744" cy="420624"/>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  80/20 rule applies</a:t>
            </a:r>
            <a:endParaRPr lang="en-US" sz="1300" dirty="0"/>
          </a:p>
        </p:txBody>
      </p:sp>
      <p:sp>
        <p:nvSpPr>
          <p:cNvPr id="13" name="Text 11"/>
          <p:cNvSpPr/>
          <p:nvPr/>
        </p:nvSpPr>
        <p:spPr>
          <a:xfrm>
            <a:off x="3310128" y="2496312"/>
            <a:ext cx="2523744" cy="114300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Typically 80% of runtime is in 20% of the code. Find that 20% and fix only that.</a:t>
            </a:r>
            <a:endParaRPr lang="en-US" sz="1150" dirty="0"/>
          </a:p>
        </p:txBody>
      </p:sp>
      <p:sp>
        <p:nvSpPr>
          <p:cNvPr id="14" name="Shape 12"/>
          <p:cNvSpPr/>
          <p:nvPr/>
        </p:nvSpPr>
        <p:spPr>
          <a:xfrm>
            <a:off x="6126480" y="1965960"/>
            <a:ext cx="2743200" cy="269748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5" name="Shape 13"/>
          <p:cNvSpPr/>
          <p:nvPr/>
        </p:nvSpPr>
        <p:spPr>
          <a:xfrm>
            <a:off x="6126480" y="1965960"/>
            <a:ext cx="2743200" cy="457200"/>
          </a:xfrm>
          <a:prstGeom prst="rect">
            <a:avLst/>
          </a:prstGeom>
          <a:solidFill>
            <a:srgbClr val="1A9E6E"/>
          </a:solidFill>
          <a:ln/>
        </p:spPr>
      </p:sp>
      <p:sp>
        <p:nvSpPr>
          <p:cNvPr id="16" name="Text 14"/>
          <p:cNvSpPr/>
          <p:nvPr/>
        </p:nvSpPr>
        <p:spPr>
          <a:xfrm>
            <a:off x="6236208" y="1984248"/>
            <a:ext cx="2523744" cy="420624"/>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  Measure before &amp; after</a:t>
            </a:r>
            <a:endParaRPr lang="en-US" sz="1300" dirty="0"/>
          </a:p>
        </p:txBody>
      </p:sp>
      <p:sp>
        <p:nvSpPr>
          <p:cNvPr id="17" name="Text 15"/>
          <p:cNvSpPr/>
          <p:nvPr/>
        </p:nvSpPr>
        <p:spPr>
          <a:xfrm>
            <a:off x="6236208" y="2496312"/>
            <a:ext cx="2523744" cy="114300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Without a baseline you can't know if your fix helped — or made things worse.</a:t>
            </a:r>
            <a:endParaRPr lang="en-US" sz="1150" dirty="0"/>
          </a:p>
        </p:txBody>
      </p:sp>
      <p:sp>
        <p:nvSpPr>
          <p:cNvPr id="18" name="Shape 16"/>
          <p:cNvSpPr/>
          <p:nvPr/>
        </p:nvSpPr>
        <p:spPr>
          <a:xfrm>
            <a:off x="274320" y="4663440"/>
            <a:ext cx="8595360" cy="347472"/>
          </a:xfrm>
          <a:prstGeom prst="rect">
            <a:avLst/>
          </a:prstGeom>
          <a:solidFill>
            <a:srgbClr val="FFF3E0"/>
          </a:solidFill>
          <a:ln w="6350">
            <a:solidFill>
              <a:srgbClr val="FFCC88"/>
            </a:solidFill>
            <a:prstDash val="solid"/>
          </a:ln>
        </p:spPr>
      </p:sp>
      <p:sp>
        <p:nvSpPr>
          <p:cNvPr id="19" name="Text 17"/>
          <p:cNvSpPr/>
          <p:nvPr/>
        </p:nvSpPr>
        <p:spPr>
          <a:xfrm>
            <a:off x="384048" y="4681728"/>
            <a:ext cx="8412480" cy="310896"/>
          </a:xfrm>
          <a:prstGeom prst="rect">
            <a:avLst/>
          </a:prstGeom>
          <a:noFill/>
          <a:ln/>
        </p:spPr>
        <p:txBody>
          <a:bodyPr wrap="square" rtlCol="0" anchor="ctr"/>
          <a:lstStyle/>
          <a:p>
            <a:pPr indent="0" marL="0">
              <a:buNone/>
            </a:pPr>
            <a:r>
              <a:rPr lang="en-US" sz="1050" dirty="0">
                <a:solidFill>
                  <a:srgbClr val="7A4800"/>
                </a:solidFill>
                <a:latin typeface="Calibri" pitchFamily="34" charset="0"/>
                <a:ea typeface="Calibri" pitchFamily="34" charset="-122"/>
                <a:cs typeface="Calibri" pitchFamily="34" charset="-120"/>
              </a:rPr>
              <a:t>🔭  LISA context: a matched-filter pipeline over 10⁶ templates can take hours. Profiling typically reveals I/O or FFT repeated inside a loop as the culprit.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4D8B"/>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Profiling Toolkit</a:t>
            </a:r>
            <a:endParaRPr lang="en-US" sz="2600" dirty="0"/>
          </a:p>
        </p:txBody>
      </p:sp>
      <p:sp>
        <p:nvSpPr>
          <p:cNvPr id="4" name="Shape 2"/>
          <p:cNvSpPr/>
          <p:nvPr/>
        </p:nvSpPr>
        <p:spPr>
          <a:xfrm>
            <a:off x="256032" y="896112"/>
            <a:ext cx="8631936" cy="91440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256032" y="896112"/>
            <a:ext cx="64008" cy="914400"/>
          </a:xfrm>
          <a:prstGeom prst="rect">
            <a:avLst/>
          </a:prstGeom>
          <a:solidFill>
            <a:srgbClr val="0E4D8B"/>
          </a:solidFill>
          <a:ln/>
        </p:spPr>
      </p:sp>
      <p:sp>
        <p:nvSpPr>
          <p:cNvPr id="6" name="Text 4"/>
          <p:cNvSpPr/>
          <p:nvPr/>
        </p:nvSpPr>
        <p:spPr>
          <a:xfrm>
            <a:off x="411480" y="987552"/>
            <a:ext cx="1737360" cy="347472"/>
          </a:xfrm>
          <a:prstGeom prst="rect">
            <a:avLst/>
          </a:prstGeom>
          <a:noFill/>
          <a:ln/>
        </p:spPr>
        <p:txBody>
          <a:bodyPr wrap="square" rtlCol="0" anchor="ctr"/>
          <a:lstStyle/>
          <a:p>
            <a:pPr indent="0" marL="0">
              <a:buNone/>
            </a:pPr>
            <a:r>
              <a:rPr lang="en-US" sz="1500" b="1" dirty="0">
                <a:solidFill>
                  <a:srgbClr val="0E4D8B"/>
                </a:solidFill>
                <a:latin typeface="Georgia" pitchFamily="34" charset="0"/>
                <a:ea typeface="Georgia" pitchFamily="34" charset="-122"/>
                <a:cs typeface="Georgia" pitchFamily="34" charset="-120"/>
              </a:rPr>
              <a:t>cProfile</a:t>
            </a:r>
            <a:endParaRPr lang="en-US" sz="1500" dirty="0"/>
          </a:p>
        </p:txBody>
      </p:sp>
      <p:sp>
        <p:nvSpPr>
          <p:cNvPr id="7" name="Text 5"/>
          <p:cNvSpPr/>
          <p:nvPr/>
        </p:nvSpPr>
        <p:spPr>
          <a:xfrm>
            <a:off x="411480" y="1371600"/>
            <a:ext cx="1737360" cy="274320"/>
          </a:xfrm>
          <a:prstGeom prst="rect">
            <a:avLst/>
          </a:prstGeom>
          <a:noFill/>
          <a:ln/>
        </p:spPr>
        <p:txBody>
          <a:bodyPr wrap="square" rtlCol="0" anchor="ctr"/>
          <a:lstStyle/>
          <a:p>
            <a:pPr indent="0" marL="0">
              <a:buNone/>
            </a:pPr>
            <a:r>
              <a:rPr lang="en-US" sz="950" dirty="0">
                <a:solidFill>
                  <a:srgbClr val="888888"/>
                </a:solidFill>
                <a:latin typeface="Consolas" pitchFamily="34" charset="0"/>
                <a:ea typeface="Consolas" pitchFamily="34" charset="-122"/>
                <a:cs typeface="Consolas" pitchFamily="34" charset="-120"/>
              </a:rPr>
              <a:t>(stdlib)</a:t>
            </a:r>
            <a:endParaRPr lang="en-US" sz="950" dirty="0"/>
          </a:p>
        </p:txBody>
      </p:sp>
      <p:sp>
        <p:nvSpPr>
          <p:cNvPr id="8" name="Shape 6"/>
          <p:cNvSpPr/>
          <p:nvPr/>
        </p:nvSpPr>
        <p:spPr>
          <a:xfrm>
            <a:off x="2331720" y="1033272"/>
            <a:ext cx="27432" cy="640080"/>
          </a:xfrm>
          <a:prstGeom prst="rect">
            <a:avLst/>
          </a:prstGeom>
          <a:solidFill>
            <a:srgbClr val="CCDDEE"/>
          </a:solidFill>
          <a:ln/>
        </p:spPr>
      </p:sp>
      <p:sp>
        <p:nvSpPr>
          <p:cNvPr id="9" name="Text 7"/>
          <p:cNvSpPr/>
          <p:nvPr/>
        </p:nvSpPr>
        <p:spPr>
          <a:xfrm>
            <a:off x="2468880" y="987552"/>
            <a:ext cx="594360" cy="274320"/>
          </a:xfrm>
          <a:prstGeom prst="rect">
            <a:avLst/>
          </a:prstGeom>
          <a:noFill/>
          <a:ln/>
        </p:spPr>
        <p:txBody>
          <a:bodyPr wrap="square" rtlCol="0" anchor="ctr"/>
          <a:lstStyle/>
          <a:p>
            <a:pPr indent="0" marL="0">
              <a:buNone/>
            </a:pPr>
            <a:r>
              <a:rPr lang="en-US" sz="1100" b="1" dirty="0">
                <a:solidFill>
                  <a:srgbClr val="4A6688"/>
                </a:solidFill>
                <a:latin typeface="Calibri" pitchFamily="34" charset="0"/>
                <a:ea typeface="Calibri" pitchFamily="34" charset="-122"/>
                <a:cs typeface="Calibri" pitchFamily="34" charset="-120"/>
              </a:rPr>
              <a:t>When: </a:t>
            </a:r>
            <a:endParaRPr lang="en-US" sz="1100" dirty="0"/>
          </a:p>
        </p:txBody>
      </p:sp>
      <p:sp>
        <p:nvSpPr>
          <p:cNvPr id="10" name="Text 8"/>
          <p:cNvSpPr/>
          <p:nvPr/>
        </p:nvSpPr>
        <p:spPr>
          <a:xfrm>
            <a:off x="3017520" y="987552"/>
            <a:ext cx="3383280" cy="34747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Always start here. Function-level timing. Zero-config.</a:t>
            </a:r>
            <a:endParaRPr lang="en-US" sz="1100" dirty="0"/>
          </a:p>
        </p:txBody>
      </p:sp>
      <p:sp>
        <p:nvSpPr>
          <p:cNvPr id="11" name="Shape 9"/>
          <p:cNvSpPr/>
          <p:nvPr/>
        </p:nvSpPr>
        <p:spPr>
          <a:xfrm>
            <a:off x="6537960" y="1005840"/>
            <a:ext cx="2240280" cy="694944"/>
          </a:xfrm>
          <a:prstGeom prst="rect">
            <a:avLst/>
          </a:prstGeom>
          <a:solidFill>
            <a:srgbClr val="1E1E2E"/>
          </a:solidFill>
          <a:ln/>
        </p:spPr>
      </p:sp>
      <p:sp>
        <p:nvSpPr>
          <p:cNvPr id="12" name="Text 10"/>
          <p:cNvSpPr/>
          <p:nvPr/>
        </p:nvSpPr>
        <p:spPr>
          <a:xfrm>
            <a:off x="6601968" y="1042416"/>
            <a:ext cx="2148840" cy="621792"/>
          </a:xfrm>
          <a:prstGeom prst="rect">
            <a:avLst/>
          </a:prstGeom>
          <a:noFill/>
          <a:ln/>
        </p:spPr>
        <p:txBody>
          <a:bodyPr wrap="square" rtlCol="0" anchor="ctr"/>
          <a:lstStyle/>
          <a:p>
            <a:pPr indent="0" marL="0">
              <a:buNone/>
            </a:pPr>
            <a:r>
              <a:rPr lang="en-US" sz="900" dirty="0">
                <a:solidFill>
                  <a:srgbClr val="4EC994"/>
                </a:solidFill>
                <a:latin typeface="Consolas" pitchFamily="34" charset="0"/>
                <a:ea typeface="Consolas" pitchFamily="34" charset="-122"/>
                <a:cs typeface="Consolas" pitchFamily="34" charset="-120"/>
              </a:rPr>
              <a:t>python -m cProfile -o out.prof my_script.py</a:t>
            </a:r>
            <a:endParaRPr lang="en-US" sz="900" dirty="0"/>
          </a:p>
        </p:txBody>
      </p:sp>
      <p:sp>
        <p:nvSpPr>
          <p:cNvPr id="13" name="Shape 11"/>
          <p:cNvSpPr/>
          <p:nvPr/>
        </p:nvSpPr>
        <p:spPr>
          <a:xfrm>
            <a:off x="256032" y="1920240"/>
            <a:ext cx="8631936" cy="91440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256032" y="1920240"/>
            <a:ext cx="64008" cy="914400"/>
          </a:xfrm>
          <a:prstGeom prst="rect">
            <a:avLst/>
          </a:prstGeom>
          <a:solidFill>
            <a:srgbClr val="0891B2"/>
          </a:solidFill>
          <a:ln/>
        </p:spPr>
      </p:sp>
      <p:sp>
        <p:nvSpPr>
          <p:cNvPr id="15" name="Text 13"/>
          <p:cNvSpPr/>
          <p:nvPr/>
        </p:nvSpPr>
        <p:spPr>
          <a:xfrm>
            <a:off x="411480" y="2011680"/>
            <a:ext cx="1737360" cy="347472"/>
          </a:xfrm>
          <a:prstGeom prst="rect">
            <a:avLst/>
          </a:prstGeom>
          <a:noFill/>
          <a:ln/>
        </p:spPr>
        <p:txBody>
          <a:bodyPr wrap="square"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SnakeViz</a:t>
            </a:r>
            <a:endParaRPr lang="en-US" sz="1500" dirty="0"/>
          </a:p>
        </p:txBody>
      </p:sp>
      <p:sp>
        <p:nvSpPr>
          <p:cNvPr id="16" name="Text 14"/>
          <p:cNvSpPr/>
          <p:nvPr/>
        </p:nvSpPr>
        <p:spPr>
          <a:xfrm>
            <a:off x="411480" y="2395728"/>
            <a:ext cx="1737360" cy="274320"/>
          </a:xfrm>
          <a:prstGeom prst="rect">
            <a:avLst/>
          </a:prstGeom>
          <a:noFill/>
          <a:ln/>
        </p:spPr>
        <p:txBody>
          <a:bodyPr wrap="square" rtlCol="0" anchor="ctr"/>
          <a:lstStyle/>
          <a:p>
            <a:pPr indent="0" marL="0">
              <a:buNone/>
            </a:pPr>
            <a:r>
              <a:rPr lang="en-US" sz="950" dirty="0">
                <a:solidFill>
                  <a:srgbClr val="888888"/>
                </a:solidFill>
                <a:latin typeface="Consolas" pitchFamily="34" charset="0"/>
                <a:ea typeface="Consolas" pitchFamily="34" charset="-122"/>
                <a:cs typeface="Consolas" pitchFamily="34" charset="-120"/>
              </a:rPr>
              <a:t>pip install snakeviz</a:t>
            </a:r>
            <a:endParaRPr lang="en-US" sz="950" dirty="0"/>
          </a:p>
        </p:txBody>
      </p:sp>
      <p:sp>
        <p:nvSpPr>
          <p:cNvPr id="17" name="Shape 15"/>
          <p:cNvSpPr/>
          <p:nvPr/>
        </p:nvSpPr>
        <p:spPr>
          <a:xfrm>
            <a:off x="2331720" y="2057400"/>
            <a:ext cx="27432" cy="640080"/>
          </a:xfrm>
          <a:prstGeom prst="rect">
            <a:avLst/>
          </a:prstGeom>
          <a:solidFill>
            <a:srgbClr val="CCDDEE"/>
          </a:solidFill>
          <a:ln/>
        </p:spPr>
      </p:sp>
      <p:sp>
        <p:nvSpPr>
          <p:cNvPr id="18" name="Text 16"/>
          <p:cNvSpPr/>
          <p:nvPr/>
        </p:nvSpPr>
        <p:spPr>
          <a:xfrm>
            <a:off x="2468880" y="2011680"/>
            <a:ext cx="594360" cy="274320"/>
          </a:xfrm>
          <a:prstGeom prst="rect">
            <a:avLst/>
          </a:prstGeom>
          <a:noFill/>
          <a:ln/>
        </p:spPr>
        <p:txBody>
          <a:bodyPr wrap="square" rtlCol="0" anchor="ctr"/>
          <a:lstStyle/>
          <a:p>
            <a:pPr indent="0" marL="0">
              <a:buNone/>
            </a:pPr>
            <a:r>
              <a:rPr lang="en-US" sz="1100" b="1" dirty="0">
                <a:solidFill>
                  <a:srgbClr val="4A6688"/>
                </a:solidFill>
                <a:latin typeface="Calibri" pitchFamily="34" charset="0"/>
                <a:ea typeface="Calibri" pitchFamily="34" charset="-122"/>
                <a:cs typeface="Calibri" pitchFamily="34" charset="-120"/>
              </a:rPr>
              <a:t>When: </a:t>
            </a:r>
            <a:endParaRPr lang="en-US" sz="1100" dirty="0"/>
          </a:p>
        </p:txBody>
      </p:sp>
      <p:sp>
        <p:nvSpPr>
          <p:cNvPr id="19" name="Text 17"/>
          <p:cNvSpPr/>
          <p:nvPr/>
        </p:nvSpPr>
        <p:spPr>
          <a:xfrm>
            <a:off x="3017520" y="2011680"/>
            <a:ext cx="3383280" cy="34747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Visualise cProfile output as an interactive call graph in your browser.</a:t>
            </a:r>
            <a:endParaRPr lang="en-US" sz="1100" dirty="0"/>
          </a:p>
        </p:txBody>
      </p:sp>
      <p:sp>
        <p:nvSpPr>
          <p:cNvPr id="20" name="Shape 18"/>
          <p:cNvSpPr/>
          <p:nvPr/>
        </p:nvSpPr>
        <p:spPr>
          <a:xfrm>
            <a:off x="6537960" y="2029968"/>
            <a:ext cx="2240280" cy="694944"/>
          </a:xfrm>
          <a:prstGeom prst="rect">
            <a:avLst/>
          </a:prstGeom>
          <a:solidFill>
            <a:srgbClr val="1E1E2E"/>
          </a:solidFill>
          <a:ln/>
        </p:spPr>
      </p:sp>
      <p:sp>
        <p:nvSpPr>
          <p:cNvPr id="21" name="Text 19"/>
          <p:cNvSpPr/>
          <p:nvPr/>
        </p:nvSpPr>
        <p:spPr>
          <a:xfrm>
            <a:off x="6601968" y="2066544"/>
            <a:ext cx="2148840" cy="621792"/>
          </a:xfrm>
          <a:prstGeom prst="rect">
            <a:avLst/>
          </a:prstGeom>
          <a:noFill/>
          <a:ln/>
        </p:spPr>
        <p:txBody>
          <a:bodyPr wrap="square" rtlCol="0" anchor="ctr"/>
          <a:lstStyle/>
          <a:p>
            <a:pPr indent="0" marL="0">
              <a:buNone/>
            </a:pPr>
            <a:r>
              <a:rPr lang="en-US" sz="900" dirty="0">
                <a:solidFill>
                  <a:srgbClr val="4EC994"/>
                </a:solidFill>
                <a:latin typeface="Consolas" pitchFamily="34" charset="0"/>
                <a:ea typeface="Consolas" pitchFamily="34" charset="-122"/>
                <a:cs typeface="Consolas" pitchFamily="34" charset="-120"/>
              </a:rPr>
              <a:t>snakeviz out.prof</a:t>
            </a:r>
            <a:endParaRPr lang="en-US" sz="900" dirty="0"/>
          </a:p>
        </p:txBody>
      </p:sp>
      <p:sp>
        <p:nvSpPr>
          <p:cNvPr id="22" name="Shape 20"/>
          <p:cNvSpPr/>
          <p:nvPr/>
        </p:nvSpPr>
        <p:spPr>
          <a:xfrm>
            <a:off x="256032" y="2944368"/>
            <a:ext cx="8631936" cy="91440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23" name="Shape 21"/>
          <p:cNvSpPr/>
          <p:nvPr/>
        </p:nvSpPr>
        <p:spPr>
          <a:xfrm>
            <a:off x="256032" y="2944368"/>
            <a:ext cx="64008" cy="914400"/>
          </a:xfrm>
          <a:prstGeom prst="rect">
            <a:avLst/>
          </a:prstGeom>
          <a:solidFill>
            <a:srgbClr val="6D3B9E"/>
          </a:solidFill>
          <a:ln/>
        </p:spPr>
      </p:sp>
      <p:sp>
        <p:nvSpPr>
          <p:cNvPr id="24" name="Text 22"/>
          <p:cNvSpPr/>
          <p:nvPr/>
        </p:nvSpPr>
        <p:spPr>
          <a:xfrm>
            <a:off x="411480" y="3035808"/>
            <a:ext cx="1737360" cy="347472"/>
          </a:xfrm>
          <a:prstGeom prst="rect">
            <a:avLst/>
          </a:prstGeom>
          <a:noFill/>
          <a:ln/>
        </p:spPr>
        <p:txBody>
          <a:bodyPr wrap="square" rtlCol="0" anchor="ctr"/>
          <a:lstStyle/>
          <a:p>
            <a:pPr indent="0" marL="0">
              <a:buNone/>
            </a:pPr>
            <a:r>
              <a:rPr lang="en-US" sz="1500" b="1" dirty="0">
                <a:solidFill>
                  <a:srgbClr val="6D3B9E"/>
                </a:solidFill>
                <a:latin typeface="Georgia" pitchFamily="34" charset="0"/>
                <a:ea typeface="Georgia" pitchFamily="34" charset="-122"/>
                <a:cs typeface="Georgia" pitchFamily="34" charset="-120"/>
              </a:rPr>
              <a:t>line_profiler</a:t>
            </a:r>
            <a:endParaRPr lang="en-US" sz="1500" dirty="0"/>
          </a:p>
        </p:txBody>
      </p:sp>
      <p:sp>
        <p:nvSpPr>
          <p:cNvPr id="25" name="Text 23"/>
          <p:cNvSpPr/>
          <p:nvPr/>
        </p:nvSpPr>
        <p:spPr>
          <a:xfrm>
            <a:off x="411480" y="3419856"/>
            <a:ext cx="1737360" cy="274320"/>
          </a:xfrm>
          <a:prstGeom prst="rect">
            <a:avLst/>
          </a:prstGeom>
          <a:noFill/>
          <a:ln/>
        </p:spPr>
        <p:txBody>
          <a:bodyPr wrap="square" rtlCol="0" anchor="ctr"/>
          <a:lstStyle/>
          <a:p>
            <a:pPr indent="0" marL="0">
              <a:buNone/>
            </a:pPr>
            <a:r>
              <a:rPr lang="en-US" sz="950" dirty="0">
                <a:solidFill>
                  <a:srgbClr val="888888"/>
                </a:solidFill>
                <a:latin typeface="Consolas" pitchFamily="34" charset="0"/>
                <a:ea typeface="Consolas" pitchFamily="34" charset="-122"/>
                <a:cs typeface="Consolas" pitchFamily="34" charset="-120"/>
              </a:rPr>
              <a:t>pip install line-profiler</a:t>
            </a:r>
            <a:endParaRPr lang="en-US" sz="950" dirty="0"/>
          </a:p>
        </p:txBody>
      </p:sp>
      <p:sp>
        <p:nvSpPr>
          <p:cNvPr id="26" name="Shape 24"/>
          <p:cNvSpPr/>
          <p:nvPr/>
        </p:nvSpPr>
        <p:spPr>
          <a:xfrm>
            <a:off x="2331720" y="3081528"/>
            <a:ext cx="27432" cy="640080"/>
          </a:xfrm>
          <a:prstGeom prst="rect">
            <a:avLst/>
          </a:prstGeom>
          <a:solidFill>
            <a:srgbClr val="CCDDEE"/>
          </a:solidFill>
          <a:ln/>
        </p:spPr>
      </p:sp>
      <p:sp>
        <p:nvSpPr>
          <p:cNvPr id="27" name="Text 25"/>
          <p:cNvSpPr/>
          <p:nvPr/>
        </p:nvSpPr>
        <p:spPr>
          <a:xfrm>
            <a:off x="2468880" y="3035808"/>
            <a:ext cx="594360" cy="274320"/>
          </a:xfrm>
          <a:prstGeom prst="rect">
            <a:avLst/>
          </a:prstGeom>
          <a:noFill/>
          <a:ln/>
        </p:spPr>
        <p:txBody>
          <a:bodyPr wrap="square" rtlCol="0" anchor="ctr"/>
          <a:lstStyle/>
          <a:p>
            <a:pPr indent="0" marL="0">
              <a:buNone/>
            </a:pPr>
            <a:r>
              <a:rPr lang="en-US" sz="1100" b="1" dirty="0">
                <a:solidFill>
                  <a:srgbClr val="4A6688"/>
                </a:solidFill>
                <a:latin typeface="Calibri" pitchFamily="34" charset="0"/>
                <a:ea typeface="Calibri" pitchFamily="34" charset="-122"/>
                <a:cs typeface="Calibri" pitchFamily="34" charset="-120"/>
              </a:rPr>
              <a:t>When: </a:t>
            </a:r>
            <a:endParaRPr lang="en-US" sz="1100" dirty="0"/>
          </a:p>
        </p:txBody>
      </p:sp>
      <p:sp>
        <p:nvSpPr>
          <p:cNvPr id="28" name="Text 26"/>
          <p:cNvSpPr/>
          <p:nvPr/>
        </p:nvSpPr>
        <p:spPr>
          <a:xfrm>
            <a:off x="3017520" y="3035808"/>
            <a:ext cx="3383280" cy="34747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Once cProfile names the slow function — profile it line by line.</a:t>
            </a:r>
            <a:endParaRPr lang="en-US" sz="1100" dirty="0"/>
          </a:p>
        </p:txBody>
      </p:sp>
      <p:sp>
        <p:nvSpPr>
          <p:cNvPr id="29" name="Shape 27"/>
          <p:cNvSpPr/>
          <p:nvPr/>
        </p:nvSpPr>
        <p:spPr>
          <a:xfrm>
            <a:off x="6537960" y="3054096"/>
            <a:ext cx="2240280" cy="694944"/>
          </a:xfrm>
          <a:prstGeom prst="rect">
            <a:avLst/>
          </a:prstGeom>
          <a:solidFill>
            <a:srgbClr val="1E1E2E"/>
          </a:solidFill>
          <a:ln/>
        </p:spPr>
      </p:sp>
      <p:sp>
        <p:nvSpPr>
          <p:cNvPr id="30" name="Text 28"/>
          <p:cNvSpPr/>
          <p:nvPr/>
        </p:nvSpPr>
        <p:spPr>
          <a:xfrm>
            <a:off x="6601968" y="3090672"/>
            <a:ext cx="2148840" cy="621792"/>
          </a:xfrm>
          <a:prstGeom prst="rect">
            <a:avLst/>
          </a:prstGeom>
          <a:noFill/>
          <a:ln/>
        </p:spPr>
        <p:txBody>
          <a:bodyPr wrap="square" rtlCol="0" anchor="ctr"/>
          <a:lstStyle/>
          <a:p>
            <a:pPr indent="0" marL="0">
              <a:buNone/>
            </a:pPr>
            <a:r>
              <a:rPr lang="en-US" sz="900" dirty="0">
                <a:solidFill>
                  <a:srgbClr val="4EC994"/>
                </a:solidFill>
                <a:latin typeface="Consolas" pitchFamily="34" charset="0"/>
                <a:ea typeface="Consolas" pitchFamily="34" charset="-122"/>
                <a:cs typeface="Consolas" pitchFamily="34" charset="-120"/>
              </a:rPr>
              <a:t>kernprof -l -v my_script.py</a:t>
            </a:r>
            <a:endParaRPr lang="en-US" sz="900" dirty="0"/>
          </a:p>
        </p:txBody>
      </p:sp>
      <p:sp>
        <p:nvSpPr>
          <p:cNvPr id="31" name="Shape 29"/>
          <p:cNvSpPr/>
          <p:nvPr/>
        </p:nvSpPr>
        <p:spPr>
          <a:xfrm>
            <a:off x="256032" y="3968496"/>
            <a:ext cx="8631936" cy="91440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32" name="Shape 30"/>
          <p:cNvSpPr/>
          <p:nvPr/>
        </p:nvSpPr>
        <p:spPr>
          <a:xfrm>
            <a:off x="256032" y="3968496"/>
            <a:ext cx="64008" cy="914400"/>
          </a:xfrm>
          <a:prstGeom prst="rect">
            <a:avLst/>
          </a:prstGeom>
          <a:solidFill>
            <a:srgbClr val="E87C2A"/>
          </a:solidFill>
          <a:ln/>
        </p:spPr>
      </p:sp>
      <p:sp>
        <p:nvSpPr>
          <p:cNvPr id="33" name="Text 31"/>
          <p:cNvSpPr/>
          <p:nvPr/>
        </p:nvSpPr>
        <p:spPr>
          <a:xfrm>
            <a:off x="411480" y="4059936"/>
            <a:ext cx="1737360" cy="347472"/>
          </a:xfrm>
          <a:prstGeom prst="rect">
            <a:avLst/>
          </a:prstGeom>
          <a:noFill/>
          <a:ln/>
        </p:spPr>
        <p:txBody>
          <a:bodyPr wrap="square" rtlCol="0" anchor="ctr"/>
          <a:lstStyle/>
          <a:p>
            <a:pPr indent="0" marL="0">
              <a:buNone/>
            </a:pPr>
            <a:r>
              <a:rPr lang="en-US" sz="1500" b="1" dirty="0">
                <a:solidFill>
                  <a:srgbClr val="E87C2A"/>
                </a:solidFill>
                <a:latin typeface="Georgia" pitchFamily="34" charset="0"/>
                <a:ea typeface="Georgia" pitchFamily="34" charset="-122"/>
                <a:cs typeface="Georgia" pitchFamily="34" charset="-120"/>
              </a:rPr>
              <a:t>memory_profiler</a:t>
            </a:r>
            <a:endParaRPr lang="en-US" sz="1500" dirty="0"/>
          </a:p>
        </p:txBody>
      </p:sp>
      <p:sp>
        <p:nvSpPr>
          <p:cNvPr id="34" name="Text 32"/>
          <p:cNvSpPr/>
          <p:nvPr/>
        </p:nvSpPr>
        <p:spPr>
          <a:xfrm>
            <a:off x="411480" y="4443984"/>
            <a:ext cx="1737360" cy="274320"/>
          </a:xfrm>
          <a:prstGeom prst="rect">
            <a:avLst/>
          </a:prstGeom>
          <a:noFill/>
          <a:ln/>
        </p:spPr>
        <p:txBody>
          <a:bodyPr wrap="square" rtlCol="0" anchor="ctr"/>
          <a:lstStyle/>
          <a:p>
            <a:pPr indent="0" marL="0">
              <a:buNone/>
            </a:pPr>
            <a:r>
              <a:rPr lang="en-US" sz="950" dirty="0">
                <a:solidFill>
                  <a:srgbClr val="888888"/>
                </a:solidFill>
                <a:latin typeface="Consolas" pitchFamily="34" charset="0"/>
                <a:ea typeface="Consolas" pitchFamily="34" charset="-122"/>
                <a:cs typeface="Consolas" pitchFamily="34" charset="-120"/>
              </a:rPr>
              <a:t>pip install memory-profiler</a:t>
            </a:r>
            <a:endParaRPr lang="en-US" sz="950" dirty="0"/>
          </a:p>
        </p:txBody>
      </p:sp>
      <p:sp>
        <p:nvSpPr>
          <p:cNvPr id="35" name="Shape 33"/>
          <p:cNvSpPr/>
          <p:nvPr/>
        </p:nvSpPr>
        <p:spPr>
          <a:xfrm>
            <a:off x="2331720" y="4105656"/>
            <a:ext cx="27432" cy="640080"/>
          </a:xfrm>
          <a:prstGeom prst="rect">
            <a:avLst/>
          </a:prstGeom>
          <a:solidFill>
            <a:srgbClr val="CCDDEE"/>
          </a:solidFill>
          <a:ln/>
        </p:spPr>
      </p:sp>
      <p:sp>
        <p:nvSpPr>
          <p:cNvPr id="36" name="Text 34"/>
          <p:cNvSpPr/>
          <p:nvPr/>
        </p:nvSpPr>
        <p:spPr>
          <a:xfrm>
            <a:off x="2468880" y="4059936"/>
            <a:ext cx="594360" cy="274320"/>
          </a:xfrm>
          <a:prstGeom prst="rect">
            <a:avLst/>
          </a:prstGeom>
          <a:noFill/>
          <a:ln/>
        </p:spPr>
        <p:txBody>
          <a:bodyPr wrap="square" rtlCol="0" anchor="ctr"/>
          <a:lstStyle/>
          <a:p>
            <a:pPr indent="0" marL="0">
              <a:buNone/>
            </a:pPr>
            <a:r>
              <a:rPr lang="en-US" sz="1100" b="1" dirty="0">
                <a:solidFill>
                  <a:srgbClr val="4A6688"/>
                </a:solidFill>
                <a:latin typeface="Calibri" pitchFamily="34" charset="0"/>
                <a:ea typeface="Calibri" pitchFamily="34" charset="-122"/>
                <a:cs typeface="Calibri" pitchFamily="34" charset="-120"/>
              </a:rPr>
              <a:t>When: </a:t>
            </a:r>
            <a:endParaRPr lang="en-US" sz="1100" dirty="0"/>
          </a:p>
        </p:txBody>
      </p:sp>
      <p:sp>
        <p:nvSpPr>
          <p:cNvPr id="37" name="Text 35"/>
          <p:cNvSpPr/>
          <p:nvPr/>
        </p:nvSpPr>
        <p:spPr>
          <a:xfrm>
            <a:off x="3017520" y="4059936"/>
            <a:ext cx="3383280" cy="34747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When jobs get OOM-killed on the cluster. Track RAM line by line.</a:t>
            </a:r>
            <a:endParaRPr lang="en-US" sz="1100" dirty="0"/>
          </a:p>
        </p:txBody>
      </p:sp>
      <p:sp>
        <p:nvSpPr>
          <p:cNvPr id="38" name="Shape 36"/>
          <p:cNvSpPr/>
          <p:nvPr/>
        </p:nvSpPr>
        <p:spPr>
          <a:xfrm>
            <a:off x="6537960" y="4078224"/>
            <a:ext cx="2240280" cy="694944"/>
          </a:xfrm>
          <a:prstGeom prst="rect">
            <a:avLst/>
          </a:prstGeom>
          <a:solidFill>
            <a:srgbClr val="1E1E2E"/>
          </a:solidFill>
          <a:ln/>
        </p:spPr>
      </p:sp>
      <p:sp>
        <p:nvSpPr>
          <p:cNvPr id="39" name="Text 37"/>
          <p:cNvSpPr/>
          <p:nvPr/>
        </p:nvSpPr>
        <p:spPr>
          <a:xfrm>
            <a:off x="6601968" y="4114800"/>
            <a:ext cx="2148840" cy="621792"/>
          </a:xfrm>
          <a:prstGeom prst="rect">
            <a:avLst/>
          </a:prstGeom>
          <a:noFill/>
          <a:ln/>
        </p:spPr>
        <p:txBody>
          <a:bodyPr wrap="square" rtlCol="0" anchor="ctr"/>
          <a:lstStyle/>
          <a:p>
            <a:pPr indent="0" marL="0">
              <a:buNone/>
            </a:pPr>
            <a:r>
              <a:rPr lang="en-US" sz="900" dirty="0">
                <a:solidFill>
                  <a:srgbClr val="4EC994"/>
                </a:solidFill>
                <a:latin typeface="Consolas" pitchFamily="34" charset="0"/>
                <a:ea typeface="Consolas" pitchFamily="34" charset="-122"/>
                <a:cs typeface="Consolas" pitchFamily="34" charset="-120"/>
              </a:rPr>
              <a:t>python -m memory_profiler my_script.py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4D8B"/>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Demo: Profiling a LISA Pipeline</a:t>
            </a:r>
            <a:endParaRPr lang="en-US" sz="2600" dirty="0"/>
          </a:p>
        </p:txBody>
      </p:sp>
      <p:sp>
        <p:nvSpPr>
          <p:cNvPr id="4" name="Text 2"/>
          <p:cNvSpPr/>
          <p:nvPr/>
        </p:nvSpPr>
        <p:spPr>
          <a:xfrm>
            <a:off x="256032" y="841248"/>
            <a:ext cx="4389120" cy="292608"/>
          </a:xfrm>
          <a:prstGeom prst="rect">
            <a:avLst/>
          </a:prstGeom>
          <a:noFill/>
          <a:ln/>
        </p:spPr>
        <p:txBody>
          <a:bodyPr wrap="square" rtlCol="0" anchor="ctr"/>
          <a:lstStyle/>
          <a:p>
            <a:pPr indent="0" marL="0">
              <a:buNone/>
            </a:pPr>
            <a:r>
              <a:rPr lang="en-US" sz="1100" b="1" dirty="0">
                <a:solidFill>
                  <a:srgbClr val="4A6688"/>
                </a:solidFill>
                <a:latin typeface="Calibri" pitchFamily="34" charset="0"/>
                <a:ea typeface="Calibri" pitchFamily="34" charset="-122"/>
                <a:cs typeface="Calibri" pitchFamily="34" charset="-120"/>
              </a:rPr>
              <a:t>The script (simplified PSD + matched filter)</a:t>
            </a:r>
            <a:endParaRPr lang="en-US" sz="1100" dirty="0"/>
          </a:p>
        </p:txBody>
      </p:sp>
      <p:sp>
        <p:nvSpPr>
          <p:cNvPr id="5" name="Shape 3"/>
          <p:cNvSpPr/>
          <p:nvPr/>
        </p:nvSpPr>
        <p:spPr>
          <a:xfrm>
            <a:off x="256032" y="1143000"/>
            <a:ext cx="4297680" cy="374904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6" name="Text 4"/>
          <p:cNvSpPr/>
          <p:nvPr/>
        </p:nvSpPr>
        <p:spPr>
          <a:xfrm>
            <a:off x="347472" y="1207008"/>
            <a:ext cx="4114800" cy="3621024"/>
          </a:xfrm>
          <a:prstGeom prst="rect">
            <a:avLst/>
          </a:prstGeom>
          <a:noFill/>
          <a:ln/>
        </p:spPr>
        <p:txBody>
          <a:bodyPr wrap="square" rtlCol="0" anchor="ctr"/>
          <a:lstStyle/>
          <a:p>
            <a:pPr indent="0" marL="0">
              <a:buNone/>
            </a:pPr>
            <a:r>
              <a:rPr lang="en-US" sz="950" dirty="0">
                <a:solidFill>
                  <a:srgbClr val="C586C0"/>
                </a:solidFill>
                <a:latin typeface="Consolas" pitchFamily="34" charset="0"/>
                <a:ea typeface="Consolas" pitchFamily="34" charset="-122"/>
                <a:cs typeface="Consolas" pitchFamily="34" charset="-120"/>
              </a:rPr>
              <a:t>import numpy as np
</a:t>
            </a:r>
            <a:pPr indent="0" marL="0">
              <a:buNone/>
            </a:pPr>
            <a:r>
              <a:rPr lang="en-US" sz="950" dirty="0">
                <a:solidFill>
                  <a:srgbClr val="C586C0"/>
                </a:solidFill>
                <a:latin typeface="Consolas" pitchFamily="34" charset="0"/>
                <a:ea typeface="Consolas" pitchFamily="34" charset="-122"/>
                <a:cs typeface="Consolas" pitchFamily="34" charset="-120"/>
              </a:rPr>
              <a:t>from scipy.signal import welch
</a:t>
            </a:r>
            <a:pPr indent="0" marL="0">
              <a:buNone/>
            </a:pPr>
            <a:r>
              <a:rPr lang="en-US" sz="950" dirty="0">
                <a:solidFill>
                  <a:srgbClr val="DCDCAA"/>
                </a:solidFill>
                <a:latin typeface="Consolas" pitchFamily="34" charset="0"/>
                <a:ea typeface="Consolas" pitchFamily="34" charset="-122"/>
                <a:cs typeface="Consolas" pitchFamily="34" charset="-120"/>
              </a:rPr>
              <a:t>def load_strain(path):
</a:t>
            </a:r>
            <a:pPr indent="0" marL="0">
              <a:buNone/>
            </a:pPr>
            <a:r>
              <a:rPr lang="en-US" sz="950" dirty="0">
                <a:solidFill>
                  <a:srgbClr val="6A9955"/>
                </a:solidFill>
                <a:latin typeface="Consolas" pitchFamily="34" charset="0"/>
                <a:ea typeface="Consolas" pitchFamily="34" charset="-122"/>
                <a:cs typeface="Consolas" pitchFamily="34" charset="-120"/>
              </a:rPr>
              <a:t>    return np.load(path)          # fast
</a:t>
            </a:r>
            <a:pPr indent="0" marL="0">
              <a:buNone/>
            </a:pPr>
            <a:r>
              <a:rPr lang="en-US" sz="950" dirty="0">
                <a:solidFill>
                  <a:srgbClr val="DCDCAA"/>
                </a:solidFill>
                <a:latin typeface="Consolas" pitchFamily="34" charset="0"/>
                <a:ea typeface="Consolas" pitchFamily="34" charset="-122"/>
                <a:cs typeface="Consolas" pitchFamily="34" charset="-120"/>
              </a:rPr>
              <a:t>def compute_psd(h, fs=1.0):
</a:t>
            </a:r>
            <a:pPr indent="0" marL="0">
              <a:buNone/>
            </a:pPr>
            <a:r>
              <a:rPr lang="en-US" sz="950" dirty="0">
                <a:solidFill>
                  <a:srgbClr val="D4D4D4"/>
                </a:solidFill>
                <a:latin typeface="Consolas" pitchFamily="34" charset="0"/>
                <a:ea typeface="Consolas" pitchFamily="34" charset="-122"/>
                <a:cs typeface="Consolas" pitchFamily="34" charset="-120"/>
              </a:rPr>
              <a:t>    f, Pxx = welch(h, fs, nperseg=4096)
</a:t>
            </a:r>
            <a:pPr indent="0" marL="0">
              <a:buNone/>
            </a:pPr>
            <a:r>
              <a:rPr lang="en-US" sz="950" dirty="0">
                <a:solidFill>
                  <a:srgbClr val="D4D4D4"/>
                </a:solidFill>
                <a:latin typeface="Consolas" pitchFamily="34" charset="0"/>
                <a:ea typeface="Consolas" pitchFamily="34" charset="-122"/>
                <a:cs typeface="Consolas" pitchFamily="34" charset="-120"/>
              </a:rPr>
              <a:t>    return f, Pxx
</a:t>
            </a:r>
            <a:pPr indent="0" marL="0">
              <a:buNone/>
            </a:pPr>
            <a:r>
              <a:rPr lang="en-US" sz="950" dirty="0">
                <a:solidFill>
                  <a:srgbClr val="DCDCAA"/>
                </a:solidFill>
                <a:latin typeface="Consolas" pitchFamily="34" charset="0"/>
                <a:ea typeface="Consolas" pitchFamily="34" charset="-122"/>
                <a:cs typeface="Consolas" pitchFamily="34" charset="-120"/>
              </a:rPr>
              <a:t>def matched_filter(h, templates):
</a:t>
            </a:r>
            <a:pPr indent="0" marL="0">
              <a:buNone/>
            </a:pPr>
            <a:r>
              <a:rPr lang="en-US" sz="950" dirty="0">
                <a:solidFill>
                  <a:srgbClr val="D4D4D4"/>
                </a:solidFill>
                <a:latin typeface="Consolas" pitchFamily="34" charset="0"/>
                <a:ea typeface="Consolas" pitchFamily="34" charset="-122"/>
                <a:cs typeface="Consolas" pitchFamily="34" charset="-120"/>
              </a:rPr>
              <a:t>    snr = []
</a:t>
            </a:r>
            <a:pPr indent="0" marL="0">
              <a:buNone/>
            </a:pPr>
            <a:r>
              <a:rPr lang="en-US" sz="950" b="1" dirty="0">
                <a:solidFill>
                  <a:srgbClr val="F44747"/>
                </a:solidFill>
                <a:latin typeface="Consolas" pitchFamily="34" charset="0"/>
                <a:ea typeface="Consolas" pitchFamily="34" charset="-122"/>
                <a:cs typeface="Consolas" pitchFamily="34" charset="-120"/>
              </a:rPr>
              <a:t>    for t in templates:           # ← loop!
</a:t>
            </a:r>
            <a:pPr indent="0" marL="0">
              <a:buNone/>
            </a:pPr>
            <a:r>
              <a:rPr lang="en-US" sz="950" b="1" dirty="0">
                <a:solidFill>
                  <a:srgbClr val="F44747"/>
                </a:solidFill>
                <a:latin typeface="Consolas" pitchFamily="34" charset="0"/>
                <a:ea typeface="Consolas" pitchFamily="34" charset="-122"/>
                <a:cs typeface="Consolas" pitchFamily="34" charset="-120"/>
              </a:rPr>
              <a:t>        snr.append(np.dot(h, t))  # ← slow
</a:t>
            </a:r>
            <a:pPr indent="0" marL="0">
              <a:buNone/>
            </a:pPr>
            <a:r>
              <a:rPr lang="en-US" sz="950" dirty="0">
                <a:solidFill>
                  <a:srgbClr val="D4D4D4"/>
                </a:solidFill>
                <a:latin typeface="Consolas" pitchFamily="34" charset="0"/>
                <a:ea typeface="Consolas" pitchFamily="34" charset="-122"/>
                <a:cs typeface="Consolas" pitchFamily="34" charset="-120"/>
              </a:rPr>
              <a:t>    return np.array(snr)
</a:t>
            </a:r>
            <a:pPr indent="0" marL="0">
              <a:buNone/>
            </a:pPr>
            <a:r>
              <a:rPr lang="en-US" sz="950" dirty="0">
                <a:solidFill>
                  <a:srgbClr val="C586C0"/>
                </a:solidFill>
                <a:latin typeface="Consolas" pitchFamily="34" charset="0"/>
                <a:ea typeface="Consolas" pitchFamily="34" charset="-122"/>
                <a:cs typeface="Consolas" pitchFamily="34" charset="-120"/>
              </a:rPr>
              <a:t>if __name__ == '__main__':
</a:t>
            </a:r>
            <a:pPr indent="0" marL="0">
              <a:buNone/>
            </a:pPr>
            <a:r>
              <a:rPr lang="en-US" sz="950" dirty="0">
                <a:solidFill>
                  <a:srgbClr val="D4D4D4"/>
                </a:solidFill>
                <a:latin typeface="Consolas" pitchFamily="34" charset="0"/>
                <a:ea typeface="Consolas" pitchFamily="34" charset="-122"/>
                <a:cs typeface="Consolas" pitchFamily="34" charset="-120"/>
              </a:rPr>
              <a:t>    h = load_strain('lisa_h.npy')
</a:t>
            </a:r>
            <a:pPr indent="0" marL="0">
              <a:buNone/>
            </a:pPr>
            <a:r>
              <a:rPr lang="en-US" sz="950" dirty="0">
                <a:solidFill>
                  <a:srgbClr val="D4D4D4"/>
                </a:solidFill>
                <a:latin typeface="Consolas" pitchFamily="34" charset="0"/>
                <a:ea typeface="Consolas" pitchFamily="34" charset="-122"/>
                <a:cs typeface="Consolas" pitchFamily="34" charset="-120"/>
              </a:rPr>
              <a:t>    f, Pxx = compute_psd(h)
</a:t>
            </a:r>
            <a:pPr indent="0" marL="0">
              <a:buNone/>
            </a:pPr>
            <a:r>
              <a:rPr lang="en-US" sz="950" dirty="0">
                <a:solidFill>
                  <a:srgbClr val="D4D4D4"/>
                </a:solidFill>
                <a:latin typeface="Consolas" pitchFamily="34" charset="0"/>
                <a:ea typeface="Consolas" pitchFamily="34" charset="-122"/>
                <a:cs typeface="Consolas" pitchFamily="34" charset="-120"/>
              </a:rPr>
              <a:t>    templates = [np.random.randn(len(h))
</a:t>
            </a:r>
            <a:pPr indent="0" marL="0">
              <a:buNone/>
            </a:pPr>
            <a:r>
              <a:rPr lang="en-US" sz="950" dirty="0">
                <a:solidFill>
                  <a:srgbClr val="D4D4D4"/>
                </a:solidFill>
                <a:latin typeface="Consolas" pitchFamily="34" charset="0"/>
                <a:ea typeface="Consolas" pitchFamily="34" charset="-122"/>
                <a:cs typeface="Consolas" pitchFamily="34" charset="-120"/>
              </a:rPr>
              <a:t>                 for _ in range(10000)]
</a:t>
            </a:r>
            <a:pPr indent="0" marL="0">
              <a:buNone/>
            </a:pPr>
            <a:r>
              <a:rPr lang="en-US" sz="950" dirty="0">
                <a:solidFill>
                  <a:srgbClr val="D4D4D4"/>
                </a:solidFill>
                <a:latin typeface="Consolas" pitchFamily="34" charset="0"/>
                <a:ea typeface="Consolas" pitchFamily="34" charset="-122"/>
                <a:cs typeface="Consolas" pitchFamily="34" charset="-120"/>
              </a:rPr>
              <a:t>    snr = matched_filter(h, templates)</a:t>
            </a:r>
            <a:endParaRPr lang="en-US" sz="950" dirty="0"/>
          </a:p>
        </p:txBody>
      </p:sp>
      <p:sp>
        <p:nvSpPr>
          <p:cNvPr id="7" name="Text 5"/>
          <p:cNvSpPr/>
          <p:nvPr/>
        </p:nvSpPr>
        <p:spPr>
          <a:xfrm>
            <a:off x="4754880" y="841248"/>
            <a:ext cx="4206240" cy="292608"/>
          </a:xfrm>
          <a:prstGeom prst="rect">
            <a:avLst/>
          </a:prstGeom>
          <a:noFill/>
          <a:ln/>
        </p:spPr>
        <p:txBody>
          <a:bodyPr wrap="square" rtlCol="0" anchor="ctr"/>
          <a:lstStyle/>
          <a:p>
            <a:pPr indent="0" marL="0">
              <a:buNone/>
            </a:pPr>
            <a:r>
              <a:rPr lang="en-US" sz="1100" b="1" dirty="0">
                <a:solidFill>
                  <a:srgbClr val="4A6688"/>
                </a:solidFill>
                <a:latin typeface="Calibri" pitchFamily="34" charset="0"/>
                <a:ea typeface="Calibri" pitchFamily="34" charset="-122"/>
                <a:cs typeface="Calibri" pitchFamily="34" charset="-120"/>
              </a:rPr>
              <a:t>cProfile output (top lines by cumtime)</a:t>
            </a:r>
            <a:endParaRPr lang="en-US" sz="1100" dirty="0"/>
          </a:p>
        </p:txBody>
      </p:sp>
      <p:sp>
        <p:nvSpPr>
          <p:cNvPr id="8" name="Shape 6"/>
          <p:cNvSpPr/>
          <p:nvPr/>
        </p:nvSpPr>
        <p:spPr>
          <a:xfrm>
            <a:off x="4754880" y="1143000"/>
            <a:ext cx="4206240" cy="169164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9" name="Text 7"/>
          <p:cNvSpPr/>
          <p:nvPr/>
        </p:nvSpPr>
        <p:spPr>
          <a:xfrm>
            <a:off x="4828032" y="1207008"/>
            <a:ext cx="4059936" cy="1572768"/>
          </a:xfrm>
          <a:prstGeom prst="rect">
            <a:avLst/>
          </a:prstGeom>
          <a:noFill/>
          <a:ln/>
        </p:spPr>
        <p:txBody>
          <a:bodyPr wrap="square" rtlCol="0" anchor="ctr"/>
          <a:lstStyle/>
          <a:p>
            <a:pPr indent="0" marL="0">
              <a:buNone/>
            </a:pPr>
            <a:r>
              <a:rPr lang="en-US" sz="900" dirty="0">
                <a:solidFill>
                  <a:srgbClr val="7BAFD4"/>
                </a:solidFill>
                <a:latin typeface="Consolas" pitchFamily="34" charset="0"/>
                <a:ea typeface="Consolas" pitchFamily="34" charset="-122"/>
                <a:cs typeface="Consolas" pitchFamily="34" charset="-120"/>
              </a:rPr>
              <a:t>   ncalls  cumtime  percall  filename
</a:t>
            </a:r>
            <a:pPr indent="0" marL="0">
              <a:buNone/>
            </a:pPr>
            <a:r>
              <a:rPr lang="en-US" sz="900" b="1" dirty="0">
                <a:solidFill>
                  <a:srgbClr val="F44747"/>
                </a:solidFill>
                <a:latin typeface="Consolas" pitchFamily="34" charset="0"/>
                <a:ea typeface="Consolas" pitchFamily="34" charset="-122"/>
                <a:cs typeface="Consolas" pitchFamily="34" charset="-120"/>
              </a:rPr>
              <a:t>    10000   41.32    0.004  pipeline.py:matched_filter
</a:t>
            </a:r>
            <a:pPr indent="0" marL="0">
              <a:buNone/>
            </a:pPr>
            <a:r>
              <a:rPr lang="en-US" sz="900" b="1" dirty="0">
                <a:solidFill>
                  <a:srgbClr val="F44747"/>
                </a:solidFill>
                <a:latin typeface="Consolas" pitchFamily="34" charset="0"/>
                <a:ea typeface="Consolas" pitchFamily="34" charset="-122"/>
                <a:cs typeface="Consolas" pitchFamily="34" charset="-120"/>
              </a:rPr>
              <a:t>    10000   41.29    0.004  {np.dot}
</a:t>
            </a:r>
            <a:pPr indent="0" marL="0">
              <a:buNone/>
            </a:pPr>
            <a:r>
              <a:rPr lang="en-US" sz="900" dirty="0">
                <a:solidFill>
                  <a:srgbClr val="4EC994"/>
                </a:solidFill>
                <a:latin typeface="Consolas" pitchFamily="34" charset="0"/>
                <a:ea typeface="Consolas" pitchFamily="34" charset="-122"/>
                <a:cs typeface="Consolas" pitchFamily="34" charset="-120"/>
              </a:rPr>
              <a:t>        1    0.43    0.43   pipeline.py:compute_psd
</a:t>
            </a:r>
            <a:pPr indent="0" marL="0">
              <a:buNone/>
            </a:pPr>
            <a:r>
              <a:rPr lang="en-US" sz="900" dirty="0">
                <a:solidFill>
                  <a:srgbClr val="4EC994"/>
                </a:solidFill>
                <a:latin typeface="Consolas" pitchFamily="34" charset="0"/>
                <a:ea typeface="Consolas" pitchFamily="34" charset="-122"/>
                <a:cs typeface="Consolas" pitchFamily="34" charset="-120"/>
              </a:rPr>
              <a:t>        1    0.01    0.01   pipeline.py:load_strain
</a:t>
            </a:r>
            <a:endParaRPr lang="en-US" sz="900" dirty="0"/>
          </a:p>
        </p:txBody>
      </p:sp>
      <p:sp>
        <p:nvSpPr>
          <p:cNvPr id="10" name="Shape 8"/>
          <p:cNvSpPr/>
          <p:nvPr/>
        </p:nvSpPr>
        <p:spPr>
          <a:xfrm>
            <a:off x="4754880" y="2944368"/>
            <a:ext cx="4206240" cy="274320"/>
          </a:xfrm>
          <a:prstGeom prst="rect">
            <a:avLst/>
          </a:prstGeom>
          <a:solidFill>
            <a:srgbClr val="1A9E6E"/>
          </a:solidFill>
          <a:ln/>
        </p:spPr>
      </p:sp>
      <p:sp>
        <p:nvSpPr>
          <p:cNvPr id="11" name="Text 9"/>
          <p:cNvSpPr/>
          <p:nvPr/>
        </p:nvSpPr>
        <p:spPr>
          <a:xfrm>
            <a:off x="4846320" y="2962656"/>
            <a:ext cx="4023360" cy="237744"/>
          </a:xfrm>
          <a:prstGeom prst="rect">
            <a:avLst/>
          </a:prstGeom>
          <a:noFill/>
          <a:ln/>
        </p:spPr>
        <p:txBody>
          <a:bodyPr wrap="square"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  The fix — vectorise the loop</a:t>
            </a:r>
            <a:endParaRPr lang="en-US" sz="1100" dirty="0"/>
          </a:p>
        </p:txBody>
      </p:sp>
      <p:sp>
        <p:nvSpPr>
          <p:cNvPr id="12" name="Shape 10"/>
          <p:cNvSpPr/>
          <p:nvPr/>
        </p:nvSpPr>
        <p:spPr>
          <a:xfrm>
            <a:off x="4754880" y="3236976"/>
            <a:ext cx="4206240" cy="109728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13" name="Text 11"/>
          <p:cNvSpPr/>
          <p:nvPr/>
        </p:nvSpPr>
        <p:spPr>
          <a:xfrm>
            <a:off x="4828032" y="3291840"/>
            <a:ext cx="4059936" cy="987552"/>
          </a:xfrm>
          <a:prstGeom prst="rect">
            <a:avLst/>
          </a:prstGeom>
          <a:noFill/>
          <a:ln/>
        </p:spPr>
        <p:txBody>
          <a:bodyPr wrap="square" rtlCol="0" anchor="ctr"/>
          <a:lstStyle/>
          <a:p>
            <a:pPr indent="0" marL="0">
              <a:buNone/>
            </a:pPr>
            <a:r>
              <a:rPr lang="en-US" sz="950" dirty="0">
                <a:solidFill>
                  <a:srgbClr val="DCDCAA"/>
                </a:solidFill>
                <a:latin typeface="Consolas" pitchFamily="34" charset="0"/>
                <a:ea typeface="Consolas" pitchFamily="34" charset="-122"/>
                <a:cs typeface="Consolas" pitchFamily="34" charset="-120"/>
              </a:rPr>
              <a:t>def matched_filter(h, templates):
</a:t>
            </a:r>
            <a:pPr indent="0" marL="0">
              <a:buNone/>
            </a:pPr>
            <a:r>
              <a:rPr lang="en-US" sz="950" dirty="0">
                <a:solidFill>
                  <a:srgbClr val="D4D4D4"/>
                </a:solidFill>
                <a:latin typeface="Consolas" pitchFamily="34" charset="0"/>
                <a:ea typeface="Consolas" pitchFamily="34" charset="-122"/>
                <a:cs typeface="Consolas" pitchFamily="34" charset="-120"/>
              </a:rPr>
              <a:t>    T = np.array(templates)    # (N, L)
</a:t>
            </a:r>
            <a:pPr indent="0" marL="0">
              <a:buNone/>
            </a:pPr>
            <a:r>
              <a:rPr lang="en-US" sz="950" b="1" dirty="0">
                <a:solidFill>
                  <a:srgbClr val="4EC994"/>
                </a:solidFill>
                <a:latin typeface="Consolas" pitchFamily="34" charset="0"/>
                <a:ea typeface="Consolas" pitchFamily="34" charset="-122"/>
                <a:cs typeface="Consolas" pitchFamily="34" charset="-120"/>
              </a:rPr>
              <a:t>    return T @ h              # one matmul
</a:t>
            </a:r>
            <a:endParaRPr lang="en-US" sz="950" dirty="0"/>
          </a:p>
        </p:txBody>
      </p:sp>
      <p:sp>
        <p:nvSpPr>
          <p:cNvPr id="14" name="Shape 12"/>
          <p:cNvSpPr/>
          <p:nvPr/>
        </p:nvSpPr>
        <p:spPr>
          <a:xfrm>
            <a:off x="6583680" y="4206240"/>
            <a:ext cx="1645920" cy="749808"/>
          </a:xfrm>
          <a:prstGeom prst="ellipse">
            <a:avLst/>
          </a:prstGeom>
          <a:solidFill>
            <a:srgbClr val="1A9E6E"/>
          </a:solidFill>
          <a:ln/>
        </p:spPr>
      </p:sp>
      <p:sp>
        <p:nvSpPr>
          <p:cNvPr id="15" name="Text 13"/>
          <p:cNvSpPr/>
          <p:nvPr/>
        </p:nvSpPr>
        <p:spPr>
          <a:xfrm>
            <a:off x="6583680" y="4206240"/>
            <a:ext cx="1645920" cy="749808"/>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~80×</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faster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4D8B"/>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Going Deeper: Line &amp; Memory Profiling</a:t>
            </a:r>
            <a:endParaRPr lang="en-US" sz="2600" dirty="0"/>
          </a:p>
        </p:txBody>
      </p:sp>
      <p:sp>
        <p:nvSpPr>
          <p:cNvPr id="4" name="Text 2"/>
          <p:cNvSpPr/>
          <p:nvPr/>
        </p:nvSpPr>
        <p:spPr>
          <a:xfrm>
            <a:off x="256032" y="841248"/>
            <a:ext cx="4297680" cy="292608"/>
          </a:xfrm>
          <a:prstGeom prst="rect">
            <a:avLst/>
          </a:prstGeom>
          <a:noFill/>
          <a:ln/>
        </p:spPr>
        <p:txBody>
          <a:bodyPr wrap="square" rtlCol="0" anchor="ctr"/>
          <a:lstStyle/>
          <a:p>
            <a:pPr indent="0" marL="0">
              <a:buNone/>
            </a:pPr>
            <a:r>
              <a:rPr lang="en-US" sz="1150" b="1" dirty="0">
                <a:solidFill>
                  <a:srgbClr val="6D3B9E"/>
                </a:solidFill>
                <a:latin typeface="Georgia" pitchFamily="34" charset="0"/>
                <a:ea typeface="Georgia" pitchFamily="34" charset="-122"/>
                <a:cs typeface="Georgia" pitchFamily="34" charset="-120"/>
              </a:rPr>
              <a:t>line_profiler — which line inside the function?</a:t>
            </a:r>
            <a:endParaRPr lang="en-US" sz="1150" dirty="0"/>
          </a:p>
        </p:txBody>
      </p:sp>
      <p:sp>
        <p:nvSpPr>
          <p:cNvPr id="5" name="Shape 3"/>
          <p:cNvSpPr/>
          <p:nvPr/>
        </p:nvSpPr>
        <p:spPr>
          <a:xfrm>
            <a:off x="256032" y="1170432"/>
            <a:ext cx="4297680" cy="114300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6" name="Text 4"/>
          <p:cNvSpPr/>
          <p:nvPr/>
        </p:nvSpPr>
        <p:spPr>
          <a:xfrm>
            <a:off x="329184" y="1225296"/>
            <a:ext cx="4151376" cy="1024128"/>
          </a:xfrm>
          <a:prstGeom prst="rect">
            <a:avLst/>
          </a:prstGeom>
          <a:noFill/>
          <a:ln/>
        </p:spPr>
        <p:txBody>
          <a:bodyPr wrap="square" rtlCol="0" anchor="ctr"/>
          <a:lstStyle/>
          <a:p>
            <a:pPr indent="0" marL="0">
              <a:buNone/>
            </a:pPr>
            <a:r>
              <a:rPr lang="en-US" sz="950" dirty="0">
                <a:solidFill>
                  <a:srgbClr val="6A9955"/>
                </a:solidFill>
                <a:latin typeface="Consolas" pitchFamily="34" charset="0"/>
                <a:ea typeface="Consolas" pitchFamily="34" charset="-122"/>
                <a:cs typeface="Consolas" pitchFamily="34" charset="-120"/>
              </a:rPr>
              <a:t># decorate the function you want to inspect
</a:t>
            </a:r>
            <a:pPr indent="0" marL="0">
              <a:buNone/>
            </a:pPr>
            <a:r>
              <a:rPr lang="en-US" sz="950" dirty="0">
                <a:solidFill>
                  <a:srgbClr val="C586C0"/>
                </a:solidFill>
                <a:latin typeface="Consolas" pitchFamily="34" charset="0"/>
                <a:ea typeface="Consolas" pitchFamily="34" charset="-122"/>
                <a:cs typeface="Consolas" pitchFamily="34" charset="-120"/>
              </a:rPr>
              <a:t>@profile
</a:t>
            </a:r>
            <a:pPr indent="0" marL="0">
              <a:buNone/>
            </a:pPr>
            <a:r>
              <a:rPr lang="en-US" sz="950" dirty="0">
                <a:solidFill>
                  <a:srgbClr val="DCDCAA"/>
                </a:solidFill>
                <a:latin typeface="Consolas" pitchFamily="34" charset="0"/>
                <a:ea typeface="Consolas" pitchFamily="34" charset="-122"/>
                <a:cs typeface="Consolas" pitchFamily="34" charset="-120"/>
              </a:rPr>
              <a:t>def compute_psd(h, fs=1.0):
    ...
</a:t>
            </a:r>
            <a:pPr indent="0" marL="0">
              <a:buNone/>
            </a:pPr>
            <a:r>
              <a:rPr lang="en-US" sz="950" dirty="0">
                <a:solidFill>
                  <a:srgbClr val="6A9955"/>
                </a:solidFill>
                <a:latin typeface="Consolas" pitchFamily="34" charset="0"/>
                <a:ea typeface="Consolas" pitchFamily="34" charset="-122"/>
                <a:cs typeface="Consolas" pitchFamily="34" charset="-120"/>
              </a:rPr>
              <a:t># run with:
</a:t>
            </a:r>
            <a:pPr indent="0" marL="0">
              <a:buNone/>
            </a:pPr>
            <a:r>
              <a:rPr lang="en-US" sz="950" dirty="0">
                <a:solidFill>
                  <a:srgbClr val="4EC994"/>
                </a:solidFill>
                <a:latin typeface="Consolas" pitchFamily="34" charset="0"/>
                <a:ea typeface="Consolas" pitchFamily="34" charset="-122"/>
                <a:cs typeface="Consolas" pitchFamily="34" charset="-120"/>
              </a:rPr>
              <a:t>kernprof -l -v pipeline.py</a:t>
            </a:r>
            <a:endParaRPr lang="en-US" sz="950" dirty="0"/>
          </a:p>
        </p:txBody>
      </p:sp>
      <p:sp>
        <p:nvSpPr>
          <p:cNvPr id="7" name="Shape 5"/>
          <p:cNvSpPr/>
          <p:nvPr/>
        </p:nvSpPr>
        <p:spPr>
          <a:xfrm>
            <a:off x="256032" y="2377440"/>
            <a:ext cx="4297680" cy="132588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8" name="Text 6"/>
          <p:cNvSpPr/>
          <p:nvPr/>
        </p:nvSpPr>
        <p:spPr>
          <a:xfrm>
            <a:off x="329184" y="2432304"/>
            <a:ext cx="4151376" cy="1207008"/>
          </a:xfrm>
          <a:prstGeom prst="rect">
            <a:avLst/>
          </a:prstGeom>
          <a:noFill/>
          <a:ln/>
        </p:spPr>
        <p:txBody>
          <a:bodyPr wrap="square" rtlCol="0" anchor="ctr"/>
          <a:lstStyle/>
          <a:p>
            <a:pPr indent="0" marL="0">
              <a:buNone/>
            </a:pPr>
            <a:r>
              <a:rPr lang="en-US" sz="900" dirty="0">
                <a:solidFill>
                  <a:srgbClr val="7BAFD4"/>
                </a:solidFill>
                <a:latin typeface="Consolas" pitchFamily="34" charset="0"/>
                <a:ea typeface="Consolas" pitchFamily="34" charset="-122"/>
                <a:cs typeface="Consolas" pitchFamily="34" charset="-120"/>
              </a:rPr>
              <a:t>Line #   Hits   Time  %Time  Line Contents
</a:t>
            </a:r>
            <a:pPr indent="0" marL="0">
              <a:buNone/>
            </a:pPr>
            <a:r>
              <a:rPr lang="en-US" sz="900" dirty="0">
                <a:solidFill>
                  <a:srgbClr val="555555"/>
                </a:solidFill>
                <a:latin typeface="Consolas" pitchFamily="34" charset="0"/>
                <a:ea typeface="Consolas" pitchFamily="34" charset="-122"/>
                <a:cs typeface="Consolas" pitchFamily="34" charset="-120"/>
              </a:rPr>
              <a:t>─────────────────────────────────────────
</a:t>
            </a:r>
            <a:pPr indent="0" marL="0">
              <a:buNone/>
            </a:pPr>
            <a:r>
              <a:rPr lang="en-US" sz="900" dirty="0">
                <a:solidFill>
                  <a:srgbClr val="D4D4D4"/>
                </a:solidFill>
                <a:latin typeface="Consolas" pitchFamily="34" charset="0"/>
                <a:ea typeface="Consolas" pitchFamily="34" charset="-122"/>
                <a:cs typeface="Consolas" pitchFamily="34" charset="-120"/>
              </a:rPr>
              <a:t>     2       1   2100    0.5  f, Pxx = welch(h, fs)
</a:t>
            </a:r>
            <a:pPr indent="0" marL="0">
              <a:buNone/>
            </a:pPr>
            <a:r>
              <a:rPr lang="en-US" sz="900" b="1" dirty="0">
                <a:solidFill>
                  <a:srgbClr val="F44747"/>
                </a:solidFill>
                <a:latin typeface="Consolas" pitchFamily="34" charset="0"/>
                <a:ea typeface="Consolas" pitchFamily="34" charset="-122"/>
                <a:cs typeface="Consolas" pitchFamily="34" charset="-120"/>
              </a:rPr>
              <a:t>     3       1 402000   99.5  Pxx /= noise_curve(f)
</a:t>
            </a:r>
            <a:pPr indent="0" marL="0">
              <a:buNone/>
            </a:pPr>
            <a:r>
              <a:rPr lang="en-US" sz="900" i="1" dirty="0">
                <a:solidFill>
                  <a:srgbClr val="F44747"/>
                </a:solidFill>
                <a:latin typeface="Consolas" pitchFamily="34" charset="0"/>
                <a:ea typeface="Consolas" pitchFamily="34" charset="-122"/>
                <a:cs typeface="Consolas" pitchFamily="34" charset="-120"/>
              </a:rPr>
              <a:t>                               # ← you didn't expect this
</a:t>
            </a:r>
            <a:endParaRPr lang="en-US" sz="900" dirty="0"/>
          </a:p>
        </p:txBody>
      </p:sp>
      <p:sp>
        <p:nvSpPr>
          <p:cNvPr id="9" name="Text 7"/>
          <p:cNvSpPr/>
          <p:nvPr/>
        </p:nvSpPr>
        <p:spPr>
          <a:xfrm>
            <a:off x="4773168" y="841248"/>
            <a:ext cx="4114800" cy="292608"/>
          </a:xfrm>
          <a:prstGeom prst="rect">
            <a:avLst/>
          </a:prstGeom>
          <a:noFill/>
          <a:ln/>
        </p:spPr>
        <p:txBody>
          <a:bodyPr wrap="square" rtlCol="0" anchor="ctr"/>
          <a:lstStyle/>
          <a:p>
            <a:pPr indent="0" marL="0">
              <a:buNone/>
            </a:pPr>
            <a:r>
              <a:rPr lang="en-US" sz="1150" b="1" dirty="0">
                <a:solidFill>
                  <a:srgbClr val="E87C2A"/>
                </a:solidFill>
                <a:latin typeface="Georgia" pitchFamily="34" charset="0"/>
                <a:ea typeface="Georgia" pitchFamily="34" charset="-122"/>
                <a:cs typeface="Georgia" pitchFamily="34" charset="-120"/>
              </a:rPr>
              <a:t>memory_profiler — tracking RAM usage</a:t>
            </a:r>
            <a:endParaRPr lang="en-US" sz="1150" dirty="0"/>
          </a:p>
        </p:txBody>
      </p:sp>
      <p:sp>
        <p:nvSpPr>
          <p:cNvPr id="10" name="Shape 8"/>
          <p:cNvSpPr/>
          <p:nvPr/>
        </p:nvSpPr>
        <p:spPr>
          <a:xfrm>
            <a:off x="4773168" y="1170432"/>
            <a:ext cx="4114800" cy="114300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11" name="Text 9"/>
          <p:cNvSpPr/>
          <p:nvPr/>
        </p:nvSpPr>
        <p:spPr>
          <a:xfrm>
            <a:off x="4846320" y="1225296"/>
            <a:ext cx="3986784" cy="1024128"/>
          </a:xfrm>
          <a:prstGeom prst="rect">
            <a:avLst/>
          </a:prstGeom>
          <a:noFill/>
          <a:ln/>
        </p:spPr>
        <p:txBody>
          <a:bodyPr wrap="square" rtlCol="0" anchor="ctr"/>
          <a:lstStyle/>
          <a:p>
            <a:pPr indent="0" marL="0">
              <a:buNone/>
            </a:pPr>
            <a:r>
              <a:rPr lang="en-US" sz="950" dirty="0">
                <a:solidFill>
                  <a:srgbClr val="C586C0"/>
                </a:solidFill>
                <a:latin typeface="Consolas" pitchFamily="34" charset="0"/>
                <a:ea typeface="Consolas" pitchFamily="34" charset="-122"/>
                <a:cs typeface="Consolas" pitchFamily="34" charset="-120"/>
              </a:rPr>
              <a:t>@profile
</a:t>
            </a:r>
            <a:pPr indent="0" marL="0">
              <a:buNone/>
            </a:pPr>
            <a:r>
              <a:rPr lang="en-US" sz="950" dirty="0">
                <a:solidFill>
                  <a:srgbClr val="DCDCAA"/>
                </a:solidFill>
                <a:latin typeface="Consolas" pitchFamily="34" charset="0"/>
                <a:ea typeface="Consolas" pitchFamily="34" charset="-122"/>
                <a:cs typeface="Consolas" pitchFamily="34" charset="-120"/>
              </a:rPr>
              <a:t>def load_all_segments(paths):
</a:t>
            </a:r>
            <a:pPr indent="0" marL="0">
              <a:buNone/>
            </a:pPr>
            <a:r>
              <a:rPr lang="en-US" sz="950" dirty="0">
                <a:solidFill>
                  <a:srgbClr val="D4D4D4"/>
                </a:solidFill>
                <a:latin typeface="Consolas" pitchFamily="34" charset="0"/>
                <a:ea typeface="Consolas" pitchFamily="34" charset="-122"/>
                <a:cs typeface="Consolas" pitchFamily="34" charset="-120"/>
              </a:rPr>
              <a:t>    return [np.load(p) for p in paths]
</a:t>
            </a:r>
            <a:pPr indent="0" marL="0">
              <a:buNone/>
            </a:pPr>
            <a:r>
              <a:rPr lang="en-US" sz="950" dirty="0">
                <a:solidFill>
                  <a:srgbClr val="6A9955"/>
                </a:solidFill>
                <a:latin typeface="Consolas" pitchFamily="34" charset="0"/>
                <a:ea typeface="Consolas" pitchFamily="34" charset="-122"/>
                <a:cs typeface="Consolas" pitchFamily="34" charset="-120"/>
              </a:rPr>
              <a:t># run with:
</a:t>
            </a:r>
            <a:pPr indent="0" marL="0">
              <a:buNone/>
            </a:pPr>
            <a:r>
              <a:rPr lang="en-US" sz="950" dirty="0">
                <a:solidFill>
                  <a:srgbClr val="4EC994"/>
                </a:solidFill>
                <a:latin typeface="Consolas" pitchFamily="34" charset="0"/>
                <a:ea typeface="Consolas" pitchFamily="34" charset="-122"/>
                <a:cs typeface="Consolas" pitchFamily="34" charset="-120"/>
              </a:rPr>
              <a:t>python -m memory_profiler pipeline.py</a:t>
            </a:r>
            <a:endParaRPr lang="en-US" sz="950" dirty="0"/>
          </a:p>
        </p:txBody>
      </p:sp>
      <p:sp>
        <p:nvSpPr>
          <p:cNvPr id="12" name="Shape 10"/>
          <p:cNvSpPr/>
          <p:nvPr/>
        </p:nvSpPr>
        <p:spPr>
          <a:xfrm>
            <a:off x="4773168" y="2377440"/>
            <a:ext cx="4114800" cy="132588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13" name="Text 11"/>
          <p:cNvSpPr/>
          <p:nvPr/>
        </p:nvSpPr>
        <p:spPr>
          <a:xfrm>
            <a:off x="4846320" y="2432304"/>
            <a:ext cx="3986784" cy="1207008"/>
          </a:xfrm>
          <a:prstGeom prst="rect">
            <a:avLst/>
          </a:prstGeom>
          <a:noFill/>
          <a:ln/>
        </p:spPr>
        <p:txBody>
          <a:bodyPr wrap="square" rtlCol="0" anchor="ctr"/>
          <a:lstStyle/>
          <a:p>
            <a:pPr indent="0" marL="0">
              <a:buNone/>
            </a:pPr>
            <a:r>
              <a:rPr lang="en-US" sz="900" dirty="0">
                <a:solidFill>
                  <a:srgbClr val="7BAFD4"/>
                </a:solidFill>
                <a:latin typeface="Consolas" pitchFamily="34" charset="0"/>
                <a:ea typeface="Consolas" pitchFamily="34" charset="-122"/>
                <a:cs typeface="Consolas" pitchFamily="34" charset="-120"/>
              </a:rPr>
              <a:t>Line #   Mem (MiB)   Increment   Line
</a:t>
            </a:r>
            <a:pPr indent="0" marL="0">
              <a:buNone/>
            </a:pPr>
            <a:r>
              <a:rPr lang="en-US" sz="900" dirty="0">
                <a:solidFill>
                  <a:srgbClr val="555555"/>
                </a:solidFill>
                <a:latin typeface="Consolas" pitchFamily="34" charset="0"/>
                <a:ea typeface="Consolas" pitchFamily="34" charset="-122"/>
                <a:cs typeface="Consolas" pitchFamily="34" charset="-120"/>
              </a:rPr>
              <a:t>─────────────────────────────────────
</a:t>
            </a:r>
            <a:pPr indent="0" marL="0">
              <a:buNone/>
            </a:pPr>
            <a:r>
              <a:rPr lang="en-US" sz="900" dirty="0">
                <a:solidFill>
                  <a:srgbClr val="D4D4D4"/>
                </a:solidFill>
                <a:latin typeface="Consolas" pitchFamily="34" charset="0"/>
                <a:ea typeface="Consolas" pitchFamily="34" charset="-122"/>
                <a:cs typeface="Consolas" pitchFamily="34" charset="-120"/>
              </a:rPr>
              <a:t>     2      312.4      +0.0    def load_all...
</a:t>
            </a:r>
            <a:pPr indent="0" marL="0">
              <a:buNone/>
            </a:pPr>
            <a:r>
              <a:rPr lang="en-US" sz="900" b="1" dirty="0">
                <a:solidFill>
                  <a:srgbClr val="F44747"/>
                </a:solidFill>
                <a:latin typeface="Consolas" pitchFamily="34" charset="0"/>
                <a:ea typeface="Consolas" pitchFamily="34" charset="-122"/>
                <a:cs typeface="Consolas" pitchFamily="34" charset="-120"/>
              </a:rPr>
              <a:t>     3     6048.1   +5735.7    return [np.load(p)
</a:t>
            </a:r>
            <a:pPr indent="0" marL="0">
              <a:buNone/>
            </a:pPr>
            <a:r>
              <a:rPr lang="en-US" sz="900" i="1" dirty="0">
                <a:solidFill>
                  <a:srgbClr val="F44747"/>
                </a:solidFill>
                <a:latin typeface="Consolas" pitchFamily="34" charset="0"/>
                <a:ea typeface="Consolas" pitchFamily="34" charset="-122"/>
                <a:cs typeface="Consolas" pitchFamily="34" charset="-120"/>
              </a:rPr>
              <a:t>                               # loaded 5.6 GB at once!
</a:t>
            </a:r>
            <a:endParaRPr lang="en-US" sz="900" dirty="0"/>
          </a:p>
        </p:txBody>
      </p:sp>
      <p:sp>
        <p:nvSpPr>
          <p:cNvPr id="14" name="Shape 12"/>
          <p:cNvSpPr/>
          <p:nvPr/>
        </p:nvSpPr>
        <p:spPr>
          <a:xfrm>
            <a:off x="256032" y="3822192"/>
            <a:ext cx="8631936" cy="1143000"/>
          </a:xfrm>
          <a:prstGeom prst="rect">
            <a:avLst/>
          </a:prstGeom>
          <a:solidFill>
            <a:srgbClr val="E8F4EE"/>
          </a:solidFill>
          <a:ln w="10160">
            <a:solidFill>
              <a:srgbClr val="88CCA0"/>
            </a:solidFill>
            <a:prstDash val="solid"/>
          </a:ln>
        </p:spPr>
      </p:sp>
      <p:sp>
        <p:nvSpPr>
          <p:cNvPr id="15" name="Text 13"/>
          <p:cNvSpPr/>
          <p:nvPr/>
        </p:nvSpPr>
        <p:spPr>
          <a:xfrm>
            <a:off x="411480" y="3886200"/>
            <a:ext cx="8321040" cy="274320"/>
          </a:xfrm>
          <a:prstGeom prst="rect">
            <a:avLst/>
          </a:prstGeom>
          <a:noFill/>
          <a:ln/>
        </p:spPr>
        <p:txBody>
          <a:bodyPr wrap="square" rtlCol="0" anchor="ctr"/>
          <a:lstStyle/>
          <a:p>
            <a:pPr indent="0" marL="0">
              <a:buNone/>
            </a:pPr>
            <a:r>
              <a:rPr lang="en-US" sz="1200" b="1" dirty="0">
                <a:solidFill>
                  <a:srgbClr val="1A9E6E"/>
                </a:solidFill>
                <a:latin typeface="Georgia" pitchFamily="34" charset="0"/>
                <a:ea typeface="Georgia" pitchFamily="34" charset="-122"/>
                <a:cs typeface="Georgia" pitchFamily="34" charset="-120"/>
              </a:rPr>
              <a:t>Profiling workflow summary</a:t>
            </a:r>
            <a:endParaRPr lang="en-US" sz="1200" dirty="0"/>
          </a:p>
        </p:txBody>
      </p:sp>
      <p:sp>
        <p:nvSpPr>
          <p:cNvPr id="16" name="Text 14"/>
          <p:cNvSpPr/>
          <p:nvPr/>
        </p:nvSpPr>
        <p:spPr>
          <a:xfrm>
            <a:off x="411480" y="4169664"/>
            <a:ext cx="8321040" cy="685800"/>
          </a:xfrm>
          <a:prstGeom prst="rect">
            <a:avLst/>
          </a:prstGeom>
          <a:noFill/>
          <a:ln/>
        </p:spPr>
        <p:txBody>
          <a:bodyPr wrap="square" rtlCol="0" anchor="ctr"/>
          <a:lstStyle/>
          <a:p>
            <a:pPr indent="0" marL="0">
              <a:buNone/>
            </a:pPr>
            <a:r>
              <a:rPr lang="en-US" sz="1200" b="1" dirty="0">
                <a:solidFill>
                  <a:srgbClr val="0E4D8B"/>
                </a:solidFill>
                <a:latin typeface="Calibri" pitchFamily="34" charset="0"/>
                <a:ea typeface="Calibri" pitchFamily="34" charset="-122"/>
                <a:cs typeface="Calibri" pitchFamily="34" charset="-120"/>
              </a:rPr>
              <a:t>1. cProfile  </a:t>
            </a:r>
            <a:pPr indent="0" marL="0">
              <a:buNone/>
            </a:pPr>
            <a:r>
              <a:rPr lang="en-US" sz="1200" dirty="0">
                <a:solidFill>
                  <a:srgbClr val="1A2B4A"/>
                </a:solidFill>
                <a:latin typeface="Calibri" pitchFamily="34" charset="0"/>
                <a:ea typeface="Calibri" pitchFamily="34" charset="-122"/>
                <a:cs typeface="Calibri" pitchFamily="34" charset="-120"/>
              </a:rPr>
              <a:t>→ which function?    </a:t>
            </a:r>
            <a:pPr indent="0" marL="0">
              <a:buNone/>
            </a:pPr>
            <a:r>
              <a:rPr lang="en-US" sz="1200" b="1" dirty="0">
                <a:solidFill>
                  <a:srgbClr val="0891B2"/>
                </a:solidFill>
                <a:latin typeface="Calibri" pitchFamily="34" charset="0"/>
                <a:ea typeface="Calibri" pitchFamily="34" charset="-122"/>
                <a:cs typeface="Calibri" pitchFamily="34" charset="-120"/>
              </a:rPr>
              <a:t>2. SnakeViz  </a:t>
            </a:r>
            <a:pPr indent="0" marL="0">
              <a:buNone/>
            </a:pPr>
            <a:r>
              <a:rPr lang="en-US" sz="1200" dirty="0">
                <a:solidFill>
                  <a:srgbClr val="1A2B4A"/>
                </a:solidFill>
                <a:latin typeface="Calibri" pitchFamily="34" charset="0"/>
                <a:ea typeface="Calibri" pitchFamily="34" charset="-122"/>
                <a:cs typeface="Calibri" pitchFamily="34" charset="-120"/>
              </a:rPr>
              <a:t>→ visualise the call tree    </a:t>
            </a:r>
            <a:pPr indent="0" marL="0">
              <a:buNone/>
            </a:pPr>
            <a:r>
              <a:rPr lang="en-US" sz="1200" b="1" dirty="0">
                <a:solidFill>
                  <a:srgbClr val="6D3B9E"/>
                </a:solidFill>
                <a:latin typeface="Calibri" pitchFamily="34" charset="0"/>
                <a:ea typeface="Calibri" pitchFamily="34" charset="-122"/>
                <a:cs typeface="Calibri" pitchFamily="34" charset="-120"/>
              </a:rPr>
              <a:t>3. line_profiler  </a:t>
            </a:r>
            <a:pPr indent="0" marL="0">
              <a:buNone/>
            </a:pPr>
            <a:r>
              <a:rPr lang="en-US" sz="1200" dirty="0">
                <a:solidFill>
                  <a:srgbClr val="1A2B4A"/>
                </a:solidFill>
                <a:latin typeface="Calibri" pitchFamily="34" charset="0"/>
                <a:ea typeface="Calibri" pitchFamily="34" charset="-122"/>
                <a:cs typeface="Calibri" pitchFamily="34" charset="-120"/>
              </a:rPr>
              <a:t>→ which line?    </a:t>
            </a:r>
            <a:pPr indent="0" marL="0">
              <a:buNone/>
            </a:pPr>
            <a:r>
              <a:rPr lang="en-US" sz="1200" b="1" dirty="0">
                <a:solidFill>
                  <a:srgbClr val="1A9E6E"/>
                </a:solidFill>
                <a:latin typeface="Calibri" pitchFamily="34" charset="0"/>
                <a:ea typeface="Calibri" pitchFamily="34" charset="-122"/>
                <a:cs typeface="Calibri" pitchFamily="34" charset="-120"/>
              </a:rPr>
              <a:t>4. Fix → re-profile to confirm speedup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6B4A"/>
          </a:solidFill>
          <a:ln/>
        </p:spPr>
      </p:sp>
      <p:sp>
        <p:nvSpPr>
          <p:cNvPr id="3" name="Shape 1"/>
          <p:cNvSpPr/>
          <p:nvPr/>
        </p:nvSpPr>
        <p:spPr>
          <a:xfrm>
            <a:off x="5943600" y="-1371600"/>
            <a:ext cx="4572000" cy="4572000"/>
          </a:xfrm>
          <a:prstGeom prst="ellipse">
            <a:avLst/>
          </a:prstGeom>
          <a:solidFill>
            <a:srgbClr val="1A6B4A">
              <a:alpha val="20000"/>
            </a:srgbClr>
          </a:solidFill>
          <a:ln w="12700">
            <a:solidFill>
              <a:srgbClr val="1A6B4A">
                <a:alpha val="20000"/>
              </a:srgbClr>
            </a:solidFill>
            <a:prstDash val="solid"/>
          </a:ln>
        </p:spPr>
      </p:sp>
      <p:sp>
        <p:nvSpPr>
          <p:cNvPr id="4" name="Text 2"/>
          <p:cNvSpPr/>
          <p:nvPr/>
        </p:nvSpPr>
        <p:spPr>
          <a:xfrm>
            <a:off x="365760" y="1280160"/>
            <a:ext cx="8412480" cy="109728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Part 2</a:t>
            </a:r>
            <a:endParaRPr lang="en-US" sz="4200" dirty="0"/>
          </a:p>
          <a:p>
            <a:pPr indent="0" marL="0">
              <a:buNone/>
            </a:pPr>
            <a:r>
              <a:rPr lang="en-US" sz="4200" b="1" dirty="0">
                <a:solidFill>
                  <a:srgbClr val="FFFFFF"/>
                </a:solidFill>
                <a:latin typeface="Georgia" pitchFamily="34" charset="0"/>
                <a:ea typeface="Georgia" pitchFamily="34" charset="-122"/>
                <a:cs typeface="Georgia" pitchFamily="34" charset="-120"/>
              </a:rPr>
              <a:t>Cluster Good Practices</a:t>
            </a:r>
            <a:endParaRPr lang="en-US" sz="4200" dirty="0"/>
          </a:p>
        </p:txBody>
      </p:sp>
      <p:sp>
        <p:nvSpPr>
          <p:cNvPr id="5" name="Text 3"/>
          <p:cNvSpPr/>
          <p:nvPr/>
        </p:nvSpPr>
        <p:spPr>
          <a:xfrm>
            <a:off x="365760" y="2423160"/>
            <a:ext cx="7315200" cy="502920"/>
          </a:xfrm>
          <a:prstGeom prst="rect">
            <a:avLst/>
          </a:prstGeom>
          <a:noFill/>
          <a:ln/>
        </p:spPr>
        <p:txBody>
          <a:bodyPr wrap="square" rtlCol="0" anchor="ctr"/>
          <a:lstStyle/>
          <a:p>
            <a:pPr indent="0" marL="0">
              <a:buNone/>
            </a:pPr>
            <a:r>
              <a:rPr lang="en-US" sz="1700" i="1" dirty="0">
                <a:solidFill>
                  <a:srgbClr val="A8C8E8"/>
                </a:solidFill>
                <a:latin typeface="Calibri" pitchFamily="34" charset="0"/>
                <a:ea typeface="Calibri" pitchFamily="34" charset="-122"/>
                <a:cs typeface="Calibri" pitchFamily="34" charset="-120"/>
              </a:rPr>
              <a:t>Use HPC resources efficiently, reproducibly, and without headaches</a:t>
            </a:r>
            <a:endParaRPr lang="en-US" sz="1700" dirty="0"/>
          </a:p>
        </p:txBody>
      </p:sp>
      <p:sp>
        <p:nvSpPr>
          <p:cNvPr id="6" name="Shape 4"/>
          <p:cNvSpPr/>
          <p:nvPr/>
        </p:nvSpPr>
        <p:spPr>
          <a:xfrm>
            <a:off x="365760" y="3017520"/>
            <a:ext cx="3657600" cy="45720"/>
          </a:xfrm>
          <a:prstGeom prst="rect">
            <a:avLst/>
          </a:prstGeom>
          <a:solidFill>
            <a:srgbClr val="1A6B4A"/>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6B4A"/>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Job Arrays — the Right Abstraction</a:t>
            </a:r>
            <a:endParaRPr lang="en-US" sz="2600" dirty="0"/>
          </a:p>
        </p:txBody>
      </p:sp>
      <p:sp>
        <p:nvSpPr>
          <p:cNvPr id="4" name="Shape 2"/>
          <p:cNvSpPr/>
          <p:nvPr/>
        </p:nvSpPr>
        <p:spPr>
          <a:xfrm>
            <a:off x="256032" y="841248"/>
            <a:ext cx="4206240" cy="4160520"/>
          </a:xfrm>
          <a:prstGeom prst="rect">
            <a:avLst/>
          </a:prstGeom>
          <a:solidFill>
            <a:srgbClr val="FFF0F0"/>
          </a:solidFill>
          <a:ln w="10160">
            <a:solidFill>
              <a:srgbClr val="F0AAAA"/>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347472" y="896112"/>
            <a:ext cx="4023360" cy="347472"/>
          </a:xfrm>
          <a:prstGeom prst="rect">
            <a:avLst/>
          </a:prstGeom>
          <a:noFill/>
          <a:ln/>
        </p:spPr>
        <p:txBody>
          <a:bodyPr wrap="square" rtlCol="0" anchor="ctr"/>
          <a:lstStyle/>
          <a:p>
            <a:pPr indent="0" marL="0">
              <a:buNone/>
            </a:pPr>
            <a:r>
              <a:rPr lang="en-US" sz="1300" b="1" dirty="0">
                <a:solidFill>
                  <a:srgbClr val="C0392B"/>
                </a:solidFill>
                <a:latin typeface="Georgia" pitchFamily="34" charset="0"/>
                <a:ea typeface="Georgia" pitchFamily="34" charset="-122"/>
                <a:cs typeface="Georgia" pitchFamily="34" charset="-120"/>
              </a:rPr>
              <a:t>❌  Submitting 1000 separate scripts</a:t>
            </a:r>
            <a:endParaRPr lang="en-US" sz="1300" dirty="0"/>
          </a:p>
        </p:txBody>
      </p:sp>
      <p:sp>
        <p:nvSpPr>
          <p:cNvPr id="6" name="Shape 4"/>
          <p:cNvSpPr/>
          <p:nvPr/>
        </p:nvSpPr>
        <p:spPr>
          <a:xfrm>
            <a:off x="320040" y="1298448"/>
            <a:ext cx="4041648" cy="1280160"/>
          </a:xfrm>
          <a:prstGeom prst="rect">
            <a:avLst/>
          </a:prstGeom>
          <a:solidFill>
            <a:srgbClr val="1E1E2E"/>
          </a:solidFill>
          <a:ln/>
        </p:spPr>
      </p:sp>
      <p:sp>
        <p:nvSpPr>
          <p:cNvPr id="7" name="Text 5"/>
          <p:cNvSpPr/>
          <p:nvPr/>
        </p:nvSpPr>
        <p:spPr>
          <a:xfrm>
            <a:off x="384048" y="1353312"/>
            <a:ext cx="3913632" cy="1170432"/>
          </a:xfrm>
          <a:prstGeom prst="rect">
            <a:avLst/>
          </a:prstGeom>
          <a:noFill/>
          <a:ln/>
        </p:spPr>
        <p:txBody>
          <a:bodyPr wrap="square" rtlCol="0" anchor="ctr"/>
          <a:lstStyle/>
          <a:p>
            <a:pPr indent="0" marL="0">
              <a:buNone/>
            </a:pPr>
            <a:r>
              <a:rPr lang="en-US" sz="950" dirty="0">
                <a:solidFill>
                  <a:srgbClr val="6A9955"/>
                </a:solidFill>
                <a:latin typeface="Consolas" pitchFamily="34" charset="0"/>
                <a:ea typeface="Consolas" pitchFamily="34" charset="-122"/>
                <a:cs typeface="Consolas" pitchFamily="34" charset="-120"/>
              </a:rPr>
              <a:t># A loop in bash — don't do this
</a:t>
            </a:r>
            <a:pPr indent="0" marL="0">
              <a:buNone/>
            </a:pPr>
            <a:r>
              <a:rPr lang="en-US" sz="950" dirty="0">
                <a:solidFill>
                  <a:srgbClr val="D4D4D4"/>
                </a:solidFill>
                <a:latin typeface="Consolas" pitchFamily="34" charset="0"/>
                <a:ea typeface="Consolas" pitchFamily="34" charset="-122"/>
                <a:cs typeface="Consolas" pitchFamily="34" charset="-120"/>
              </a:rPr>
              <a:t>for i in $(seq 1 1000); do
</a:t>
            </a:r>
            <a:pPr indent="0" marL="0">
              <a:buNone/>
            </a:pPr>
            <a:r>
              <a:rPr lang="en-US" sz="950" dirty="0">
                <a:solidFill>
                  <a:srgbClr val="D4D4D4"/>
                </a:solidFill>
                <a:latin typeface="Consolas" pitchFamily="34" charset="0"/>
                <a:ea typeface="Consolas" pitchFamily="34" charset="-122"/>
                <a:cs typeface="Consolas" pitchFamily="34" charset="-120"/>
              </a:rPr>
              <a:t>  sbatch run.sh --signal $i
</a:t>
            </a:r>
            <a:pPr indent="0" marL="0">
              <a:buNone/>
            </a:pPr>
            <a:r>
              <a:rPr lang="en-US" sz="950" dirty="0">
                <a:solidFill>
                  <a:srgbClr val="D4D4D4"/>
                </a:solidFill>
                <a:latin typeface="Consolas" pitchFamily="34" charset="0"/>
                <a:ea typeface="Consolas" pitchFamily="34" charset="-122"/>
                <a:cs typeface="Consolas" pitchFamily="34" charset="-120"/>
              </a:rPr>
              <a:t>done
</a:t>
            </a:r>
            <a:endParaRPr lang="en-US" sz="950" dirty="0"/>
          </a:p>
        </p:txBody>
      </p:sp>
      <p:sp>
        <p:nvSpPr>
          <p:cNvPr id="8" name="Text 6"/>
          <p:cNvSpPr/>
          <p:nvPr/>
        </p:nvSpPr>
        <p:spPr>
          <a:xfrm>
            <a:off x="347472" y="2651760"/>
            <a:ext cx="4023360" cy="2212848"/>
          </a:xfrm>
          <a:prstGeom prst="rect">
            <a:avLst/>
          </a:prstGeom>
          <a:noFill/>
          <a:ln/>
        </p:spPr>
        <p:txBody>
          <a:bodyPr wrap="square" rtlCol="0" anchor="ctr"/>
          <a:lstStyle/>
          <a:p>
            <a:pPr indent="0" marL="0">
              <a:buNone/>
            </a:pPr>
            <a:r>
              <a:rPr lang="en-US" b="1" dirty="0">
                <a:solidFill>
                  <a:srgbClr val="C0392B"/>
                </a:solidFill>
                <a:latin typeface="Calibri" pitchFamily="34" charset="0"/>
                <a:ea typeface="Calibri" pitchFamily="34" charset="-122"/>
                <a:cs typeface="Calibri" pitchFamily="34" charset="-120"/>
              </a:rPr>
              <a:t>Problems:</a:t>
            </a:r>
            <a:endParaRPr lang="en-US"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1000 separate jobs flood the scheduler queue</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Each job has its own overhead (startup, logging)</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Hard to cancel, hard to monitor as a unit</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Admins will not thank you</a:t>
            </a:r>
            <a:endParaRPr lang="en-US" sz="1100" dirty="0"/>
          </a:p>
        </p:txBody>
      </p:sp>
      <p:sp>
        <p:nvSpPr>
          <p:cNvPr id="9" name="Shape 7"/>
          <p:cNvSpPr/>
          <p:nvPr/>
        </p:nvSpPr>
        <p:spPr>
          <a:xfrm>
            <a:off x="4681728" y="841248"/>
            <a:ext cx="4206240" cy="4160520"/>
          </a:xfrm>
          <a:prstGeom prst="rect">
            <a:avLst/>
          </a:prstGeom>
          <a:solidFill>
            <a:srgbClr val="F0FBF4"/>
          </a:solidFill>
          <a:ln w="10160">
            <a:solidFill>
              <a:srgbClr val="88CCA0"/>
            </a:solidFill>
            <a:prstDash val="solid"/>
          </a:ln>
          <a:effectLst>
            <a:outerShdw sx="100000" sy="100000" kx="0" ky="0" algn="bl" rotWithShape="0" blurRad="63500" dist="25400" dir="8100000">
              <a:srgbClr val="000000">
                <a:alpha val="10000"/>
              </a:srgbClr>
            </a:outerShdw>
          </a:effectLst>
        </p:spPr>
      </p:sp>
      <p:sp>
        <p:nvSpPr>
          <p:cNvPr id="10" name="Text 8"/>
          <p:cNvSpPr/>
          <p:nvPr/>
        </p:nvSpPr>
        <p:spPr>
          <a:xfrm>
            <a:off x="4773168" y="896112"/>
            <a:ext cx="4023360" cy="347472"/>
          </a:xfrm>
          <a:prstGeom prst="rect">
            <a:avLst/>
          </a:prstGeom>
          <a:noFill/>
          <a:ln/>
        </p:spPr>
        <p:txBody>
          <a:bodyPr wrap="square" rtlCol="0" anchor="ctr"/>
          <a:lstStyle/>
          <a:p>
            <a:pPr indent="0" marL="0">
              <a:buNone/>
            </a:pPr>
            <a:r>
              <a:rPr lang="en-US" sz="1300" b="1" dirty="0">
                <a:solidFill>
                  <a:srgbClr val="1A9E6E"/>
                </a:solidFill>
                <a:latin typeface="Georgia" pitchFamily="34" charset="0"/>
                <a:ea typeface="Georgia" pitchFamily="34" charset="-122"/>
                <a:cs typeface="Georgia" pitchFamily="34" charset="-120"/>
              </a:rPr>
              <a:t>✅  Job arrays — one submission</a:t>
            </a:r>
            <a:endParaRPr lang="en-US" sz="1300" dirty="0"/>
          </a:p>
        </p:txBody>
      </p:sp>
      <p:sp>
        <p:nvSpPr>
          <p:cNvPr id="11" name="Shape 9"/>
          <p:cNvSpPr/>
          <p:nvPr/>
        </p:nvSpPr>
        <p:spPr>
          <a:xfrm>
            <a:off x="4745736" y="1298448"/>
            <a:ext cx="4041648" cy="1600200"/>
          </a:xfrm>
          <a:prstGeom prst="rect">
            <a:avLst/>
          </a:prstGeom>
          <a:solidFill>
            <a:srgbClr val="1E1E2E"/>
          </a:solidFill>
          <a:ln/>
        </p:spPr>
      </p:sp>
      <p:sp>
        <p:nvSpPr>
          <p:cNvPr id="12" name="Text 10"/>
          <p:cNvSpPr/>
          <p:nvPr/>
        </p:nvSpPr>
        <p:spPr>
          <a:xfrm>
            <a:off x="4809744" y="1353312"/>
            <a:ext cx="3913632" cy="1490472"/>
          </a:xfrm>
          <a:prstGeom prst="rect">
            <a:avLst/>
          </a:prstGeom>
          <a:noFill/>
          <a:ln/>
        </p:spPr>
        <p:txBody>
          <a:bodyPr wrap="square" rtlCol="0" anchor="ctr"/>
          <a:lstStyle/>
          <a:p>
            <a:pPr indent="0" marL="0">
              <a:buNone/>
            </a:pPr>
            <a:r>
              <a:rPr lang="en-US" sz="950" dirty="0">
                <a:solidFill>
                  <a:srgbClr val="6A9955"/>
                </a:solidFill>
                <a:latin typeface="Consolas" pitchFamily="34" charset="0"/>
                <a:ea typeface="Consolas" pitchFamily="34" charset="-122"/>
                <a:cs typeface="Consolas" pitchFamily="34" charset="-120"/>
              </a:rPr>
              <a:t>#!/bin/bash
</a:t>
            </a:r>
            <a:pPr indent="0" marL="0">
              <a:buNone/>
            </a:pPr>
            <a:r>
              <a:rPr lang="en-US" sz="950" dirty="0">
                <a:solidFill>
                  <a:srgbClr val="7BAFD4"/>
                </a:solidFill>
                <a:latin typeface="Consolas" pitchFamily="34" charset="0"/>
                <a:ea typeface="Consolas" pitchFamily="34" charset="-122"/>
                <a:cs typeface="Consolas" pitchFamily="34" charset="-120"/>
              </a:rPr>
              <a:t>#SBATCH --job-name=lisa_mf
</a:t>
            </a:r>
            <a:pPr indent="0" marL="0">
              <a:buNone/>
            </a:pPr>
            <a:r>
              <a:rPr lang="en-US" sz="950" b="1" dirty="0">
                <a:solidFill>
                  <a:srgbClr val="7BAFD4"/>
                </a:solidFill>
                <a:latin typeface="Consolas" pitchFamily="34" charset="0"/>
                <a:ea typeface="Consolas" pitchFamily="34" charset="-122"/>
                <a:cs typeface="Consolas" pitchFamily="34" charset="-120"/>
              </a:rPr>
              <a:t>#SBATCH --array=0-999          </a:t>
            </a:r>
            <a:pPr indent="0" marL="0">
              <a:buNone/>
            </a:pPr>
            <a:r>
              <a:rPr lang="en-US" sz="950" dirty="0">
                <a:solidFill>
                  <a:srgbClr val="6A9955"/>
                </a:solidFill>
                <a:latin typeface="Consolas" pitchFamily="34" charset="0"/>
                <a:ea typeface="Consolas" pitchFamily="34" charset="-122"/>
                <a:cs typeface="Consolas" pitchFamily="34" charset="-120"/>
              </a:rPr>
              <a:t># ← key line
</a:t>
            </a:r>
            <a:pPr indent="0" marL="0">
              <a:buNone/>
            </a:pPr>
            <a:r>
              <a:rPr lang="en-US" sz="950" dirty="0">
                <a:solidFill>
                  <a:srgbClr val="7BAFD4"/>
                </a:solidFill>
                <a:latin typeface="Consolas" pitchFamily="34" charset="0"/>
                <a:ea typeface="Consolas" pitchFamily="34" charset="-122"/>
                <a:cs typeface="Consolas" pitchFamily="34" charset="-120"/>
              </a:rPr>
              <a:t>#SBATCH --cpus-per-task=4
</a:t>
            </a:r>
            <a:pPr indent="0" marL="0">
              <a:buNone/>
            </a:pPr>
            <a:r>
              <a:rPr lang="en-US" sz="950" dirty="0">
                <a:solidFill>
                  <a:srgbClr val="7BAFD4"/>
                </a:solidFill>
                <a:latin typeface="Consolas" pitchFamily="34" charset="0"/>
                <a:ea typeface="Consolas" pitchFamily="34" charset="-122"/>
                <a:cs typeface="Consolas" pitchFamily="34" charset="-120"/>
              </a:rPr>
              <a:t>#SBATCH --mem=8G
</a:t>
            </a:r>
            <a:pPr indent="0" marL="0">
              <a:buNone/>
            </a:pPr>
            <a:r>
              <a:rPr lang="en-US" sz="950" b="1" dirty="0">
                <a:solidFill>
                  <a:srgbClr val="4EC994"/>
                </a:solidFill>
                <a:latin typeface="Consolas" pitchFamily="34" charset="0"/>
                <a:ea typeface="Consolas" pitchFamily="34" charset="-122"/>
                <a:cs typeface="Consolas" pitchFamily="34" charset="-120"/>
              </a:rPr>
              <a:t>python run.py --signal ${SLURM_ARRAY_TASK_ID}</a:t>
            </a:r>
            <a:endParaRPr lang="en-US" sz="950" dirty="0"/>
          </a:p>
        </p:txBody>
      </p:sp>
      <p:sp>
        <p:nvSpPr>
          <p:cNvPr id="13" name="Text 11"/>
          <p:cNvSpPr/>
          <p:nvPr/>
        </p:nvSpPr>
        <p:spPr>
          <a:xfrm>
            <a:off x="4773168" y="2971800"/>
            <a:ext cx="4023360" cy="1920240"/>
          </a:xfrm>
          <a:prstGeom prst="rect">
            <a:avLst/>
          </a:prstGeom>
          <a:noFill/>
          <a:ln/>
        </p:spPr>
        <p:txBody>
          <a:bodyPr wrap="square" rtlCol="0" anchor="ctr"/>
          <a:lstStyle/>
          <a:p>
            <a:pPr indent="0" marL="0">
              <a:buNone/>
            </a:pPr>
            <a:r>
              <a:rPr lang="en-US" b="1" dirty="0">
                <a:solidFill>
                  <a:srgbClr val="1A9E6E"/>
                </a:solidFill>
                <a:latin typeface="Calibri" pitchFamily="34" charset="0"/>
                <a:ea typeface="Calibri" pitchFamily="34" charset="-122"/>
                <a:cs typeface="Calibri" pitchFamily="34" charset="-120"/>
              </a:rPr>
              <a:t>Benefits:</a:t>
            </a:r>
            <a:endParaRPr lang="en-US"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Single job entry — easy to monitor and cancel</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SLURM_ARRAY_TASK_ID indexes your parameter set</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Scheduler handles throttling automatically</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Add --array=0-999%50 to run max 50 at once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6B4A"/>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I/O Wall &amp; Checkpointing</a:t>
            </a:r>
            <a:endParaRPr lang="en-US" sz="2600" dirty="0"/>
          </a:p>
        </p:txBody>
      </p:sp>
      <p:sp>
        <p:nvSpPr>
          <p:cNvPr id="4" name="Text 2"/>
          <p:cNvSpPr/>
          <p:nvPr/>
        </p:nvSpPr>
        <p:spPr>
          <a:xfrm>
            <a:off x="256032" y="841248"/>
            <a:ext cx="4297680" cy="320040"/>
          </a:xfrm>
          <a:prstGeom prst="rect">
            <a:avLst/>
          </a:prstGeom>
          <a:noFill/>
          <a:ln/>
        </p:spPr>
        <p:txBody>
          <a:bodyPr wrap="square" rtlCol="0" anchor="ctr"/>
          <a:lstStyle/>
          <a:p>
            <a:pPr indent="0" marL="0">
              <a:buNone/>
            </a:pPr>
            <a:r>
              <a:rPr lang="en-US" sz="1400" b="1" dirty="0">
                <a:solidFill>
                  <a:srgbClr val="1A6B4A"/>
                </a:solidFill>
                <a:latin typeface="Georgia" pitchFamily="34" charset="0"/>
                <a:ea typeface="Georgia" pitchFamily="34" charset="-122"/>
                <a:cs typeface="Georgia" pitchFamily="34" charset="-120"/>
              </a:rPr>
              <a:t>Avoiding the I/O Wall</a:t>
            </a:r>
            <a:endParaRPr lang="en-US" sz="1400" dirty="0"/>
          </a:p>
        </p:txBody>
      </p:sp>
      <p:sp>
        <p:nvSpPr>
          <p:cNvPr id="5" name="Shape 3"/>
          <p:cNvSpPr/>
          <p:nvPr/>
        </p:nvSpPr>
        <p:spPr>
          <a:xfrm>
            <a:off x="256032" y="1188720"/>
            <a:ext cx="4297680" cy="233172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384048" y="1261872"/>
            <a:ext cx="4041648" cy="804672"/>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The problem: each of your 1000 array jobs reads the same 20 GB TDI data file from scratch. Shared filesystem gets hammered. Jobs slow down 10× waiting for disk.</a:t>
            </a:r>
            <a:endParaRPr lang="en-US" sz="1150" dirty="0"/>
          </a:p>
        </p:txBody>
      </p:sp>
      <p:sp>
        <p:nvSpPr>
          <p:cNvPr id="7" name="Text 5"/>
          <p:cNvSpPr/>
          <p:nvPr/>
        </p:nvSpPr>
        <p:spPr>
          <a:xfrm>
            <a:off x="384048" y="2103120"/>
            <a:ext cx="4023360" cy="256032"/>
          </a:xfrm>
          <a:prstGeom prst="rect">
            <a:avLst/>
          </a:prstGeom>
          <a:noFill/>
          <a:ln/>
        </p:spPr>
        <p:txBody>
          <a:bodyPr wrap="square" rtlCol="0" anchor="ctr"/>
          <a:lstStyle/>
          <a:p>
            <a:pPr indent="0" marL="0">
              <a:buNone/>
            </a:pPr>
            <a:r>
              <a:rPr lang="en-US" sz="1150" b="1" dirty="0">
                <a:solidFill>
                  <a:srgbClr val="1A6B4A"/>
                </a:solidFill>
                <a:latin typeface="Calibri" pitchFamily="34" charset="0"/>
                <a:ea typeface="Calibri" pitchFamily="34" charset="-122"/>
                <a:cs typeface="Calibri" pitchFamily="34" charset="-120"/>
              </a:rPr>
              <a:t>Fixes:</a:t>
            </a:r>
            <a:endParaRPr lang="en-US" sz="1150" dirty="0"/>
          </a:p>
        </p:txBody>
      </p:sp>
      <p:sp>
        <p:nvSpPr>
          <p:cNvPr id="8" name="Text 6"/>
          <p:cNvSpPr/>
          <p:nvPr/>
        </p:nvSpPr>
        <p:spPr>
          <a:xfrm>
            <a:off x="384048" y="2377440"/>
            <a:ext cx="4059936" cy="105156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Copy data to $TMPDIR (fast local SSD) in job prologue</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Pre-split data into per-job chunks before submitting</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Use memory-mapped arrays (np.memmap) for read-only shared data</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Ask your HPC team about scratch or burst-buffer filesystems</a:t>
            </a:r>
            <a:endParaRPr lang="en-US" sz="1100" dirty="0"/>
          </a:p>
        </p:txBody>
      </p:sp>
      <p:sp>
        <p:nvSpPr>
          <p:cNvPr id="9" name="Shape 7"/>
          <p:cNvSpPr/>
          <p:nvPr/>
        </p:nvSpPr>
        <p:spPr>
          <a:xfrm>
            <a:off x="256032" y="3611880"/>
            <a:ext cx="4297680" cy="132588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10" name="Text 8"/>
          <p:cNvSpPr/>
          <p:nvPr/>
        </p:nvSpPr>
        <p:spPr>
          <a:xfrm>
            <a:off x="329184" y="3666744"/>
            <a:ext cx="4151376" cy="1207008"/>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In your SLURM script prologue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cp /scratch/lisa/tdi_data.npy $TMPDIR/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Then in Python: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h = np.load(os.path.join(os.environ['TMPDIR'],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'tdi_data.npy'))</a:t>
            </a:r>
            <a:endParaRPr lang="en-US" sz="900" dirty="0"/>
          </a:p>
        </p:txBody>
      </p:sp>
      <p:sp>
        <p:nvSpPr>
          <p:cNvPr id="11" name="Text 9"/>
          <p:cNvSpPr/>
          <p:nvPr/>
        </p:nvSpPr>
        <p:spPr>
          <a:xfrm>
            <a:off x="4773168" y="841248"/>
            <a:ext cx="4114800" cy="320040"/>
          </a:xfrm>
          <a:prstGeom prst="rect">
            <a:avLst/>
          </a:prstGeom>
          <a:noFill/>
          <a:ln/>
        </p:spPr>
        <p:txBody>
          <a:bodyPr wrap="square" rtlCol="0" anchor="ctr"/>
          <a:lstStyle/>
          <a:p>
            <a:pPr indent="0" marL="0">
              <a:buNone/>
            </a:pPr>
            <a:r>
              <a:rPr lang="en-US" sz="1400" b="1" dirty="0">
                <a:solidFill>
                  <a:srgbClr val="1A6B4A"/>
                </a:solidFill>
                <a:latin typeface="Georgia" pitchFamily="34" charset="0"/>
                <a:ea typeface="Georgia" pitchFamily="34" charset="-122"/>
                <a:cs typeface="Georgia" pitchFamily="34" charset="-120"/>
              </a:rPr>
              <a:t>Checkpointing Long Runs</a:t>
            </a:r>
            <a:endParaRPr lang="en-US" sz="1400" dirty="0"/>
          </a:p>
        </p:txBody>
      </p:sp>
      <p:sp>
        <p:nvSpPr>
          <p:cNvPr id="12" name="Shape 10"/>
          <p:cNvSpPr/>
          <p:nvPr/>
        </p:nvSpPr>
        <p:spPr>
          <a:xfrm>
            <a:off x="4773168" y="1188720"/>
            <a:ext cx="4114800" cy="1234440"/>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3" name="Text 11"/>
          <p:cNvSpPr/>
          <p:nvPr/>
        </p:nvSpPr>
        <p:spPr>
          <a:xfrm>
            <a:off x="4901184" y="1261872"/>
            <a:ext cx="3858768" cy="109728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If your job takes 48h and the cluster has a 24h wall time, you lose everything when it's killed. Checkpointing saves intermediate state so you can resume.</a:t>
            </a:r>
            <a:endParaRPr lang="en-US" sz="1150" dirty="0"/>
          </a:p>
        </p:txBody>
      </p:sp>
      <p:sp>
        <p:nvSpPr>
          <p:cNvPr id="14" name="Shape 12"/>
          <p:cNvSpPr/>
          <p:nvPr/>
        </p:nvSpPr>
        <p:spPr>
          <a:xfrm>
            <a:off x="4773168" y="2487168"/>
            <a:ext cx="4114800" cy="2450592"/>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15" name="Text 13"/>
          <p:cNvSpPr/>
          <p:nvPr/>
        </p:nvSpPr>
        <p:spPr>
          <a:xfrm>
            <a:off x="4846320" y="2542032"/>
            <a:ext cx="3968496" cy="2331720"/>
          </a:xfrm>
          <a:prstGeom prst="rect">
            <a:avLst/>
          </a:prstGeom>
          <a:noFill/>
          <a:ln/>
        </p:spPr>
        <p:txBody>
          <a:bodyPr wrap="square" rtlCol="0" anchor="ctr"/>
          <a:lstStyle/>
          <a:p>
            <a:pPr indent="0" marL="0">
              <a:buNone/>
            </a:pPr>
            <a:r>
              <a:rPr lang="en-US" sz="900" dirty="0">
                <a:solidFill>
                  <a:srgbClr val="C586C0"/>
                </a:solidFill>
                <a:latin typeface="Consolas" pitchFamily="34" charset="0"/>
                <a:ea typeface="Consolas" pitchFamily="34" charset="-122"/>
                <a:cs typeface="Consolas" pitchFamily="34" charset="-120"/>
              </a:rPr>
              <a:t>import signal, numpy as np
</a:t>
            </a:r>
            <a:pPr indent="0" marL="0">
              <a:buNone/>
            </a:pPr>
            <a:r>
              <a:rPr lang="en-US" sz="900" dirty="0">
                <a:solidFill>
                  <a:srgbClr val="DCDCAA"/>
                </a:solidFill>
                <a:latin typeface="Consolas" pitchFamily="34" charset="0"/>
                <a:ea typeface="Consolas" pitchFamily="34" charset="-122"/>
                <a:cs typeface="Consolas" pitchFamily="34" charset="-120"/>
              </a:rPr>
              <a:t>def save_checkpoint(state, path):
</a:t>
            </a:r>
            <a:pPr indent="0" marL="0">
              <a:buNone/>
            </a:pPr>
            <a:r>
              <a:rPr lang="en-US" sz="900" dirty="0">
                <a:solidFill>
                  <a:srgbClr val="D4D4D4"/>
                </a:solidFill>
                <a:latin typeface="Consolas" pitchFamily="34" charset="0"/>
                <a:ea typeface="Consolas" pitchFamily="34" charset="-122"/>
                <a:cs typeface="Consolas" pitchFamily="34" charset="-120"/>
              </a:rPr>
              <a:t>    np.save(path + '.tmp', state)
</a:t>
            </a:r>
            <a:pPr indent="0" marL="0">
              <a:buNone/>
            </a:pPr>
            <a:r>
              <a:rPr lang="en-US" sz="900" dirty="0">
                <a:solidFill>
                  <a:srgbClr val="6A9955"/>
                </a:solidFill>
                <a:latin typeface="Consolas" pitchFamily="34" charset="0"/>
                <a:ea typeface="Consolas" pitchFamily="34" charset="-122"/>
                <a:cs typeface="Consolas" pitchFamily="34" charset="-120"/>
              </a:rPr>
              <a:t>    os.replace(path+'.tmp', path) # atomic
</a:t>
            </a:r>
            <a:pPr indent="0" marL="0">
              <a:buNone/>
            </a:pPr>
            <a:r>
              <a:rPr lang="en-US" sz="900" dirty="0">
                <a:solidFill>
                  <a:srgbClr val="DCDCAA"/>
                </a:solidFill>
                <a:latin typeface="Consolas" pitchFamily="34" charset="0"/>
                <a:ea typeface="Consolas" pitchFamily="34" charset="-122"/>
                <a:cs typeface="Consolas" pitchFamily="34" charset="-120"/>
              </a:rPr>
              <a:t>def handle_sigterm(sig, frame):
</a:t>
            </a:r>
            <a:pPr indent="0" marL="0">
              <a:buNone/>
            </a:pPr>
            <a:r>
              <a:rPr lang="en-US" sz="900" dirty="0">
                <a:solidFill>
                  <a:srgbClr val="D4D4D4"/>
                </a:solidFill>
                <a:latin typeface="Consolas" pitchFamily="34" charset="0"/>
                <a:ea typeface="Consolas" pitchFamily="34" charset="-122"/>
                <a:cs typeface="Consolas" pitchFamily="34" charset="-120"/>
              </a:rPr>
              <a:t>    save_checkpoint(state, 'ckpt.npy')
</a:t>
            </a:r>
            <a:pPr indent="0" marL="0">
              <a:buNone/>
            </a:pPr>
            <a:r>
              <a:rPr lang="en-US" sz="900" dirty="0">
                <a:solidFill>
                  <a:srgbClr val="D4D4D4"/>
                </a:solidFill>
                <a:latin typeface="Consolas" pitchFamily="34" charset="0"/>
                <a:ea typeface="Consolas" pitchFamily="34" charset="-122"/>
                <a:cs typeface="Consolas" pitchFamily="34" charset="-120"/>
              </a:rPr>
              <a:t>    sys.exit(0)
</a:t>
            </a:r>
            <a:pPr indent="0" marL="0">
              <a:buNone/>
            </a:pPr>
            <a:r>
              <a:rPr lang="en-US" sz="900" b="1" dirty="0">
                <a:solidFill>
                  <a:srgbClr val="4EC994"/>
                </a:solidFill>
                <a:latin typeface="Consolas" pitchFamily="34" charset="0"/>
                <a:ea typeface="Consolas" pitchFamily="34" charset="-122"/>
                <a:cs typeface="Consolas" pitchFamily="34" charset="-120"/>
              </a:rPr>
              <a:t>signal.signal(signal.SIGTERM, handle_sigterm)
</a:t>
            </a:r>
            <a:pPr indent="0" marL="0">
              <a:buNone/>
            </a:pPr>
            <a:r>
              <a:rPr lang="en-US" sz="900" dirty="0">
                <a:solidFill>
                  <a:srgbClr val="6A9955"/>
                </a:solidFill>
                <a:latin typeface="Consolas" pitchFamily="34" charset="0"/>
                <a:ea typeface="Consolas" pitchFamily="34" charset="-122"/>
                <a:cs typeface="Consolas" pitchFamily="34" charset="-120"/>
              </a:rPr>
              <a:t># periodically inside your loop:
</a:t>
            </a:r>
            <a:pPr indent="0" marL="0">
              <a:buNone/>
            </a:pPr>
            <a:r>
              <a:rPr lang="en-US" sz="900" dirty="0">
                <a:solidFill>
                  <a:srgbClr val="D4D4D4"/>
                </a:solidFill>
                <a:latin typeface="Consolas" pitchFamily="34" charset="0"/>
                <a:ea typeface="Consolas" pitchFamily="34" charset="-122"/>
                <a:cs typeface="Consolas" pitchFamily="34" charset="-120"/>
              </a:rPr>
              <a:t>if i % 1000 == 0:</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save_checkpoint(state, 'ckpt.npy')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6B4A"/>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Environment Reproducibility</a:t>
            </a:r>
            <a:endParaRPr lang="en-US" sz="2600" dirty="0"/>
          </a:p>
        </p:txBody>
      </p:sp>
      <p:sp>
        <p:nvSpPr>
          <p:cNvPr id="4" name="Text 2"/>
          <p:cNvSpPr/>
          <p:nvPr/>
        </p:nvSpPr>
        <p:spPr>
          <a:xfrm>
            <a:off x="274320" y="868680"/>
            <a:ext cx="8595360" cy="347472"/>
          </a:xfrm>
          <a:prstGeom prst="rect">
            <a:avLst/>
          </a:prstGeom>
          <a:noFill/>
          <a:ln/>
        </p:spPr>
        <p:txBody>
          <a:bodyPr wrap="square" rtlCol="0" anchor="ctr"/>
          <a:lstStyle/>
          <a:p>
            <a:pPr indent="0" marL="0">
              <a:buNone/>
            </a:pPr>
            <a:r>
              <a:rPr lang="en-US" sz="1350" i="1" dirty="0">
                <a:solidFill>
                  <a:srgbClr val="4A6688"/>
                </a:solidFill>
                <a:latin typeface="Calibri" pitchFamily="34" charset="0"/>
                <a:ea typeface="Calibri" pitchFamily="34" charset="-122"/>
                <a:cs typeface="Calibri" pitchFamily="34" charset="-120"/>
              </a:rPr>
              <a:t>Your code should produce the same results on your laptop, on the cluster, and in 2 years.</a:t>
            </a:r>
            <a:endParaRPr lang="en-US" sz="1350" dirty="0"/>
          </a:p>
        </p:txBody>
      </p:sp>
      <p:sp>
        <p:nvSpPr>
          <p:cNvPr id="5" name="Shape 3"/>
          <p:cNvSpPr/>
          <p:nvPr/>
        </p:nvSpPr>
        <p:spPr>
          <a:xfrm>
            <a:off x="256032" y="1325880"/>
            <a:ext cx="8631936" cy="1115568"/>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256032" y="1325880"/>
            <a:ext cx="64008" cy="1115568"/>
          </a:xfrm>
          <a:prstGeom prst="rect">
            <a:avLst/>
          </a:prstGeom>
          <a:solidFill>
            <a:srgbClr val="0891B2"/>
          </a:solidFill>
          <a:ln/>
        </p:spPr>
      </p:sp>
      <p:sp>
        <p:nvSpPr>
          <p:cNvPr id="7" name="Text 5"/>
          <p:cNvSpPr/>
          <p:nvPr/>
        </p:nvSpPr>
        <p:spPr>
          <a:xfrm>
            <a:off x="384048" y="1408176"/>
            <a:ext cx="4663440" cy="329184"/>
          </a:xfrm>
          <a:prstGeom prst="rect">
            <a:avLst/>
          </a:prstGeom>
          <a:noFill/>
          <a:ln/>
        </p:spPr>
        <p:txBody>
          <a:bodyPr wrap="square" rtlCol="0" anchor="ctr"/>
          <a:lstStyle/>
          <a:p>
            <a:pPr indent="0" marL="0">
              <a:buNone/>
            </a:pPr>
            <a:r>
              <a:rPr lang="en-US" sz="1300" b="1" dirty="0">
                <a:solidFill>
                  <a:srgbClr val="0891B2"/>
                </a:solidFill>
                <a:latin typeface="Georgia" pitchFamily="34" charset="0"/>
                <a:ea typeface="Georgia" pitchFamily="34" charset="-122"/>
                <a:cs typeface="Georgia" pitchFamily="34" charset="-120"/>
              </a:rPr>
              <a:t>🐍  conda / mamba  (recommended for science)</a:t>
            </a:r>
            <a:endParaRPr lang="en-US" sz="1300" dirty="0"/>
          </a:p>
        </p:txBody>
      </p:sp>
      <p:sp>
        <p:nvSpPr>
          <p:cNvPr id="8" name="Text 6"/>
          <p:cNvSpPr/>
          <p:nvPr/>
        </p:nvSpPr>
        <p:spPr>
          <a:xfrm>
            <a:off x="384048" y="1783080"/>
            <a:ext cx="4663440" cy="566928"/>
          </a:xfrm>
          <a:prstGeom prst="rect">
            <a:avLst/>
          </a:prstGeom>
          <a:noFill/>
          <a:ln/>
        </p:spPr>
        <p:txBody>
          <a:bodyPr wrap="square" rtlCol="0" anchor="ctr"/>
          <a:lstStyle/>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Handles non-Python deps (FFTW, OpenBLAS, HDF5)</a:t>
            </a:r>
            <a:endParaRPr lang="en-US" sz="1050" dirty="0"/>
          </a:p>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environment.yml is the 'recipe'</a:t>
            </a:r>
            <a:endParaRPr lang="en-US" sz="1050" dirty="0"/>
          </a:p>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Works on most clusters</a:t>
            </a:r>
            <a:endParaRPr lang="en-US" sz="1050" dirty="0"/>
          </a:p>
        </p:txBody>
      </p:sp>
      <p:sp>
        <p:nvSpPr>
          <p:cNvPr id="9" name="Shape 7"/>
          <p:cNvSpPr/>
          <p:nvPr/>
        </p:nvSpPr>
        <p:spPr>
          <a:xfrm>
            <a:off x="5257800" y="1435608"/>
            <a:ext cx="3520440" cy="896112"/>
          </a:xfrm>
          <a:prstGeom prst="rect">
            <a:avLst/>
          </a:prstGeom>
          <a:solidFill>
            <a:srgbClr val="1E1E2E"/>
          </a:solidFill>
          <a:ln/>
        </p:spPr>
      </p:sp>
      <p:sp>
        <p:nvSpPr>
          <p:cNvPr id="10" name="Text 8"/>
          <p:cNvSpPr/>
          <p:nvPr/>
        </p:nvSpPr>
        <p:spPr>
          <a:xfrm>
            <a:off x="5321808" y="1472184"/>
            <a:ext cx="3401568" cy="822960"/>
          </a:xfrm>
          <a:prstGeom prst="rect">
            <a:avLst/>
          </a:prstGeom>
          <a:noFill/>
          <a:ln/>
        </p:spPr>
        <p:txBody>
          <a:bodyPr wrap="square" rtlCol="0" anchor="ctr"/>
          <a:lstStyle/>
          <a:p>
            <a:pPr indent="0" marL="0">
              <a:buNone/>
            </a:pPr>
            <a:r>
              <a:rPr lang="en-US" sz="950" dirty="0">
                <a:solidFill>
                  <a:srgbClr val="4EC994"/>
                </a:solidFill>
                <a:latin typeface="Consolas" pitchFamily="34" charset="0"/>
                <a:ea typeface="Consolas" pitchFamily="34" charset="-122"/>
                <a:cs typeface="Consolas" pitchFamily="34" charset="-120"/>
              </a:rPr>
              <a:t>mamba create -f environment.yml</a:t>
            </a:r>
            <a:endParaRPr lang="en-US" sz="950" dirty="0"/>
          </a:p>
          <a:p>
            <a:pPr indent="0" marL="0">
              <a:buNone/>
            </a:pPr>
            <a:r>
              <a:rPr lang="en-US" sz="950" dirty="0">
                <a:solidFill>
                  <a:srgbClr val="4EC994"/>
                </a:solidFill>
                <a:latin typeface="Consolas" pitchFamily="34" charset="0"/>
                <a:ea typeface="Consolas" pitchFamily="34" charset="-122"/>
                <a:cs typeface="Consolas" pitchFamily="34" charset="-120"/>
              </a:rPr>
              <a:t>conda activate lisa_env</a:t>
            </a:r>
            <a:endParaRPr lang="en-US" sz="950" dirty="0"/>
          </a:p>
        </p:txBody>
      </p:sp>
      <p:sp>
        <p:nvSpPr>
          <p:cNvPr id="11" name="Shape 9"/>
          <p:cNvSpPr/>
          <p:nvPr/>
        </p:nvSpPr>
        <p:spPr>
          <a:xfrm>
            <a:off x="256032" y="2560320"/>
            <a:ext cx="8631936" cy="1115568"/>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2" name="Shape 10"/>
          <p:cNvSpPr/>
          <p:nvPr/>
        </p:nvSpPr>
        <p:spPr>
          <a:xfrm>
            <a:off x="256032" y="2560320"/>
            <a:ext cx="64008" cy="1115568"/>
          </a:xfrm>
          <a:prstGeom prst="rect">
            <a:avLst/>
          </a:prstGeom>
          <a:solidFill>
            <a:srgbClr val="0E4D8B"/>
          </a:solidFill>
          <a:ln/>
        </p:spPr>
      </p:sp>
      <p:sp>
        <p:nvSpPr>
          <p:cNvPr id="13" name="Text 11"/>
          <p:cNvSpPr/>
          <p:nvPr/>
        </p:nvSpPr>
        <p:spPr>
          <a:xfrm>
            <a:off x="384048" y="2642616"/>
            <a:ext cx="4663440" cy="329184"/>
          </a:xfrm>
          <a:prstGeom prst="rect">
            <a:avLst/>
          </a:prstGeom>
          <a:noFill/>
          <a:ln/>
        </p:spPr>
        <p:txBody>
          <a:bodyPr wrap="square" rtlCol="0" anchor="ctr"/>
          <a:lstStyle/>
          <a:p>
            <a:pPr indent="0" marL="0">
              <a:buNone/>
            </a:pPr>
            <a:r>
              <a:rPr lang="en-US" sz="1300" b="1" dirty="0">
                <a:solidFill>
                  <a:srgbClr val="0E4D8B"/>
                </a:solidFill>
                <a:latin typeface="Georgia" pitchFamily="34" charset="0"/>
                <a:ea typeface="Georgia" pitchFamily="34" charset="-122"/>
                <a:cs typeface="Georgia" pitchFamily="34" charset="-120"/>
              </a:rPr>
              <a:t>📦  pip + requirements.txt  (simpler, Python-only)</a:t>
            </a:r>
            <a:endParaRPr lang="en-US" sz="1300" dirty="0"/>
          </a:p>
        </p:txBody>
      </p:sp>
      <p:sp>
        <p:nvSpPr>
          <p:cNvPr id="14" name="Text 12"/>
          <p:cNvSpPr/>
          <p:nvPr/>
        </p:nvSpPr>
        <p:spPr>
          <a:xfrm>
            <a:off x="384048" y="3017520"/>
            <a:ext cx="4663440" cy="566928"/>
          </a:xfrm>
          <a:prstGeom prst="rect">
            <a:avLst/>
          </a:prstGeom>
          <a:noFill/>
          <a:ln/>
        </p:spPr>
        <p:txBody>
          <a:bodyPr wrap="square" rtlCol="0" anchor="ctr"/>
          <a:lstStyle/>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pip freeze &gt; requirements.txt captures exact versions</a:t>
            </a:r>
            <a:endParaRPr lang="en-US" sz="1050" dirty="0"/>
          </a:p>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Add pip install -r requirements.txt to job script</a:t>
            </a:r>
            <a:endParaRPr lang="en-US" sz="1050" dirty="0"/>
          </a:p>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Combine with venv for isolation</a:t>
            </a:r>
            <a:endParaRPr lang="en-US" sz="1050" dirty="0"/>
          </a:p>
        </p:txBody>
      </p:sp>
      <p:sp>
        <p:nvSpPr>
          <p:cNvPr id="15" name="Shape 13"/>
          <p:cNvSpPr/>
          <p:nvPr/>
        </p:nvSpPr>
        <p:spPr>
          <a:xfrm>
            <a:off x="5257800" y="2670048"/>
            <a:ext cx="3520440" cy="896112"/>
          </a:xfrm>
          <a:prstGeom prst="rect">
            <a:avLst/>
          </a:prstGeom>
          <a:solidFill>
            <a:srgbClr val="1E1E2E"/>
          </a:solidFill>
          <a:ln/>
        </p:spPr>
      </p:sp>
      <p:sp>
        <p:nvSpPr>
          <p:cNvPr id="16" name="Text 14"/>
          <p:cNvSpPr/>
          <p:nvPr/>
        </p:nvSpPr>
        <p:spPr>
          <a:xfrm>
            <a:off x="5321808" y="2706624"/>
            <a:ext cx="3401568" cy="822960"/>
          </a:xfrm>
          <a:prstGeom prst="rect">
            <a:avLst/>
          </a:prstGeom>
          <a:noFill/>
          <a:ln/>
        </p:spPr>
        <p:txBody>
          <a:bodyPr wrap="square" rtlCol="0" anchor="ctr"/>
          <a:lstStyle/>
          <a:p>
            <a:pPr indent="0" marL="0">
              <a:buNone/>
            </a:pPr>
            <a:r>
              <a:rPr lang="en-US" sz="950" dirty="0">
                <a:solidFill>
                  <a:srgbClr val="4EC994"/>
                </a:solidFill>
                <a:latin typeface="Consolas" pitchFamily="34" charset="0"/>
                <a:ea typeface="Consolas" pitchFamily="34" charset="-122"/>
                <a:cs typeface="Consolas" pitchFamily="34" charset="-120"/>
              </a:rPr>
              <a:t>python -m venv env</a:t>
            </a:r>
            <a:endParaRPr lang="en-US" sz="950" dirty="0"/>
          </a:p>
          <a:p>
            <a:pPr indent="0" marL="0">
              <a:buNone/>
            </a:pPr>
            <a:r>
              <a:rPr lang="en-US" sz="950" dirty="0">
                <a:solidFill>
                  <a:srgbClr val="4EC994"/>
                </a:solidFill>
                <a:latin typeface="Consolas" pitchFamily="34" charset="0"/>
                <a:ea typeface="Consolas" pitchFamily="34" charset="-122"/>
                <a:cs typeface="Consolas" pitchFamily="34" charset="-120"/>
              </a:rPr>
              <a:t>pip install -r requirements.txt</a:t>
            </a:r>
            <a:endParaRPr lang="en-US" sz="950" dirty="0"/>
          </a:p>
        </p:txBody>
      </p:sp>
      <p:sp>
        <p:nvSpPr>
          <p:cNvPr id="17" name="Shape 15"/>
          <p:cNvSpPr/>
          <p:nvPr/>
        </p:nvSpPr>
        <p:spPr>
          <a:xfrm>
            <a:off x="256032" y="3794760"/>
            <a:ext cx="8631936" cy="1115568"/>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256032" y="3794760"/>
            <a:ext cx="64008" cy="1115568"/>
          </a:xfrm>
          <a:prstGeom prst="rect">
            <a:avLst/>
          </a:prstGeom>
          <a:solidFill>
            <a:srgbClr val="6D3B9E"/>
          </a:solidFill>
          <a:ln/>
        </p:spPr>
      </p:sp>
      <p:sp>
        <p:nvSpPr>
          <p:cNvPr id="19" name="Text 17"/>
          <p:cNvSpPr/>
          <p:nvPr/>
        </p:nvSpPr>
        <p:spPr>
          <a:xfrm>
            <a:off x="384048" y="3877056"/>
            <a:ext cx="4663440" cy="329184"/>
          </a:xfrm>
          <a:prstGeom prst="rect">
            <a:avLst/>
          </a:prstGeom>
          <a:noFill/>
          <a:ln/>
        </p:spPr>
        <p:txBody>
          <a:bodyPr wrap="square" rtlCol="0" anchor="ctr"/>
          <a:lstStyle/>
          <a:p>
            <a:pPr indent="0" marL="0">
              <a:buNone/>
            </a:pPr>
            <a:r>
              <a:rPr lang="en-US" sz="1300" b="1" dirty="0">
                <a:solidFill>
                  <a:srgbClr val="6D3B9E"/>
                </a:solidFill>
                <a:latin typeface="Georgia" pitchFamily="34" charset="0"/>
                <a:ea typeface="Georgia" pitchFamily="34" charset="-122"/>
                <a:cs typeface="Georgia" pitchFamily="34" charset="-120"/>
              </a:rPr>
              <a:t>📦  Containers (Apptainer / Singularity)  (gold standard)</a:t>
            </a:r>
            <a:endParaRPr lang="en-US" sz="1300" dirty="0"/>
          </a:p>
        </p:txBody>
      </p:sp>
      <p:sp>
        <p:nvSpPr>
          <p:cNvPr id="20" name="Text 18"/>
          <p:cNvSpPr/>
          <p:nvPr/>
        </p:nvSpPr>
        <p:spPr>
          <a:xfrm>
            <a:off x="384048" y="4251960"/>
            <a:ext cx="4663440" cy="566928"/>
          </a:xfrm>
          <a:prstGeom prst="rect">
            <a:avLst/>
          </a:prstGeom>
          <a:noFill/>
          <a:ln/>
        </p:spPr>
        <p:txBody>
          <a:bodyPr wrap="square" rtlCol="0" anchor="ctr"/>
          <a:lstStyle/>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Full OS-level reproducibility</a:t>
            </a:r>
            <a:endParaRPr lang="en-US" sz="1050" dirty="0"/>
          </a:p>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Supported on most HPC (Docker is not)</a:t>
            </a:r>
            <a:endParaRPr lang="en-US" sz="1050" dirty="0"/>
          </a:p>
          <a:p>
            <a:pPr marL="342900" indent="-342900">
              <a:buSzPct val="100000"/>
              <a:buChar char="•"/>
            </a:pPr>
            <a:r>
              <a:rPr lang="en-US" sz="1050" dirty="0">
                <a:solidFill>
                  <a:srgbClr val="1A2B4A"/>
                </a:solidFill>
                <a:latin typeface="Calibri" pitchFamily="34" charset="0"/>
                <a:ea typeface="Calibri" pitchFamily="34" charset="-122"/>
                <a:cs typeface="Calibri" pitchFamily="34" charset="-120"/>
              </a:rPr>
              <a:t>Build once, run anywhere — including in 5 years</a:t>
            </a:r>
            <a:endParaRPr lang="en-US" sz="1050" dirty="0"/>
          </a:p>
        </p:txBody>
      </p:sp>
      <p:sp>
        <p:nvSpPr>
          <p:cNvPr id="21" name="Shape 19"/>
          <p:cNvSpPr/>
          <p:nvPr/>
        </p:nvSpPr>
        <p:spPr>
          <a:xfrm>
            <a:off x="5257800" y="3904488"/>
            <a:ext cx="3520440" cy="896112"/>
          </a:xfrm>
          <a:prstGeom prst="rect">
            <a:avLst/>
          </a:prstGeom>
          <a:solidFill>
            <a:srgbClr val="1E1E2E"/>
          </a:solidFill>
          <a:ln/>
        </p:spPr>
      </p:sp>
      <p:sp>
        <p:nvSpPr>
          <p:cNvPr id="22" name="Text 20"/>
          <p:cNvSpPr/>
          <p:nvPr/>
        </p:nvSpPr>
        <p:spPr>
          <a:xfrm>
            <a:off x="5321808" y="3941064"/>
            <a:ext cx="3401568" cy="822960"/>
          </a:xfrm>
          <a:prstGeom prst="rect">
            <a:avLst/>
          </a:prstGeom>
          <a:noFill/>
          <a:ln/>
        </p:spPr>
        <p:txBody>
          <a:bodyPr wrap="square" rtlCol="0" anchor="ctr"/>
          <a:lstStyle/>
          <a:p>
            <a:pPr indent="0" marL="0">
              <a:buNone/>
            </a:pPr>
            <a:r>
              <a:rPr lang="en-US" sz="950" dirty="0">
                <a:solidFill>
                  <a:srgbClr val="4EC994"/>
                </a:solidFill>
                <a:latin typeface="Consolas" pitchFamily="34" charset="0"/>
                <a:ea typeface="Consolas" pitchFamily="34" charset="-122"/>
                <a:cs typeface="Consolas" pitchFamily="34" charset="-120"/>
              </a:rPr>
              <a:t>apptainer exec lisa_env.sif \</a:t>
            </a:r>
            <a:endParaRPr lang="en-US" sz="950" dirty="0"/>
          </a:p>
          <a:p>
            <a:pPr indent="0" marL="0">
              <a:buNone/>
            </a:pPr>
            <a:r>
              <a:rPr lang="en-US" sz="950" dirty="0">
                <a:solidFill>
                  <a:srgbClr val="4EC994"/>
                </a:solidFill>
                <a:latin typeface="Consolas" pitchFamily="34" charset="0"/>
                <a:ea typeface="Consolas" pitchFamily="34" charset="-122"/>
                <a:cs typeface="Consolas" pitchFamily="34" charset="-120"/>
              </a:rPr>
              <a:t>  python pipeline.py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6B4A"/>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 Good SLURM Script — Annotated</a:t>
            </a:r>
            <a:endParaRPr lang="en-US" sz="2600" dirty="0"/>
          </a:p>
        </p:txBody>
      </p:sp>
      <p:sp>
        <p:nvSpPr>
          <p:cNvPr id="4" name="Shape 2"/>
          <p:cNvSpPr/>
          <p:nvPr/>
        </p:nvSpPr>
        <p:spPr>
          <a:xfrm>
            <a:off x="256032" y="841248"/>
            <a:ext cx="4846320" cy="4114800"/>
          </a:xfrm>
          <a:prstGeom prst="rect">
            <a:avLst/>
          </a:prstGeom>
          <a:solidFill>
            <a:srgbClr val="1E1E2E"/>
          </a:solidFill>
          <a:ln/>
          <a:effectLst>
            <a:outerShdw sx="100000" sy="100000" kx="0" ky="0" algn="bl" rotWithShape="0" blurRad="63500" dist="25400" dir="8100000">
              <a:srgbClr val="000000">
                <a:alpha val="10000"/>
              </a:srgbClr>
            </a:outerShdw>
          </a:effectLst>
        </p:spPr>
      </p:sp>
      <p:sp>
        <p:nvSpPr>
          <p:cNvPr id="5" name="Text 3"/>
          <p:cNvSpPr/>
          <p:nvPr/>
        </p:nvSpPr>
        <p:spPr>
          <a:xfrm>
            <a:off x="329184" y="896112"/>
            <a:ext cx="4700016" cy="4005072"/>
          </a:xfrm>
          <a:prstGeom prst="rect">
            <a:avLst/>
          </a:prstGeom>
          <a:noFill/>
          <a:ln/>
        </p:spPr>
        <p:txBody>
          <a:bodyPr wrap="square" rtlCol="0" anchor="ctr"/>
          <a:lstStyle/>
          <a:p>
            <a:pPr indent="0" marL="0">
              <a:buNone/>
            </a:pPr>
            <a:r>
              <a:rPr lang="en-US" sz="900" dirty="0">
                <a:solidFill>
                  <a:srgbClr val="6A9955"/>
                </a:solidFill>
                <a:latin typeface="Consolas" pitchFamily="34" charset="0"/>
                <a:ea typeface="Consolas" pitchFamily="34" charset="-122"/>
                <a:cs typeface="Consolas" pitchFamily="34" charset="-120"/>
              </a:rPr>
              <a:t>#!/bin/bash
</a:t>
            </a:r>
            <a:pPr indent="0" marL="0">
              <a:buNone/>
            </a:pPr>
            <a:r>
              <a:rPr lang="en-US" sz="900" dirty="0">
                <a:solidFill>
                  <a:srgbClr val="7BAFD4"/>
                </a:solidFill>
                <a:latin typeface="Consolas" pitchFamily="34" charset="0"/>
                <a:ea typeface="Consolas" pitchFamily="34" charset="-122"/>
                <a:cs typeface="Consolas" pitchFamily="34" charset="-120"/>
              </a:rPr>
              <a:t>#SBATCH --job-name=lisa_mf
</a:t>
            </a:r>
            <a:pPr indent="0" marL="0">
              <a:buNone/>
            </a:pPr>
            <a:r>
              <a:rPr lang="en-US" sz="900" dirty="0">
                <a:solidFill>
                  <a:srgbClr val="7BAFD4"/>
                </a:solidFill>
                <a:latin typeface="Consolas" pitchFamily="34" charset="0"/>
                <a:ea typeface="Consolas" pitchFamily="34" charset="-122"/>
                <a:cs typeface="Consolas" pitchFamily="34" charset="-120"/>
              </a:rPr>
              <a:t>#SBATCH --array=0-9999%100
</a:t>
            </a:r>
            <a:pPr indent="0" marL="0">
              <a:buNone/>
            </a:pPr>
            <a:r>
              <a:rPr lang="en-US" sz="900" dirty="0">
                <a:solidFill>
                  <a:srgbClr val="7BAFD4"/>
                </a:solidFill>
                <a:latin typeface="Consolas" pitchFamily="34" charset="0"/>
                <a:ea typeface="Consolas" pitchFamily="34" charset="-122"/>
                <a:cs typeface="Consolas" pitchFamily="34" charset="-120"/>
              </a:rPr>
              <a:t>#SBATCH --cpus-per-task=4
</a:t>
            </a:r>
            <a:pPr indent="0" marL="0">
              <a:buNone/>
            </a:pPr>
            <a:r>
              <a:rPr lang="en-US" sz="900" dirty="0">
                <a:solidFill>
                  <a:srgbClr val="7BAFD4"/>
                </a:solidFill>
                <a:latin typeface="Consolas" pitchFamily="34" charset="0"/>
                <a:ea typeface="Consolas" pitchFamily="34" charset="-122"/>
                <a:cs typeface="Consolas" pitchFamily="34" charset="-120"/>
              </a:rPr>
              <a:t>#SBATCH --mem=16G
</a:t>
            </a:r>
            <a:pPr indent="0" marL="0">
              <a:buNone/>
            </a:pPr>
            <a:r>
              <a:rPr lang="en-US" sz="900" dirty="0">
                <a:solidFill>
                  <a:srgbClr val="7BAFD4"/>
                </a:solidFill>
                <a:latin typeface="Consolas" pitchFamily="34" charset="0"/>
                <a:ea typeface="Consolas" pitchFamily="34" charset="-122"/>
                <a:cs typeface="Consolas" pitchFamily="34" charset="-120"/>
              </a:rPr>
              <a:t>#SBATCH --time=04:00:00
</a:t>
            </a:r>
            <a:pPr indent="0" marL="0">
              <a:buNone/>
            </a:pPr>
            <a:r>
              <a:rPr lang="en-US" sz="900" dirty="0">
                <a:solidFill>
                  <a:srgbClr val="7BAFD4"/>
                </a:solidFill>
                <a:latin typeface="Consolas" pitchFamily="34" charset="0"/>
                <a:ea typeface="Consolas" pitchFamily="34" charset="-122"/>
                <a:cs typeface="Consolas" pitchFamily="34" charset="-120"/>
              </a:rPr>
              <a:t>#SBATCH --output=logs/%A_%a.out
</a:t>
            </a:r>
            <a:pPr indent="0" marL="0">
              <a:buNone/>
            </a:pPr>
            <a:r>
              <a:rPr lang="en-US" sz="900" dirty="0">
                <a:solidFill>
                  <a:srgbClr val="7BAFD4"/>
                </a:solidFill>
                <a:latin typeface="Consolas" pitchFamily="34" charset="0"/>
                <a:ea typeface="Consolas" pitchFamily="34" charset="-122"/>
                <a:cs typeface="Consolas" pitchFamily="34" charset="-120"/>
              </a:rPr>
              <a:t>#SBATCH --signal=USR1@120
</a:t>
            </a:r>
            <a:pPr indent="0" marL="0">
              <a:buNone/>
            </a:pPr>
            <a:r>
              <a:rPr lang="en-US" sz="900" dirty="0">
                <a:solidFill>
                  <a:srgbClr val="6A9955"/>
                </a:solidFill>
                <a:latin typeface="Consolas" pitchFamily="34" charset="0"/>
                <a:ea typeface="Consolas" pitchFamily="34" charset="-122"/>
                <a:cs typeface="Consolas" pitchFamily="34" charset="-120"/>
              </a:rPr>
              <a:t># 1. Fast local I/O
</a:t>
            </a:r>
            <a:pPr indent="0" marL="0">
              <a:buNone/>
            </a:pPr>
            <a:r>
              <a:rPr lang="en-US" sz="900" dirty="0">
                <a:solidFill>
                  <a:srgbClr val="D4D4D4"/>
                </a:solidFill>
                <a:latin typeface="Consolas" pitchFamily="34" charset="0"/>
                <a:ea typeface="Consolas" pitchFamily="34" charset="-122"/>
                <a:cs typeface="Consolas" pitchFamily="34" charset="-120"/>
              </a:rPr>
              <a:t>cp /scratch/lisa/tdi.npy $TMPDIR/
</a:t>
            </a:r>
            <a:pPr indent="0" marL="0">
              <a:buNone/>
            </a:pPr>
            <a:r>
              <a:rPr lang="en-US" sz="900" dirty="0">
                <a:solidFill>
                  <a:srgbClr val="6A9955"/>
                </a:solidFill>
                <a:latin typeface="Consolas" pitchFamily="34" charset="0"/>
                <a:ea typeface="Consolas" pitchFamily="34" charset="-122"/>
                <a:cs typeface="Consolas" pitchFamily="34" charset="-120"/>
              </a:rPr>
              <a:t># 2. Load environment
</a:t>
            </a:r>
            <a:pPr indent="0" marL="0">
              <a:buNone/>
            </a:pPr>
            <a:r>
              <a:rPr lang="en-US" sz="900" dirty="0">
                <a:solidFill>
                  <a:srgbClr val="D4D4D4"/>
                </a:solidFill>
                <a:latin typeface="Consolas" pitchFamily="34" charset="0"/>
                <a:ea typeface="Consolas" pitchFamily="34" charset="-122"/>
                <a:cs typeface="Consolas" pitchFamily="34" charset="-120"/>
              </a:rPr>
              <a:t>module load python/3.11
</a:t>
            </a:r>
            <a:pPr indent="0" marL="0">
              <a:buNone/>
            </a:pPr>
            <a:r>
              <a:rPr lang="en-US" sz="900" dirty="0">
                <a:solidFill>
                  <a:srgbClr val="D4D4D4"/>
                </a:solidFill>
                <a:latin typeface="Consolas" pitchFamily="34" charset="0"/>
                <a:ea typeface="Consolas" pitchFamily="34" charset="-122"/>
                <a:cs typeface="Consolas" pitchFamily="34" charset="-120"/>
              </a:rPr>
              <a:t>source activate lisa_env
</a:t>
            </a:r>
            <a:pPr indent="0" marL="0">
              <a:buNone/>
            </a:pPr>
            <a:r>
              <a:rPr lang="en-US" sz="900" dirty="0">
                <a:solidFill>
                  <a:srgbClr val="6A9955"/>
                </a:solidFill>
                <a:latin typeface="Consolas" pitchFamily="34" charset="0"/>
                <a:ea typeface="Consolas" pitchFamily="34" charset="-122"/>
                <a:cs typeface="Consolas" pitchFamily="34" charset="-120"/>
              </a:rPr>
              <a:t># 3. Run with task ID
</a:t>
            </a:r>
            <a:pPr indent="0" marL="0">
              <a:buNone/>
            </a:pPr>
            <a:r>
              <a:rPr lang="en-US" sz="900" dirty="0">
                <a:solidFill>
                  <a:srgbClr val="D4D4D4"/>
                </a:solidFill>
                <a:latin typeface="Consolas" pitchFamily="34" charset="0"/>
                <a:ea typeface="Consolas" pitchFamily="34" charset="-122"/>
                <a:cs typeface="Consolas" pitchFamily="34" charset="-120"/>
              </a:rPr>
              <a:t>python pipeline.py \
</a:t>
            </a:r>
            <a:pPr indent="0" marL="0">
              <a:buNone/>
            </a:pPr>
            <a:r>
              <a:rPr lang="en-US" sz="900" b="1" dirty="0">
                <a:solidFill>
                  <a:srgbClr val="4EC994"/>
                </a:solidFill>
                <a:latin typeface="Consolas" pitchFamily="34" charset="0"/>
                <a:ea typeface="Consolas" pitchFamily="34" charset="-122"/>
                <a:cs typeface="Consolas" pitchFamily="34" charset="-120"/>
              </a:rPr>
              <a:t>  --task ${SLURM_ARRAY_TASK_ID} \
</a:t>
            </a:r>
            <a:pPr indent="0" marL="0">
              <a:buNone/>
            </a:pPr>
            <a:r>
              <a:rPr lang="en-US" sz="900" dirty="0">
                <a:solidFill>
                  <a:srgbClr val="D4D4D4"/>
                </a:solidFill>
                <a:latin typeface="Consolas" pitchFamily="34" charset="0"/>
                <a:ea typeface="Consolas" pitchFamily="34" charset="-122"/>
                <a:cs typeface="Consolas" pitchFamily="34" charset="-120"/>
              </a:rPr>
              <a:t>  --data $TMPDIR/tdi.npy \
</a:t>
            </a:r>
            <a:pPr indent="0" marL="0">
              <a:buNone/>
            </a:pPr>
            <a:r>
              <a:rPr lang="en-US" sz="900" dirty="0">
                <a:solidFill>
                  <a:srgbClr val="D4D4D4"/>
                </a:solidFill>
                <a:latin typeface="Consolas" pitchFamily="34" charset="0"/>
                <a:ea typeface="Consolas" pitchFamily="34" charset="-122"/>
                <a:cs typeface="Consolas" pitchFamily="34" charset="-120"/>
              </a:rPr>
              <a:t>  --checkpoint ckpt_${SLURM_ARRAY_TASK_ID}.npy</a:t>
            </a:r>
            <a:endParaRPr lang="en-US" sz="900" dirty="0"/>
          </a:p>
        </p:txBody>
      </p:sp>
      <p:sp>
        <p:nvSpPr>
          <p:cNvPr id="6" name="Shape 4"/>
          <p:cNvSpPr/>
          <p:nvPr/>
        </p:nvSpPr>
        <p:spPr>
          <a:xfrm>
            <a:off x="5230368" y="969264"/>
            <a:ext cx="3639312" cy="274320"/>
          </a:xfrm>
          <a:prstGeom prst="rect">
            <a:avLst/>
          </a:prstGeom>
          <a:solidFill>
            <a:srgbClr val="FFFFFF"/>
          </a:solidFill>
          <a:ln w="6350">
            <a:solidFill>
              <a:srgbClr val="0891B2"/>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5230368" y="969264"/>
            <a:ext cx="54864" cy="274320"/>
          </a:xfrm>
          <a:prstGeom prst="rect">
            <a:avLst/>
          </a:prstGeom>
          <a:solidFill>
            <a:srgbClr val="0891B2"/>
          </a:solidFill>
          <a:ln/>
        </p:spPr>
      </p:sp>
      <p:sp>
        <p:nvSpPr>
          <p:cNvPr id="8" name="Text 6"/>
          <p:cNvSpPr/>
          <p:nvPr/>
        </p:nvSpPr>
        <p:spPr>
          <a:xfrm>
            <a:off x="5321808" y="978408"/>
            <a:ext cx="3493008" cy="25603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Rate-limit: max 100 concurrent tasks at once</a:t>
            </a:r>
            <a:endParaRPr lang="en-US" sz="950" dirty="0"/>
          </a:p>
        </p:txBody>
      </p:sp>
      <p:sp>
        <p:nvSpPr>
          <p:cNvPr id="9" name="Shape 7"/>
          <p:cNvSpPr/>
          <p:nvPr/>
        </p:nvSpPr>
        <p:spPr>
          <a:xfrm>
            <a:off x="5230368" y="1261872"/>
            <a:ext cx="3639312" cy="274320"/>
          </a:xfrm>
          <a:prstGeom prst="rect">
            <a:avLst/>
          </a:prstGeom>
          <a:solidFill>
            <a:srgbClr val="FFFFFF"/>
          </a:solidFill>
          <a:ln w="6350">
            <a:solidFill>
              <a:srgbClr val="E87C2A"/>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5230368" y="1261872"/>
            <a:ext cx="54864" cy="274320"/>
          </a:xfrm>
          <a:prstGeom prst="rect">
            <a:avLst/>
          </a:prstGeom>
          <a:solidFill>
            <a:srgbClr val="E87C2A"/>
          </a:solidFill>
          <a:ln/>
        </p:spPr>
      </p:sp>
      <p:sp>
        <p:nvSpPr>
          <p:cNvPr id="11" name="Text 9"/>
          <p:cNvSpPr/>
          <p:nvPr/>
        </p:nvSpPr>
        <p:spPr>
          <a:xfrm>
            <a:off x="5321808" y="1271016"/>
            <a:ext cx="3493008" cy="25603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Request only what you need — don't over-request</a:t>
            </a:r>
            <a:endParaRPr lang="en-US" sz="950" dirty="0"/>
          </a:p>
        </p:txBody>
      </p:sp>
      <p:sp>
        <p:nvSpPr>
          <p:cNvPr id="12" name="Shape 10"/>
          <p:cNvSpPr/>
          <p:nvPr/>
        </p:nvSpPr>
        <p:spPr>
          <a:xfrm>
            <a:off x="5230368" y="1554480"/>
            <a:ext cx="3639312" cy="274320"/>
          </a:xfrm>
          <a:prstGeom prst="rect">
            <a:avLst/>
          </a:prstGeom>
          <a:solidFill>
            <a:srgbClr val="FFFFFF"/>
          </a:solidFill>
          <a:ln w="6350">
            <a:solidFill>
              <a:srgbClr val="0E4D8B"/>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5230368" y="1554480"/>
            <a:ext cx="54864" cy="274320"/>
          </a:xfrm>
          <a:prstGeom prst="rect">
            <a:avLst/>
          </a:prstGeom>
          <a:solidFill>
            <a:srgbClr val="0E4D8B"/>
          </a:solidFill>
          <a:ln/>
        </p:spPr>
      </p:sp>
      <p:sp>
        <p:nvSpPr>
          <p:cNvPr id="14" name="Text 12"/>
          <p:cNvSpPr/>
          <p:nvPr/>
        </p:nvSpPr>
        <p:spPr>
          <a:xfrm>
            <a:off x="5321808" y="1563624"/>
            <a:ext cx="3493008" cy="25603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Per-job log files — %A=array ID, %a=task ID</a:t>
            </a:r>
            <a:endParaRPr lang="en-US" sz="950" dirty="0"/>
          </a:p>
        </p:txBody>
      </p:sp>
      <p:sp>
        <p:nvSpPr>
          <p:cNvPr id="15" name="Shape 13"/>
          <p:cNvSpPr/>
          <p:nvPr/>
        </p:nvSpPr>
        <p:spPr>
          <a:xfrm>
            <a:off x="5230368" y="1810512"/>
            <a:ext cx="3639312" cy="274320"/>
          </a:xfrm>
          <a:prstGeom prst="rect">
            <a:avLst/>
          </a:prstGeom>
          <a:solidFill>
            <a:srgbClr val="FFFFFF"/>
          </a:solidFill>
          <a:ln w="6350">
            <a:solidFill>
              <a:srgbClr val="6D3B9E"/>
            </a:solidFill>
            <a:prstDash val="solid"/>
          </a:ln>
          <a:effectLst>
            <a:outerShdw sx="100000" sy="100000" kx="0" ky="0" algn="bl" rotWithShape="0" blurRad="63500" dist="25400" dir="8100000">
              <a:srgbClr val="000000">
                <a:alpha val="10000"/>
              </a:srgbClr>
            </a:outerShdw>
          </a:effectLst>
        </p:spPr>
      </p:sp>
      <p:sp>
        <p:nvSpPr>
          <p:cNvPr id="16" name="Shape 14"/>
          <p:cNvSpPr/>
          <p:nvPr/>
        </p:nvSpPr>
        <p:spPr>
          <a:xfrm>
            <a:off x="5230368" y="1810512"/>
            <a:ext cx="54864" cy="274320"/>
          </a:xfrm>
          <a:prstGeom prst="rect">
            <a:avLst/>
          </a:prstGeom>
          <a:solidFill>
            <a:srgbClr val="6D3B9E"/>
          </a:solidFill>
          <a:ln/>
        </p:spPr>
      </p:sp>
      <p:sp>
        <p:nvSpPr>
          <p:cNvPr id="17" name="Text 15"/>
          <p:cNvSpPr/>
          <p:nvPr/>
        </p:nvSpPr>
        <p:spPr>
          <a:xfrm>
            <a:off x="5321808" y="1819656"/>
            <a:ext cx="3493008" cy="25603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Sends USR1 signal 2 min before wall time — trigger checkpoint!</a:t>
            </a:r>
            <a:endParaRPr lang="en-US" sz="950" dirty="0"/>
          </a:p>
        </p:txBody>
      </p:sp>
      <p:sp>
        <p:nvSpPr>
          <p:cNvPr id="18" name="Shape 16"/>
          <p:cNvSpPr/>
          <p:nvPr/>
        </p:nvSpPr>
        <p:spPr>
          <a:xfrm>
            <a:off x="5230368" y="2304288"/>
            <a:ext cx="3639312" cy="274320"/>
          </a:xfrm>
          <a:prstGeom prst="rect">
            <a:avLst/>
          </a:prstGeom>
          <a:solidFill>
            <a:srgbClr val="FFFFFF"/>
          </a:solidFill>
          <a:ln w="6350">
            <a:solidFill>
              <a:srgbClr val="1A9E6E"/>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5230368" y="2304288"/>
            <a:ext cx="54864" cy="274320"/>
          </a:xfrm>
          <a:prstGeom prst="rect">
            <a:avLst/>
          </a:prstGeom>
          <a:solidFill>
            <a:srgbClr val="1A9E6E"/>
          </a:solidFill>
          <a:ln/>
        </p:spPr>
      </p:sp>
      <p:sp>
        <p:nvSpPr>
          <p:cNvPr id="20" name="Text 18"/>
          <p:cNvSpPr/>
          <p:nvPr/>
        </p:nvSpPr>
        <p:spPr>
          <a:xfrm>
            <a:off x="5321808" y="2313432"/>
            <a:ext cx="3493008" cy="25603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Copy data to local scratch for fast I/O</a:t>
            </a:r>
            <a:endParaRPr lang="en-US" sz="950" dirty="0"/>
          </a:p>
        </p:txBody>
      </p:sp>
      <p:sp>
        <p:nvSpPr>
          <p:cNvPr id="21" name="Shape 19"/>
          <p:cNvSpPr/>
          <p:nvPr/>
        </p:nvSpPr>
        <p:spPr>
          <a:xfrm>
            <a:off x="5230368" y="2816352"/>
            <a:ext cx="3639312" cy="274320"/>
          </a:xfrm>
          <a:prstGeom prst="rect">
            <a:avLst/>
          </a:prstGeom>
          <a:solidFill>
            <a:srgbClr val="FFFFFF"/>
          </a:solidFill>
          <a:ln w="6350">
            <a:solidFill>
              <a:srgbClr val="1A9E6E"/>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5230368" y="2816352"/>
            <a:ext cx="54864" cy="274320"/>
          </a:xfrm>
          <a:prstGeom prst="rect">
            <a:avLst/>
          </a:prstGeom>
          <a:solidFill>
            <a:srgbClr val="1A9E6E"/>
          </a:solidFill>
          <a:ln/>
        </p:spPr>
      </p:sp>
      <p:sp>
        <p:nvSpPr>
          <p:cNvPr id="23" name="Text 21"/>
          <p:cNvSpPr/>
          <p:nvPr/>
        </p:nvSpPr>
        <p:spPr>
          <a:xfrm>
            <a:off x="5321808" y="2825496"/>
            <a:ext cx="3493008" cy="25603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Exact environment loaded every time</a:t>
            </a:r>
            <a:endParaRPr lang="en-US" sz="950" dirty="0"/>
          </a:p>
        </p:txBody>
      </p:sp>
      <p:sp>
        <p:nvSpPr>
          <p:cNvPr id="24" name="Shape 22"/>
          <p:cNvSpPr/>
          <p:nvPr/>
        </p:nvSpPr>
        <p:spPr>
          <a:xfrm>
            <a:off x="5230368" y="3310128"/>
            <a:ext cx="3639312" cy="274320"/>
          </a:xfrm>
          <a:prstGeom prst="rect">
            <a:avLst/>
          </a:prstGeom>
          <a:solidFill>
            <a:srgbClr val="FFFFFF"/>
          </a:solidFill>
          <a:ln w="6350">
            <a:solidFill>
              <a:srgbClr val="1A9E6E"/>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5230368" y="3310128"/>
            <a:ext cx="54864" cy="274320"/>
          </a:xfrm>
          <a:prstGeom prst="rect">
            <a:avLst/>
          </a:prstGeom>
          <a:solidFill>
            <a:srgbClr val="1A9E6E"/>
          </a:solidFill>
          <a:ln/>
        </p:spPr>
      </p:sp>
      <p:sp>
        <p:nvSpPr>
          <p:cNvPr id="26" name="Text 24"/>
          <p:cNvSpPr/>
          <p:nvPr/>
        </p:nvSpPr>
        <p:spPr>
          <a:xfrm>
            <a:off x="5321808" y="3319272"/>
            <a:ext cx="3493008" cy="25603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Task ID selects which signal/template to process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6B4A"/>
          </a:solidFill>
          <a:ln/>
        </p:spPr>
      </p:sp>
      <p:sp>
        <p:nvSpPr>
          <p:cNvPr id="3" name="Text 1"/>
          <p:cNvSpPr/>
          <p:nvPr/>
        </p:nvSpPr>
        <p:spPr>
          <a:xfrm>
            <a:off x="320040" y="36576"/>
            <a:ext cx="8503920" cy="676656"/>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Monitoring &amp; Diagnosing Failures</a:t>
            </a:r>
            <a:endParaRPr lang="en-US" sz="2600" dirty="0"/>
          </a:p>
        </p:txBody>
      </p:sp>
      <p:sp>
        <p:nvSpPr>
          <p:cNvPr id="4" name="Shape 2"/>
          <p:cNvSpPr/>
          <p:nvPr/>
        </p:nvSpPr>
        <p:spPr>
          <a:xfrm>
            <a:off x="256032" y="886968"/>
            <a:ext cx="8631936" cy="713232"/>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256032" y="886968"/>
            <a:ext cx="64008" cy="713232"/>
          </a:xfrm>
          <a:prstGeom prst="rect">
            <a:avLst/>
          </a:prstGeom>
          <a:solidFill>
            <a:srgbClr val="1A6B4A"/>
          </a:solidFill>
          <a:ln/>
        </p:spPr>
      </p:sp>
      <p:sp>
        <p:nvSpPr>
          <p:cNvPr id="6" name="Shape 4"/>
          <p:cNvSpPr/>
          <p:nvPr/>
        </p:nvSpPr>
        <p:spPr>
          <a:xfrm>
            <a:off x="365760" y="978408"/>
            <a:ext cx="3108960" cy="530352"/>
          </a:xfrm>
          <a:prstGeom prst="rect">
            <a:avLst/>
          </a:prstGeom>
          <a:solidFill>
            <a:srgbClr val="1E1E2E"/>
          </a:solidFill>
          <a:ln/>
        </p:spPr>
      </p:sp>
      <p:sp>
        <p:nvSpPr>
          <p:cNvPr id="7" name="Text 5"/>
          <p:cNvSpPr/>
          <p:nvPr/>
        </p:nvSpPr>
        <p:spPr>
          <a:xfrm>
            <a:off x="420624" y="1014984"/>
            <a:ext cx="3017520" cy="457200"/>
          </a:xfrm>
          <a:prstGeom prst="rect">
            <a:avLst/>
          </a:prstGeom>
          <a:noFill/>
          <a:ln/>
        </p:spPr>
        <p:txBody>
          <a:bodyPr wrap="square" rtlCol="0" anchor="ctr"/>
          <a:lstStyle/>
          <a:p>
            <a:pPr indent="0" marL="0">
              <a:buNone/>
            </a:pPr>
            <a:r>
              <a:rPr lang="en-US" sz="1000" dirty="0">
                <a:solidFill>
                  <a:srgbClr val="4EC994"/>
                </a:solidFill>
                <a:latin typeface="Consolas" pitchFamily="34" charset="0"/>
                <a:ea typeface="Consolas" pitchFamily="34" charset="-122"/>
                <a:cs typeface="Consolas" pitchFamily="34" charset="-120"/>
              </a:rPr>
              <a:t>squeue -u $USER</a:t>
            </a:r>
            <a:endParaRPr lang="en-US" sz="1000" dirty="0"/>
          </a:p>
        </p:txBody>
      </p:sp>
      <p:sp>
        <p:nvSpPr>
          <p:cNvPr id="8" name="Text 6"/>
          <p:cNvSpPr/>
          <p:nvPr/>
        </p:nvSpPr>
        <p:spPr>
          <a:xfrm>
            <a:off x="3611880" y="978408"/>
            <a:ext cx="5166360" cy="53035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See your running and pending jobs. STATUS: R=running, PD=pending, CG=completing.</a:t>
            </a:r>
            <a:endParaRPr lang="en-US" sz="1100" dirty="0"/>
          </a:p>
        </p:txBody>
      </p:sp>
      <p:sp>
        <p:nvSpPr>
          <p:cNvPr id="9" name="Shape 7"/>
          <p:cNvSpPr/>
          <p:nvPr/>
        </p:nvSpPr>
        <p:spPr>
          <a:xfrm>
            <a:off x="256032" y="1709928"/>
            <a:ext cx="8631936" cy="713232"/>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256032" y="1709928"/>
            <a:ext cx="64008" cy="713232"/>
          </a:xfrm>
          <a:prstGeom prst="rect">
            <a:avLst/>
          </a:prstGeom>
          <a:solidFill>
            <a:srgbClr val="1A6B4A"/>
          </a:solidFill>
          <a:ln/>
        </p:spPr>
      </p:sp>
      <p:sp>
        <p:nvSpPr>
          <p:cNvPr id="11" name="Shape 9"/>
          <p:cNvSpPr/>
          <p:nvPr/>
        </p:nvSpPr>
        <p:spPr>
          <a:xfrm>
            <a:off x="365760" y="1801368"/>
            <a:ext cx="3108960" cy="530352"/>
          </a:xfrm>
          <a:prstGeom prst="rect">
            <a:avLst/>
          </a:prstGeom>
          <a:solidFill>
            <a:srgbClr val="1E1E2E"/>
          </a:solidFill>
          <a:ln/>
        </p:spPr>
      </p:sp>
      <p:sp>
        <p:nvSpPr>
          <p:cNvPr id="12" name="Text 10"/>
          <p:cNvSpPr/>
          <p:nvPr/>
        </p:nvSpPr>
        <p:spPr>
          <a:xfrm>
            <a:off x="420624" y="1837944"/>
            <a:ext cx="3017520" cy="457200"/>
          </a:xfrm>
          <a:prstGeom prst="rect">
            <a:avLst/>
          </a:prstGeom>
          <a:noFill/>
          <a:ln/>
        </p:spPr>
        <p:txBody>
          <a:bodyPr wrap="square" rtlCol="0" anchor="ctr"/>
          <a:lstStyle/>
          <a:p>
            <a:pPr indent="0" marL="0">
              <a:buNone/>
            </a:pPr>
            <a:r>
              <a:rPr lang="en-US" sz="1000" dirty="0">
                <a:solidFill>
                  <a:srgbClr val="4EC994"/>
                </a:solidFill>
                <a:latin typeface="Consolas" pitchFamily="34" charset="0"/>
                <a:ea typeface="Consolas" pitchFamily="34" charset="-122"/>
                <a:cs typeface="Consolas" pitchFamily="34" charset="-120"/>
              </a:rPr>
              <a:t>squeue -j 12345 --format='%T %r'</a:t>
            </a:r>
            <a:endParaRPr lang="en-US" sz="1000" dirty="0"/>
          </a:p>
        </p:txBody>
      </p:sp>
      <p:sp>
        <p:nvSpPr>
          <p:cNvPr id="13" name="Text 11"/>
          <p:cNvSpPr/>
          <p:nvPr/>
        </p:nvSpPr>
        <p:spPr>
          <a:xfrm>
            <a:off x="3611880" y="1801368"/>
            <a:ext cx="5166360" cy="53035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Why is a job still pending? REASON column: Resources, Priority, QOSMaxCpuPerUserLimit.</a:t>
            </a:r>
            <a:endParaRPr lang="en-US" sz="1100" dirty="0"/>
          </a:p>
        </p:txBody>
      </p:sp>
      <p:sp>
        <p:nvSpPr>
          <p:cNvPr id="14" name="Shape 12"/>
          <p:cNvSpPr/>
          <p:nvPr/>
        </p:nvSpPr>
        <p:spPr>
          <a:xfrm>
            <a:off x="256032" y="2532888"/>
            <a:ext cx="8631936" cy="713232"/>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15" name="Shape 13"/>
          <p:cNvSpPr/>
          <p:nvPr/>
        </p:nvSpPr>
        <p:spPr>
          <a:xfrm>
            <a:off x="256032" y="2532888"/>
            <a:ext cx="64008" cy="713232"/>
          </a:xfrm>
          <a:prstGeom prst="rect">
            <a:avLst/>
          </a:prstGeom>
          <a:solidFill>
            <a:srgbClr val="1A6B4A"/>
          </a:solidFill>
          <a:ln/>
        </p:spPr>
      </p:sp>
      <p:sp>
        <p:nvSpPr>
          <p:cNvPr id="16" name="Shape 14"/>
          <p:cNvSpPr/>
          <p:nvPr/>
        </p:nvSpPr>
        <p:spPr>
          <a:xfrm>
            <a:off x="365760" y="2624328"/>
            <a:ext cx="3108960" cy="530352"/>
          </a:xfrm>
          <a:prstGeom prst="rect">
            <a:avLst/>
          </a:prstGeom>
          <a:solidFill>
            <a:srgbClr val="1E1E2E"/>
          </a:solidFill>
          <a:ln/>
        </p:spPr>
      </p:sp>
      <p:sp>
        <p:nvSpPr>
          <p:cNvPr id="17" name="Text 15"/>
          <p:cNvSpPr/>
          <p:nvPr/>
        </p:nvSpPr>
        <p:spPr>
          <a:xfrm>
            <a:off x="420624" y="2660904"/>
            <a:ext cx="3017520" cy="457200"/>
          </a:xfrm>
          <a:prstGeom prst="rect">
            <a:avLst/>
          </a:prstGeom>
          <a:noFill/>
          <a:ln/>
        </p:spPr>
        <p:txBody>
          <a:bodyPr wrap="square" rtlCol="0" anchor="ctr"/>
          <a:lstStyle/>
          <a:p>
            <a:pPr indent="0" marL="0">
              <a:buNone/>
            </a:pPr>
            <a:r>
              <a:rPr lang="en-US" sz="1000" dirty="0">
                <a:solidFill>
                  <a:srgbClr val="4EC994"/>
                </a:solidFill>
                <a:latin typeface="Consolas" pitchFamily="34" charset="0"/>
                <a:ea typeface="Consolas" pitchFamily="34" charset="-122"/>
                <a:cs typeface="Consolas" pitchFamily="34" charset="-120"/>
              </a:rPr>
              <a:t>sacct -j 12345 --format=JobID,State,ExitCode,MaxRSS,Elapsed</a:t>
            </a:r>
            <a:endParaRPr lang="en-US" sz="1000" dirty="0"/>
          </a:p>
        </p:txBody>
      </p:sp>
      <p:sp>
        <p:nvSpPr>
          <p:cNvPr id="18" name="Text 16"/>
          <p:cNvSpPr/>
          <p:nvPr/>
        </p:nvSpPr>
        <p:spPr>
          <a:xfrm>
            <a:off x="3611880" y="2624328"/>
            <a:ext cx="5166360" cy="53035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Post-mortem on a finished job. MaxRSS shows peak RAM — useful for tuning --mem.</a:t>
            </a:r>
            <a:endParaRPr lang="en-US" sz="1100" dirty="0"/>
          </a:p>
        </p:txBody>
      </p:sp>
      <p:sp>
        <p:nvSpPr>
          <p:cNvPr id="19" name="Shape 17"/>
          <p:cNvSpPr/>
          <p:nvPr/>
        </p:nvSpPr>
        <p:spPr>
          <a:xfrm>
            <a:off x="256032" y="3355848"/>
            <a:ext cx="8631936" cy="713232"/>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20" name="Shape 18"/>
          <p:cNvSpPr/>
          <p:nvPr/>
        </p:nvSpPr>
        <p:spPr>
          <a:xfrm>
            <a:off x="256032" y="3355848"/>
            <a:ext cx="64008" cy="713232"/>
          </a:xfrm>
          <a:prstGeom prst="rect">
            <a:avLst/>
          </a:prstGeom>
          <a:solidFill>
            <a:srgbClr val="1A6B4A"/>
          </a:solidFill>
          <a:ln/>
        </p:spPr>
      </p:sp>
      <p:sp>
        <p:nvSpPr>
          <p:cNvPr id="21" name="Shape 19"/>
          <p:cNvSpPr/>
          <p:nvPr/>
        </p:nvSpPr>
        <p:spPr>
          <a:xfrm>
            <a:off x="365760" y="3447288"/>
            <a:ext cx="3108960" cy="530352"/>
          </a:xfrm>
          <a:prstGeom prst="rect">
            <a:avLst/>
          </a:prstGeom>
          <a:solidFill>
            <a:srgbClr val="1E1E2E"/>
          </a:solidFill>
          <a:ln/>
        </p:spPr>
      </p:sp>
      <p:sp>
        <p:nvSpPr>
          <p:cNvPr id="22" name="Text 20"/>
          <p:cNvSpPr/>
          <p:nvPr/>
        </p:nvSpPr>
        <p:spPr>
          <a:xfrm>
            <a:off x="420624" y="3483864"/>
            <a:ext cx="3017520" cy="457200"/>
          </a:xfrm>
          <a:prstGeom prst="rect">
            <a:avLst/>
          </a:prstGeom>
          <a:noFill/>
          <a:ln/>
        </p:spPr>
        <p:txBody>
          <a:bodyPr wrap="square" rtlCol="0" anchor="ctr"/>
          <a:lstStyle/>
          <a:p>
            <a:pPr indent="0" marL="0">
              <a:buNone/>
            </a:pPr>
            <a:r>
              <a:rPr lang="en-US" sz="1000" dirty="0">
                <a:solidFill>
                  <a:srgbClr val="4EC994"/>
                </a:solidFill>
                <a:latin typeface="Consolas" pitchFamily="34" charset="0"/>
                <a:ea typeface="Consolas" pitchFamily="34" charset="-122"/>
                <a:cs typeface="Consolas" pitchFamily="34" charset="-120"/>
              </a:rPr>
              <a:t>seff 12345</a:t>
            </a:r>
            <a:endParaRPr lang="en-US" sz="1000" dirty="0"/>
          </a:p>
        </p:txBody>
      </p:sp>
      <p:sp>
        <p:nvSpPr>
          <p:cNvPr id="23" name="Text 21"/>
          <p:cNvSpPr/>
          <p:nvPr/>
        </p:nvSpPr>
        <p:spPr>
          <a:xfrm>
            <a:off x="3611880" y="3447288"/>
            <a:ext cx="5166360" cy="53035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Efficiency report: CPU efficiency %, memory efficiency %. Low efficiency = you over-requested.</a:t>
            </a:r>
            <a:endParaRPr lang="en-US" sz="1100" dirty="0"/>
          </a:p>
        </p:txBody>
      </p:sp>
      <p:sp>
        <p:nvSpPr>
          <p:cNvPr id="24" name="Shape 22"/>
          <p:cNvSpPr/>
          <p:nvPr/>
        </p:nvSpPr>
        <p:spPr>
          <a:xfrm>
            <a:off x="256032" y="4178808"/>
            <a:ext cx="8631936" cy="713232"/>
          </a:xfrm>
          <a:prstGeom prst="rect">
            <a:avLst/>
          </a:prstGeom>
          <a:solidFill>
            <a:srgbClr val="FFFFFF"/>
          </a:solidFill>
          <a:ln w="6350">
            <a:solidFill>
              <a:srgbClr val="D8E8F4"/>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256032" y="4178808"/>
            <a:ext cx="64008" cy="713232"/>
          </a:xfrm>
          <a:prstGeom prst="rect">
            <a:avLst/>
          </a:prstGeom>
          <a:solidFill>
            <a:srgbClr val="1A6B4A"/>
          </a:solidFill>
          <a:ln/>
        </p:spPr>
      </p:sp>
      <p:sp>
        <p:nvSpPr>
          <p:cNvPr id="26" name="Shape 24"/>
          <p:cNvSpPr/>
          <p:nvPr/>
        </p:nvSpPr>
        <p:spPr>
          <a:xfrm>
            <a:off x="365760" y="4270248"/>
            <a:ext cx="3108960" cy="530352"/>
          </a:xfrm>
          <a:prstGeom prst="rect">
            <a:avLst/>
          </a:prstGeom>
          <a:solidFill>
            <a:srgbClr val="1E1E2E"/>
          </a:solidFill>
          <a:ln/>
        </p:spPr>
      </p:sp>
      <p:sp>
        <p:nvSpPr>
          <p:cNvPr id="27" name="Text 25"/>
          <p:cNvSpPr/>
          <p:nvPr/>
        </p:nvSpPr>
        <p:spPr>
          <a:xfrm>
            <a:off x="420624" y="4306824"/>
            <a:ext cx="3017520" cy="457200"/>
          </a:xfrm>
          <a:prstGeom prst="rect">
            <a:avLst/>
          </a:prstGeom>
          <a:noFill/>
          <a:ln/>
        </p:spPr>
        <p:txBody>
          <a:bodyPr wrap="square" rtlCol="0" anchor="ctr"/>
          <a:lstStyle/>
          <a:p>
            <a:pPr indent="0" marL="0">
              <a:buNone/>
            </a:pPr>
            <a:r>
              <a:rPr lang="en-US" sz="1000" dirty="0">
                <a:solidFill>
                  <a:srgbClr val="4EC994"/>
                </a:solidFill>
                <a:latin typeface="Consolas" pitchFamily="34" charset="0"/>
                <a:ea typeface="Consolas" pitchFamily="34" charset="-122"/>
                <a:cs typeface="Consolas" pitchFamily="34" charset="-120"/>
              </a:rPr>
              <a:t>scancel 12345</a:t>
            </a:r>
            <a:endParaRPr lang="en-US" sz="1000" dirty="0"/>
          </a:p>
        </p:txBody>
      </p:sp>
      <p:sp>
        <p:nvSpPr>
          <p:cNvPr id="28" name="Text 26"/>
          <p:cNvSpPr/>
          <p:nvPr/>
        </p:nvSpPr>
        <p:spPr>
          <a:xfrm>
            <a:off x="3611880" y="4270248"/>
            <a:ext cx="5166360" cy="53035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Cancel a job or array. Use scancel 12345_5 to cancel just task 5 of an array.</a:t>
            </a:r>
            <a:endParaRPr lang="en-US" sz="1100" dirty="0"/>
          </a:p>
        </p:txBody>
      </p:sp>
      <p:sp>
        <p:nvSpPr>
          <p:cNvPr id="29" name="Shape 27"/>
          <p:cNvSpPr/>
          <p:nvPr/>
        </p:nvSpPr>
        <p:spPr>
          <a:xfrm>
            <a:off x="256032" y="4663440"/>
            <a:ext cx="8631936" cy="347472"/>
          </a:xfrm>
          <a:prstGeom prst="rect">
            <a:avLst/>
          </a:prstGeom>
          <a:solidFill>
            <a:srgbClr val="EBF3FF"/>
          </a:solidFill>
          <a:ln w="6350">
            <a:solidFill>
              <a:srgbClr val="BBCFE8"/>
            </a:solidFill>
            <a:prstDash val="solid"/>
          </a:ln>
        </p:spPr>
      </p:sp>
      <p:sp>
        <p:nvSpPr>
          <p:cNvPr id="30" name="Text 28"/>
          <p:cNvSpPr/>
          <p:nvPr/>
        </p:nvSpPr>
        <p:spPr>
          <a:xfrm>
            <a:off x="384048" y="4681728"/>
            <a:ext cx="8321040" cy="310896"/>
          </a:xfrm>
          <a:prstGeom prst="rect">
            <a:avLst/>
          </a:prstGeom>
          <a:noFill/>
          <a:ln/>
        </p:spPr>
        <p:txBody>
          <a:bodyPr wrap="square" rtlCol="0" anchor="ctr"/>
          <a:lstStyle/>
          <a:p>
            <a:pPr indent="0" marL="0">
              <a:buNone/>
            </a:pPr>
            <a:r>
              <a:rPr lang="en-US" sz="1050" dirty="0">
                <a:solidFill>
                  <a:srgbClr val="0E4D8B"/>
                </a:solidFill>
                <a:latin typeface="Calibri" pitchFamily="34" charset="0"/>
                <a:ea typeface="Calibri" pitchFamily="34" charset="-122"/>
                <a:cs typeface="Calibri" pitchFamily="34" charset="-120"/>
              </a:rPr>
              <a:t>💡  OOM-killed? sacct MaxRSS tells you how much RAM the job actually used. Multiply by 1.2× and set that as your --mem.</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891B2"/>
          </a:solidFill>
          <a:ln/>
        </p:spPr>
      </p:sp>
      <p:sp>
        <p:nvSpPr>
          <p:cNvPr id="3" name="Text 1"/>
          <p:cNvSpPr/>
          <p:nvPr/>
        </p:nvSpPr>
        <p:spPr>
          <a:xfrm>
            <a:off x="320040" y="182880"/>
            <a:ext cx="84124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Your Checklist</a:t>
            </a:r>
            <a:endParaRPr lang="en-US" sz="3400" dirty="0"/>
          </a:p>
        </p:txBody>
      </p:sp>
      <p:sp>
        <p:nvSpPr>
          <p:cNvPr id="4" name="Shape 2"/>
          <p:cNvSpPr/>
          <p:nvPr/>
        </p:nvSpPr>
        <p:spPr>
          <a:xfrm>
            <a:off x="274320" y="914400"/>
            <a:ext cx="4114800" cy="384048"/>
          </a:xfrm>
          <a:prstGeom prst="rect">
            <a:avLst/>
          </a:prstGeom>
          <a:solidFill>
            <a:srgbClr val="0E4D8B"/>
          </a:solidFill>
          <a:ln/>
        </p:spPr>
      </p:sp>
      <p:sp>
        <p:nvSpPr>
          <p:cNvPr id="5" name="Text 3"/>
          <p:cNvSpPr/>
          <p:nvPr/>
        </p:nvSpPr>
        <p:spPr>
          <a:xfrm>
            <a:off x="365760" y="923544"/>
            <a:ext cx="3931920" cy="36576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  Code Profiling</a:t>
            </a:r>
            <a:endParaRPr lang="en-US" sz="1400" dirty="0"/>
          </a:p>
        </p:txBody>
      </p:sp>
      <p:sp>
        <p:nvSpPr>
          <p:cNvPr id="6" name="Text 4"/>
          <p:cNvSpPr/>
          <p:nvPr/>
        </p:nvSpPr>
        <p:spPr>
          <a:xfrm>
            <a:off x="365760" y="1371600"/>
            <a:ext cx="3931920" cy="3337560"/>
          </a:xfrm>
          <a:prstGeom prst="rect">
            <a:avLst/>
          </a:prstGeom>
          <a:noFill/>
          <a:ln/>
        </p:spPr>
        <p:txBody>
          <a:bodyPr wrap="square" rtlCol="0" anchor="t"/>
          <a:lstStyle/>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Run cProfile before optimising anything</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Use SnakeViz to visualise the hot path</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Use line_profiler once you know the slow function</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Check memory with memory_profiler if jobs OOM</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Re-profile after fixing to confirm the speedup</a:t>
            </a:r>
            <a:endParaRPr lang="en-US" sz="1150" dirty="0"/>
          </a:p>
        </p:txBody>
      </p:sp>
      <p:sp>
        <p:nvSpPr>
          <p:cNvPr id="7" name="Shape 5"/>
          <p:cNvSpPr/>
          <p:nvPr/>
        </p:nvSpPr>
        <p:spPr>
          <a:xfrm>
            <a:off x="4754880" y="914400"/>
            <a:ext cx="4114800" cy="384048"/>
          </a:xfrm>
          <a:prstGeom prst="rect">
            <a:avLst/>
          </a:prstGeom>
          <a:solidFill>
            <a:srgbClr val="1A6B4A"/>
          </a:solidFill>
          <a:ln/>
        </p:spPr>
      </p:sp>
      <p:sp>
        <p:nvSpPr>
          <p:cNvPr id="8" name="Text 6"/>
          <p:cNvSpPr/>
          <p:nvPr/>
        </p:nvSpPr>
        <p:spPr>
          <a:xfrm>
            <a:off x="4846320" y="923544"/>
            <a:ext cx="3931920" cy="36576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  Cluster Practices</a:t>
            </a:r>
            <a:endParaRPr lang="en-US" sz="1400" dirty="0"/>
          </a:p>
        </p:txBody>
      </p:sp>
      <p:sp>
        <p:nvSpPr>
          <p:cNvPr id="9" name="Text 7"/>
          <p:cNvSpPr/>
          <p:nvPr/>
        </p:nvSpPr>
        <p:spPr>
          <a:xfrm>
            <a:off x="4846320" y="1371600"/>
            <a:ext cx="3931920" cy="3337560"/>
          </a:xfrm>
          <a:prstGeom prst="rect">
            <a:avLst/>
          </a:prstGeom>
          <a:noFill/>
          <a:ln/>
        </p:spPr>
        <p:txBody>
          <a:bodyPr wrap="square" rtlCol="0" anchor="t"/>
          <a:lstStyle/>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Use job arrays, not bash loops of sbatch</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Copy data to $TMPDIR for fast local I/O</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Add checkpoint/resume for long jobs</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Pin exact environment (environment.yml or container)</a:t>
            </a:r>
            <a:endParaRPr lang="en-US" sz="1150" dirty="0"/>
          </a:p>
          <a:p>
            <a:pPr marL="342900" indent="-342900">
              <a:buSzPct val="100000"/>
              <a:buChar char="•"/>
            </a:pPr>
            <a:r>
              <a:rPr lang="en-US" sz="1150" dirty="0">
                <a:solidFill>
                  <a:srgbClr val="D4E8FF"/>
                </a:solidFill>
                <a:latin typeface="Calibri" pitchFamily="34" charset="0"/>
                <a:ea typeface="Calibri" pitchFamily="34" charset="-122"/>
                <a:cs typeface="Calibri" pitchFamily="34" charset="-120"/>
              </a:rPr>
              <a:t>Check seff — aim for &gt;70% CPU &amp; memory efficiency</a:t>
            </a:r>
            <a:endParaRPr lang="en-US" sz="1150" dirty="0"/>
          </a:p>
        </p:txBody>
      </p:sp>
      <p:sp>
        <p:nvSpPr>
          <p:cNvPr id="10" name="Shape 8"/>
          <p:cNvSpPr/>
          <p:nvPr/>
        </p:nvSpPr>
        <p:spPr>
          <a:xfrm>
            <a:off x="4526280" y="914400"/>
            <a:ext cx="45720" cy="3840480"/>
          </a:xfrm>
          <a:prstGeom prst="rect">
            <a:avLst/>
          </a:prstGeom>
          <a:solidFill>
            <a:srgbClr val="33446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Profiling &amp; Cluster Good Practices</dc:title>
  <dc:subject>PptxGenJS Presentation</dc:subject>
  <dc:creator>PptxGenJS</dc:creator>
  <cp:lastModifiedBy>PptxGenJS</cp:lastModifiedBy>
  <cp:revision>1</cp:revision>
  <dcterms:created xsi:type="dcterms:W3CDTF">2026-05-22T10:50:24Z</dcterms:created>
  <dcterms:modified xsi:type="dcterms:W3CDTF">2026-05-22T10:50:24Z</dcterms:modified>
</cp:coreProperties>
</file>