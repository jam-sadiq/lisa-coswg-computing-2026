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097280"/>
            <a:ext cx="3474720" cy="3474720"/>
          </a:xfrm>
          <a:prstGeom prst="ellipse">
            <a:avLst/>
          </a:prstGeom>
          <a:solidFill>
            <a:srgbClr val="0D7EC7">
              <a:alpha val="18000"/>
            </a:srgbClr>
          </a:solidFill>
          <a:ln w="12700">
            <a:solidFill>
              <a:srgbClr val="00C8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548640"/>
            <a:ext cx="2194560" cy="2194560"/>
          </a:xfrm>
          <a:prstGeom prst="ellipse">
            <a:avLst/>
          </a:prstGeom>
          <a:solidFill>
            <a:srgbClr val="00C8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4023360"/>
            <a:ext cx="2011680" cy="2011680"/>
          </a:xfrm>
          <a:prstGeom prst="ellipse">
            <a:avLst/>
          </a:prstGeom>
          <a:solidFill>
            <a:srgbClr val="00C8FF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926080" y="292608"/>
            <a:ext cx="3291840" cy="256032"/>
          </a:xfrm>
          <a:prstGeom prst="roundRect">
            <a:avLst>
              <a:gd name="adj" fmla="val 17857"/>
            </a:avLst>
          </a:prstGeom>
          <a:solidFill>
            <a:srgbClr val="00C8FF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0" y="2926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EISTY ET AL. · ARXIV:2507.16166 ·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77724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10 Essential Guidelines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C8FF"/>
                </a:solidFill>
              </a:rPr>
              <a:t>for Building High-Quality Research Software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2423160"/>
            <a:ext cx="8138160" cy="0"/>
          </a:xfrm>
          <a:prstGeom prst="line">
            <a:avLst/>
          </a:prstGeom>
          <a:noFill/>
          <a:ln w="12700">
            <a:solidFill>
              <a:srgbClr val="00C8FF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78608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</a:rPr>
              <a:t>Research software underpins modern science — yet it is often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</a:rPr>
              <a:t>underdocumented, untested, and hard to reproduce. These ten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</a:rPr>
              <a:t>guidelines give developers a practical framework to build software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</a:rPr>
              <a:t>that is robust, collaborative, and built to last.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263347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0C8FF"/>
                </a:solidFill>
              </a:rPr>
              <a:t>10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178040" y="26700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Core Guidelines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0" y="32918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0C8FF"/>
                </a:solidFill>
              </a:rPr>
              <a:t>∞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178040" y="332841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Legacy Support Tips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395020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0C8FF"/>
                </a:solidFill>
              </a:rPr>
              <a:t>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178040" y="398678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Shared Goal: Reproducibility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06070"/>
                </a:solidFill>
              </a:rPr>
              <a:t>Nasir U. Eisty · David E. Bernholdt · Alex Koufos · David J. Luet · Miranda Mundt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783080" cy="256032"/>
          </a:xfrm>
          <a:prstGeom prst="roundRect">
            <a:avLst>
              <a:gd name="adj" fmla="val 17857"/>
            </a:avLst>
          </a:prstGeom>
          <a:solidFill>
            <a:srgbClr val="00C8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GUIDELINES 1–4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Building the Foundation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4114800" cy="173736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70432"/>
            <a:ext cx="64008" cy="173736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280160"/>
            <a:ext cx="384048" cy="320040"/>
          </a:xfrm>
          <a:prstGeom prst="roundRect">
            <a:avLst>
              <a:gd name="adj" fmla="val 17143"/>
            </a:avLst>
          </a:prstGeom>
          <a:solidFill>
            <a:srgbClr val="0D7EC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8016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2801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</a:rPr>
              <a:t>Plan Before You Code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664208"/>
            <a:ext cx="38587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Define the problem, scope, and architecture before writing a single line. Use Agile techniques (user stories, sprints, Kanban), identify existing tools to avoid re-inventing the wheel, and anticipate risks up front.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1170432"/>
            <a:ext cx="4114800" cy="173736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170432"/>
            <a:ext cx="64008" cy="173736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1280160"/>
            <a:ext cx="384048" cy="320040"/>
          </a:xfrm>
          <a:prstGeom prst="roundRect">
            <a:avLst>
              <a:gd name="adj" fmla="val 17143"/>
            </a:avLst>
          </a:prstGeom>
          <a:solidFill>
            <a:srgbClr val="0D7EC7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28016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12801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</a:rPr>
              <a:t>Design for Modularity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1664208"/>
            <a:ext cx="38587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Break software into self-contained, reusable components with clear inputs and outputs. Encapsulation reduces inter-module dependencies, making bugs easier to isolate and features easier to swap.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2999232"/>
            <a:ext cx="4114800" cy="173736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999232"/>
            <a:ext cx="64008" cy="173736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108960"/>
            <a:ext cx="384048" cy="320040"/>
          </a:xfrm>
          <a:prstGeom prst="roundRect">
            <a:avLst>
              <a:gd name="adj" fmla="val 17143"/>
            </a:avLst>
          </a:prstGeom>
          <a:solidFill>
            <a:srgbClr val="0D7EC7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10896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31089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</a:rPr>
              <a:t>Write Clean &amp; Readable Code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493008"/>
            <a:ext cx="38587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Adopt consistent coding standards enforced by linters (Flake8, ESLint). Each function should do one thing. Use descriptive names, avoid duplication, and comment the 'why' — not the 'what'.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17720" y="2999232"/>
            <a:ext cx="4114800" cy="173736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2999232"/>
            <a:ext cx="64008" cy="173736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754880" y="3108960"/>
            <a:ext cx="384048" cy="320040"/>
          </a:xfrm>
          <a:prstGeom prst="roundRect">
            <a:avLst>
              <a:gd name="adj" fmla="val 17143"/>
            </a:avLst>
          </a:prstGeom>
          <a:solidFill>
            <a:srgbClr val="0D7EC7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10896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12080" y="31089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</a:rPr>
              <a:t>Use Version Control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54880" y="3493008"/>
            <a:ext cx="38587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Organise repos with clear directories. Agree on a branching strategy (Git Flow / trunk-based). Use pull requests for review, maintain a changelog, and document contribution workflows in README / CONTRIBUTING.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783080" cy="256032"/>
          </a:xfrm>
          <a:prstGeom prst="roundRect">
            <a:avLst>
              <a:gd name="adj" fmla="val 17857"/>
            </a:avLst>
          </a:prstGeom>
          <a:solidFill>
            <a:srgbClr val="00C8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GUIDELINES 5–8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Quality &amp; Collaboration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4114800" cy="173736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70432"/>
            <a:ext cx="64008" cy="173736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280160"/>
            <a:ext cx="384048" cy="320040"/>
          </a:xfrm>
          <a:prstGeom prst="roundRect">
            <a:avLst>
              <a:gd name="adj" fmla="val 17143"/>
            </a:avLst>
          </a:prstGeom>
          <a:solidFill>
            <a:srgbClr val="0D7EC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8016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2801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</a:rPr>
              <a:t>Test Your Code Regularly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664208"/>
            <a:ext cx="38587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Start with unit tests, add integration and end-to-end tests. Wire CI (GitHub Actions / Jenkins) to run tests on every push. Use code-coverage tools to find gaps. For legacy code, build integration tests from existing examples.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1170432"/>
            <a:ext cx="4114800" cy="173736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170432"/>
            <a:ext cx="64008" cy="173736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1280160"/>
            <a:ext cx="384048" cy="320040"/>
          </a:xfrm>
          <a:prstGeom prst="roundRect">
            <a:avLst>
              <a:gd name="adj" fmla="val 17143"/>
            </a:avLst>
          </a:prstGeom>
          <a:solidFill>
            <a:srgbClr val="0D7EC7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28016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12801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</a:rPr>
              <a:t>Make Peer Code Review Standard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1664208"/>
            <a:ext cx="38587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Use pull requests for all changes. Set clear review criteria: functionality, readability, test coverage, documentation. Automate style checks so reviewers focus on logic. Foster constructive, not punitive, feedback culture.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2999232"/>
            <a:ext cx="4114800" cy="173736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999232"/>
            <a:ext cx="64008" cy="173736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108960"/>
            <a:ext cx="384048" cy="320040"/>
          </a:xfrm>
          <a:prstGeom prst="roundRect">
            <a:avLst>
              <a:gd name="adj" fmla="val 17143"/>
            </a:avLst>
          </a:prstGeom>
          <a:solidFill>
            <a:srgbClr val="0D7EC7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10896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31089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</a:rPr>
              <a:t>Document Everything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493008"/>
            <a:ext cx="38587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README, installation guide, developer docs, user guide, tutorials, and architectural decision records. Tools like Sphinx / Doxygen extract in-code docs. Jupyter notebooks make interactive documentation for research software.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17720" y="2999232"/>
            <a:ext cx="4114800" cy="173736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2999232"/>
            <a:ext cx="64008" cy="173736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754880" y="3108960"/>
            <a:ext cx="384048" cy="320040"/>
          </a:xfrm>
          <a:prstGeom prst="roundRect">
            <a:avLst>
              <a:gd name="adj" fmla="val 17143"/>
            </a:avLst>
          </a:prstGeom>
          <a:solidFill>
            <a:srgbClr val="0D7EC7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10896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12080" y="31089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</a:rPr>
              <a:t>Strive for Reproducibility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54880" y="3493008"/>
            <a:ext cx="38587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Pin dependency versions, containerise environments (Docker / Conda). Use workflow managers (Snakemake / Nextflow). Version datasets with Zenodo. Re-run test suites periodically on experimental platforms.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3474720"/>
            <a:ext cx="2743200" cy="2743200"/>
          </a:xfrm>
          <a:prstGeom prst="ellipse">
            <a:avLst/>
          </a:prstGeom>
          <a:solidFill>
            <a:srgbClr val="00C8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2377440" cy="256032"/>
          </a:xfrm>
          <a:prstGeom prst="roundRect">
            <a:avLst>
              <a:gd name="adj" fmla="val 17857"/>
            </a:avLst>
          </a:prstGeom>
          <a:solidFill>
            <a:srgbClr val="00C8FF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GUIDELINES 9–10 · TAKEAWAY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Performance, Maintenance &amp; Impact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4114800" cy="169164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70432"/>
            <a:ext cx="64008" cy="169164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280160"/>
            <a:ext cx="384048" cy="320040"/>
          </a:xfrm>
          <a:prstGeom prst="roundRect">
            <a:avLst>
              <a:gd name="adj" fmla="val 17143"/>
            </a:avLst>
          </a:prstGeom>
          <a:solidFill>
            <a:srgbClr val="0D7EC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8016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2801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</a:rPr>
              <a:t>Pay Attention to Performance &amp; Scalability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664208"/>
            <a:ext cx="385876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Profile first (cProfile, Perf), then optimise only confirmed bottlenecks. Consider parallel processing (MPI, GPU, Dask) for large-scale problems. Document benchmarks so users know the limits. Remember: premature optimisation is the root of all evil.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1170432"/>
            <a:ext cx="4114800" cy="1691640"/>
          </a:xfrm>
          <a:prstGeom prst="rect">
            <a:avLst/>
          </a:prstGeom>
          <a:solidFill>
            <a:srgbClr val="12204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170432"/>
            <a:ext cx="64008" cy="169164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1280160"/>
            <a:ext cx="384048" cy="320040"/>
          </a:xfrm>
          <a:prstGeom prst="roundRect">
            <a:avLst>
              <a:gd name="adj" fmla="val 17143"/>
            </a:avLst>
          </a:prstGeom>
          <a:solidFill>
            <a:srgbClr val="0D7EC7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28016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12080" y="12801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</a:rPr>
              <a:t>Plan for Long-Term Maintenance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1664208"/>
            <a:ext cx="385876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Automate CI/CD pipelines. Keep dependencies fresh (Dependabot). Document coding standards and workflows for future contributors. For open-source: publish CONTRIBUTING.md, label good-first-issues, and archive gracefully when no longer active.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3017520"/>
            <a:ext cx="8321040" cy="1600200"/>
          </a:xfrm>
          <a:prstGeom prst="rect">
            <a:avLst/>
          </a:prstGeom>
          <a:solidFill>
            <a:srgbClr val="103A6E"/>
          </a:solidFill>
          <a:ln/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017520"/>
            <a:ext cx="91440" cy="16002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090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8FF"/>
                </a:solidFill>
              </a:rPr>
              <a:t>KEY TAKEAWAY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336499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High-quality research software is not a luxury — it is the bedrock of reproducible science.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94360" y="3785616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</a:rPr>
              <a:t>These ten guidelines span the full development lifecycle — from the first whiteboard sketch to long-term community stewardship. </a:t>
            </a:r>
            <a:pPr indent="0" marL="0">
              <a:buNone/>
            </a:pPr>
            <a:r>
              <a:rPr lang="en-US" sz="1150" b="1" dirty="0">
                <a:solidFill>
                  <a:srgbClr val="00C8FF"/>
                </a:solidFill>
              </a:rPr>
              <a:t>Research Software Engineers (RSEs)</a:t>
            </a:r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</a:rPr>
              <a:t> are key facilitators: they translate these principles into practice, mentor teams, and embed a culture of software excellence across disciplines.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1148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405060"/>
                </a:solidFill>
              </a:rPr>
              <a:t>Full paper · arXiv:2507.16166v1 · IEEE Computing in Science and Engineering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 Essential Guidelines for Research Software</dc:title>
  <dc:subject>PptxGenJS Presentation</dc:subject>
  <dc:creator>PptxGenJS</dc:creator>
  <cp:lastModifiedBy>PptxGenJS</cp:lastModifiedBy>
  <cp:revision>1</cp:revision>
  <dcterms:created xsi:type="dcterms:W3CDTF">2026-05-27T20:07:13Z</dcterms:created>
  <dcterms:modified xsi:type="dcterms:W3CDTF">2026-05-27T20:07:13Z</dcterms:modified>
</cp:coreProperties>
</file>