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Introduction (~1 min)
Welcome everyone. Today's session is practical and hands-on. We're going to cover three of the most popular AI coding tools — Claude, ChatGPT/GPT-4, and GitHub Copilot — and focus on how they can genuinely speed up your research coding, but also the real risks and pitfalls if you use them carelessly.
By the end you'll have a clear mental model of when to trust AI output and when to be skeptical — and you'll get to practice with a short exercise.
No prior experience with AI tools required. If you already use them daily, there will still be pitfalls in here you may not have thought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Agenda (~1 min)
Here's the plan for our 30 minutes together.
We'll start with a very quick tour of the three main tools and how they differ, then spend most of our time on practical examples from research coding — things like writing a data cleaning script, debugging a tricky error, or understanding someone else's code. 
The most important section is the pitfalls — these are the things that catch people out, especially when they're new to these tools. We'll end with a short exercise where you get to try things yourself.
Feel free to ask questions throughout — this is meant to be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The Tools (~3 min)
These are the three tools we'll focus on today — though the principles apply to any AI coding assistant.
CLAUDE (claude.ai) is made by Anthropic. It's particularly good with long, nuanced conversations. You can paste a whole script and ask it to explain or rewrite parts. It's thoughtful about edge cases.
CHATGPT/GPT-4 from OpenAI is the one most people have heard of. Very capable for quick scripting, broad knowledge. The free version uses GPT-3.5; GPT-4 is much better for code and available on the paid plan.
GITHUB COPILOT is different — it lives inside your editor (VS Code, JetBrains, etc.) and gives suggestions as you type, like a very smart autocomplete. It's especially good for staying in your coding flow. It costs ~$10/month but GitHub offers it free for researchers with an academic email — check github.com/education.
All three are genuinely useful. In practice, many researchers end up using a combination — Copilot in the editor for fast completions, and Claude or ChatGPT in a chat window for bigger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What AI can do (~4 min)
Let's make this concrete. Here are six things AI tools are genuinely good at for researchers who code.
1. BOILERPLATE: The most common use. You know what you want; you just don't want to write the scaffolding. AI writes it in seconds. You review it and run it.
2. ERRORS: This is huge. Paste your full error message. AI is excellent at explaining what went wrong and why — especially for tricky library errors that are hard to Google.
3. UNDERSTANDING CODE: Many researchers inherit code from supervisors, collaborators, or papers. AI can walk you through it and explain what each part does.
4. REFACTORING: "This works but it's slow" is a great prompt. AI is especially good at vectorizing Python for loops into NumPy operations, which can be orders of magnitude faster.
5. TESTS: If you're publishing code, having tests matters. AI can write the test scaffolding if you describe what a function should do.
6. TRANSLATION: Moving from R to Python or vice versa is very common in research. AI handles this well — though you should always validate the output carefully.
KEY POINT TO MAKE: Notice that in all these cases, YOU are reviewing and validating the output. AI is a very fast junior collaborator — you are still the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Prompting well (~3 min)
The quality of what you get back is almost entirely determined by the quality of your prompt. This is the single most practical skill you can develop.
WEAK PROMPT: "write me a function to clean data" — this is extremely common. The AI will write something, but it'll be generic and almost certainly not what you actually need.
STRONG PROMPT: You can see it's much more specific. Language, library, exact column names, expected behaviour, and even a request for a summary so you can verify it.
TIPS TO SHARE:
- Always specify the language and library (Python + pandas, R + tidyverse, etc.)
- Give example input/output if the task is complex
- Tell it what constraints you have ("the dataset has 1M rows, so efficiency matters")
- Ask it to explain what it did — this helps you catch mistakes
- You can also paste an error traceback and say "explain this error and how to fix it" — that works very well
One more thing: treat it like a conversation. If the first answer isn't right, say "that doesn't work because X" and continue. You don't need to start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Pitfalls overview (~1 min)
This is the most important part of the session. These are the four main pitfalls — we'll go into each of them.
The overarching theme is: AI code is not production-ready by default. It needs your expert eyes on it.
A survey found that 67% of developers who relied heavily on AI without proper understanding introduced significant bugs in production. For research, the stakes are high — wrong results can invalidate findings.
Let's go through each pitfall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Pitfall 1 — Confident but wrong (~3 min)
This is the most dangerous pitfall because it's invisible.
The code shown here runs perfectly. No errors. It looks right. But it's computing the mean and standard deviation on the FULL dataset — including the outliers — before filtering them out. That means the cutoff thresholds are biased by the very values you're trying to remove.
For proper iterative outlier removal, you'd need to recompute the statistics after filtering. But AI didn't know to do that unless you specified it precisely.
WHY DOES THIS HAPPEN?
AI models predict what code "looks like" — they don't execute it or reason through the math. They produce plausible-looking output based on patterns in training data.
WHAT TO DO:
1. Always test with known inputs where you know the expected output
2. For statistical operations, verify the logic manually or against a reference
3. Ask AI to EXPLAIN what the code does step by step — this often reveals errors
4. If the result matters for your research, validate it against an independent method
The newer models (GPT-4, Claude 3.5+) are better at catching these errors, but they still happen — especially with domain-specific logic that wasn't well-represented in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Security + Privacy (~3 min)
Two related pitfalls: the code AI generates can have security holes, AND the data you send to AI tools is leaving your computer.
SECURITY ISSUES:
- AI very commonly suggests hardcoded API keys and credentials. Never do this. Use environment variables.
- For web-connected code, AI may generate SQL or shell commands that are vulnerable to injection attacks.
- AI's training has a cutoff — it won't know about vulnerabilities discovered after that date.
- OpenSSF (the Open Source Security Foundation) has published a guide specifically about how to instruct AI tools to produce more secure code — worth checking.
DATA PRIVACY — this is critical for researchers:
- Everything you type in the chat window is sent to Anthropic/OpenAI/GitHub's servers.
- For free tiers, this data may be used for model training.
- If you're working with medical data, human subjects data, or anything under GDPR — you CANNOT paste real data into these public tools.
- Use synthetic examples that have the same structure as your data but with made-up values.
- Many universities (UPF, UB, UAB, etc.) now have institutional Microsoft/Azure accounts that include a privacy-compliant version of Copilot — check with your IT department.
KEY MESSAGE: AI tools are fine for methodology questions, code structure, debugging — but treat them like a public conversation, because that's effectively what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Outdated info + Over-trust (~2 min)
Two more pitfalls to mention quickly.
OUTDATED KNOWLEDGE:
AI models are trained on data up to a certain date. ChatGPT-4's cutoff is early 2024; Claude's is mid-2025. Libraries change. NumPy 2.0 introduced many breaking changes. Pandas 2.0 changed how certain operations work. AI may suggest approaches that worked two years ago but now raise deprecation warnings or flat-out errors.
→ Fix: if something doesn't work, check the official docs. Don't assume the AI's code is current.
OVER-TRUST / SKILL EROSION:
This is the subtler long-term risk. If you're always copying AI output without reading it, you start to lose the ability to catch its mistakes. You also lose the learning that comes from struggling through a problem yourself.
The advice from most experienced AI users: use AI to be FASTER, not to skip understanding. Ask it to explain what it does. Push back when something seems off. Use it like a fast colleague, not a black box.
A recent IEEE article noted that some teams are finding AI coding assistants are "getting worse" at certain tasks — not because the models regressed, but because newer models produce subtly wrong code that passes initial tests. The ability to catch that requires your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Best practices (~2 min)
Let's flip from pitfalls to solutions. Here's a quick four-area checklist to keep in mind.
PROMPTING: The more specific you are, the better the output. Think of it like writing a methodological section — precision matters.
REVIEWING: Treat AI code like a code review submission from a junior colleague. You'd read it, right? Same here. Test it. Break it on purpose.
PRIVACY: This can't be stressed enough for researchers. Your data has ethical obligations attached. Treat the AI chat window like a public forum.
STAYING SHARP: The goal is to be a better researcher who works faster, not someone who outsources their thinking. AI should amplify your expertise, not replace it.
You might want to take a photo of this slide or write these down — this is what to come back to when you're using these tools in your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Exercise (~5 min)
Okay, let's make this practical. You have about 5 minutes.
If you have your own coding task you want to try — something real from your work — go ahead and try it. Use claude.ai or chatgpt.com. Focus on writing a specific, detailed prompt.
If you'd rather use our sample: it's a realistic data analysis task. Paste the prompt shown here. Then — crucially — ask it to explain what each step does. See if the explanation makes sense to you. Think about what edge cases you'd test.
After you run the task, a few things to reflect on:
1. Did the code do what you expected?
2. Could you spot any potential issues?
3. Did asking for an explanation reveal anything you hadn't noticed?
[Give people 4-5 min, then do a quick show of hands: who got something useful? who found something unexpected or wrong?]
This exercise usually produces one of two reactions: "wow this is amazingly fast" or "hmm that's not quite right" — both are valid and both are instructive.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Takeaways (~2 min)
Let me close with five things I'd want you to remember from today.
1. AI is a collaborator, not an authority. It will produce confident, plausible-looking output that is sometimes wrong. Your job is to be the expert in the room.
2. Prompt quality drives output quality. The specific example we showed is the difference between getting generic rubbish and getting something actually useful.
3. Testing is not optional. If you wouldn't accept untested code from a colleague, don't accept it from an AI.
4. Data privacy is a real constraint for researchers. Make it a habit to use synthetic data in AI prompts. Your ethics approval didn't include sending participant data to an external API.
5. The goal is expertise + speed, not speed alone. The researchers who benefit most from these tools are the ones who understand their domain well enough to catch mistakes.
Any final questions? If you want to go deeper, the resources on the next slide are a good starting point — and the OpenSSF guide on AI coding security is particularly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Resources (~1 min)
A few pointers for going further.
TOOLS: Claude and ChatGPT both have free tiers that are perfectly adequate for most research coding tasks. GitHub Copilot is free for researchers — sign up with your academic email at github.com/education and get access within a day or two.
GUIDES: The OpenSSF security guide is specifically about writing custom instructions to make AI coding tools produce more secure output — very practical. The 'Beyond the Vibes' post is a longer read but genuinely good. Anthropic's prompt engineering docs are the best systematic guide to getting better results from Claude specifically.
WATCH OUT FOR: Check your institution's policy first. And the two articles mentioned will give you a realistic picture of how these tools fail in practice.
Thank you —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891B2"/>
          </a:solidFill>
          <a:ln/>
        </p:spPr>
      </p:sp>
      <p:sp>
        <p:nvSpPr>
          <p:cNvPr id="3" name="Shape 1"/>
          <p:cNvSpPr/>
          <p:nvPr/>
        </p:nvSpPr>
        <p:spPr>
          <a:xfrm>
            <a:off x="6858000" y="-1097280"/>
            <a:ext cx="4114800" cy="4114800"/>
          </a:xfrm>
          <a:prstGeom prst="ellipse">
            <a:avLst/>
          </a:prstGeom>
          <a:solidFill>
            <a:srgbClr val="0E4D8B">
              <a:alpha val="25000"/>
            </a:srgbClr>
          </a:solidFill>
          <a:ln w="12700">
            <a:solidFill>
              <a:srgbClr val="0E4D8B">
                <a:alpha val="25000"/>
              </a:srgbClr>
            </a:solidFill>
            <a:prstDash val="solid"/>
          </a:ln>
        </p:spPr>
      </p:sp>
      <p:sp>
        <p:nvSpPr>
          <p:cNvPr id="4" name="Shape 2"/>
          <p:cNvSpPr/>
          <p:nvPr/>
        </p:nvSpPr>
        <p:spPr>
          <a:xfrm>
            <a:off x="7498080" y="-457200"/>
            <a:ext cx="2743200" cy="2743200"/>
          </a:xfrm>
          <a:prstGeom prst="ellipse">
            <a:avLst/>
          </a:prstGeom>
          <a:solidFill>
            <a:srgbClr val="0891B2">
              <a:alpha val="20000"/>
            </a:srgbClr>
          </a:solidFill>
          <a:ln w="12700">
            <a:solidFill>
              <a:srgbClr val="0891B2">
                <a:alpha val="20000"/>
              </a:srgbClr>
            </a:solidFill>
            <a:prstDash val="solid"/>
          </a:ln>
        </p:spPr>
      </p:sp>
      <p:sp>
        <p:nvSpPr>
          <p:cNvPr id="5" name="Text 3"/>
          <p:cNvSpPr/>
          <p:nvPr/>
        </p:nvSpPr>
        <p:spPr>
          <a:xfrm>
            <a:off x="457200" y="640080"/>
            <a:ext cx="7772400" cy="2011680"/>
          </a:xfrm>
          <a:prstGeom prst="rect">
            <a:avLst/>
          </a:prstGeom>
          <a:noFill/>
          <a:ln/>
        </p:spPr>
        <p:txBody>
          <a:bodyPr wrap="square" rtlCol="0" anchor="t"/>
          <a:lstStyle/>
          <a:p>
            <a:pPr algn="l" indent="0" marL="0">
              <a:buNone/>
            </a:pPr>
            <a:r>
              <a:rPr lang="en-US" sz="4000" b="1" dirty="0">
                <a:solidFill>
                  <a:srgbClr val="FFFFFF"/>
                </a:solidFill>
                <a:latin typeface="Georgia" pitchFamily="34" charset="0"/>
                <a:ea typeface="Georgia" pitchFamily="34" charset="-122"/>
                <a:cs typeface="Georgia" pitchFamily="34" charset="-120"/>
              </a:rPr>
              <a:t>Using AI Tools for</a:t>
            </a:r>
            <a:endParaRPr lang="en-US" sz="4000" dirty="0"/>
          </a:p>
          <a:p>
            <a:pPr algn="l" indent="0" marL="0">
              <a:buNone/>
            </a:pPr>
            <a:r>
              <a:rPr lang="en-US" sz="4000" b="1" dirty="0">
                <a:solidFill>
                  <a:srgbClr val="FFFFFF"/>
                </a:solidFill>
                <a:latin typeface="Georgia" pitchFamily="34" charset="0"/>
                <a:ea typeface="Georgia" pitchFamily="34" charset="-122"/>
                <a:cs typeface="Georgia" pitchFamily="34" charset="-120"/>
              </a:rPr>
              <a:t>Research Code</a:t>
            </a:r>
            <a:endParaRPr lang="en-US" sz="4000" dirty="0"/>
          </a:p>
        </p:txBody>
      </p:sp>
      <p:sp>
        <p:nvSpPr>
          <p:cNvPr id="6" name="Text 4"/>
          <p:cNvSpPr/>
          <p:nvPr/>
        </p:nvSpPr>
        <p:spPr>
          <a:xfrm>
            <a:off x="457200" y="2651760"/>
            <a:ext cx="7772400" cy="640080"/>
          </a:xfrm>
          <a:prstGeom prst="rect">
            <a:avLst/>
          </a:prstGeom>
          <a:noFill/>
          <a:ln/>
        </p:spPr>
        <p:txBody>
          <a:bodyPr wrap="square" rtlCol="0" anchor="ctr"/>
          <a:lstStyle/>
          <a:p>
            <a:pPr algn="l" indent="0" marL="0">
              <a:buNone/>
            </a:pPr>
            <a:r>
              <a:rPr lang="en-US" sz="1800" i="1" dirty="0">
                <a:solidFill>
                  <a:srgbClr val="A8C8E8"/>
                </a:solidFill>
                <a:latin typeface="Calibri" pitchFamily="34" charset="0"/>
                <a:ea typeface="Calibri" pitchFamily="34" charset="-122"/>
                <a:cs typeface="Calibri" pitchFamily="34" charset="-120"/>
              </a:rPr>
              <a:t>How to use them effectively — and what to watch out for</a:t>
            </a:r>
            <a:endParaRPr lang="en-US" sz="1800" dirty="0"/>
          </a:p>
        </p:txBody>
      </p:sp>
      <p:sp>
        <p:nvSpPr>
          <p:cNvPr id="7" name="Shape 5"/>
          <p:cNvSpPr/>
          <p:nvPr/>
        </p:nvSpPr>
        <p:spPr>
          <a:xfrm>
            <a:off x="457200" y="3337560"/>
            <a:ext cx="5029200" cy="36576"/>
          </a:xfrm>
          <a:prstGeom prst="rect">
            <a:avLst/>
          </a:prstGeom>
          <a:solidFill>
            <a:srgbClr val="0891B2"/>
          </a:solidFill>
          <a:ln/>
        </p:spPr>
      </p:sp>
      <p:sp>
        <p:nvSpPr>
          <p:cNvPr id="8" name="Text 6"/>
          <p:cNvSpPr/>
          <p:nvPr/>
        </p:nvSpPr>
        <p:spPr>
          <a:xfrm>
            <a:off x="457200" y="3474720"/>
            <a:ext cx="8229600" cy="365760"/>
          </a:xfrm>
          <a:prstGeom prst="rect">
            <a:avLst/>
          </a:prstGeom>
          <a:noFill/>
          <a:ln/>
        </p:spPr>
        <p:txBody>
          <a:bodyPr wrap="square" rtlCol="0" anchor="ctr"/>
          <a:lstStyle/>
          <a:p>
            <a:pPr algn="l" indent="0" marL="0">
              <a:buNone/>
            </a:pPr>
            <a:r>
              <a:rPr lang="en-US" sz="1400" dirty="0">
                <a:solidFill>
                  <a:srgbClr val="7BAFD4"/>
                </a:solidFill>
                <a:latin typeface="Calibri" pitchFamily="34" charset="0"/>
                <a:ea typeface="Calibri" pitchFamily="34" charset="-122"/>
                <a:cs typeface="Calibri" pitchFamily="34" charset="-120"/>
              </a:rPr>
              <a:t>30-min session for PhD students &amp; postdocs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Today's Session</a:t>
            </a:r>
            <a:endParaRPr lang="en-US" sz="3000" dirty="0"/>
          </a:p>
        </p:txBody>
      </p:sp>
      <p:sp>
        <p:nvSpPr>
          <p:cNvPr id="4" name="Shape 2"/>
          <p:cNvSpPr/>
          <p:nvPr/>
        </p:nvSpPr>
        <p:spPr>
          <a:xfrm>
            <a:off x="320040" y="960120"/>
            <a:ext cx="8503920" cy="868680"/>
          </a:xfrm>
          <a:prstGeom prst="rect">
            <a:avLst/>
          </a:prstGeom>
          <a:solidFill>
            <a:srgbClr val="FFFFFF"/>
          </a:solidFill>
          <a:ln w="6350">
            <a:solidFill>
              <a:srgbClr val="E0ECF8"/>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20040" y="960120"/>
            <a:ext cx="73152" cy="868680"/>
          </a:xfrm>
          <a:prstGeom prst="rect">
            <a:avLst/>
          </a:prstGeom>
          <a:solidFill>
            <a:srgbClr val="0891B2"/>
          </a:solidFill>
          <a:ln/>
        </p:spPr>
      </p:sp>
      <p:sp>
        <p:nvSpPr>
          <p:cNvPr id="6" name="Shape 4"/>
          <p:cNvSpPr/>
          <p:nvPr/>
        </p:nvSpPr>
        <p:spPr>
          <a:xfrm>
            <a:off x="502920" y="1188720"/>
            <a:ext cx="777240" cy="402336"/>
          </a:xfrm>
          <a:prstGeom prst="roundRect">
            <a:avLst>
              <a:gd name="adj" fmla="val 11364"/>
            </a:avLst>
          </a:prstGeom>
          <a:solidFill>
            <a:srgbClr val="0891B2">
              <a:alpha val="15000"/>
            </a:srgbClr>
          </a:solidFill>
          <a:ln/>
        </p:spPr>
      </p:sp>
      <p:sp>
        <p:nvSpPr>
          <p:cNvPr id="7" name="Text 5"/>
          <p:cNvSpPr/>
          <p:nvPr/>
        </p:nvSpPr>
        <p:spPr>
          <a:xfrm>
            <a:off x="502920" y="1188720"/>
            <a:ext cx="777240" cy="402336"/>
          </a:xfrm>
          <a:prstGeom prst="rect">
            <a:avLst/>
          </a:prstGeom>
          <a:noFill/>
          <a:ln/>
        </p:spPr>
        <p:txBody>
          <a:bodyPr wrap="square" rtlCol="0" anchor="ctr"/>
          <a:lstStyle/>
          <a:p>
            <a:pPr algn="ctr" indent="0" marL="0">
              <a:buNone/>
            </a:pPr>
            <a:r>
              <a:rPr lang="en-US" sz="1100" b="1" dirty="0">
                <a:solidFill>
                  <a:srgbClr val="0891B2"/>
                </a:solidFill>
                <a:latin typeface="Calibri" pitchFamily="34" charset="0"/>
                <a:ea typeface="Calibri" pitchFamily="34" charset="-122"/>
                <a:cs typeface="Calibri" pitchFamily="34" charset="-120"/>
              </a:rPr>
              <a:t>5 min</a:t>
            </a:r>
            <a:endParaRPr lang="en-US" sz="1100" dirty="0"/>
          </a:p>
        </p:txBody>
      </p:sp>
      <p:sp>
        <p:nvSpPr>
          <p:cNvPr id="8" name="Text 6"/>
          <p:cNvSpPr/>
          <p:nvPr/>
        </p:nvSpPr>
        <p:spPr>
          <a:xfrm>
            <a:off x="1417320" y="1051560"/>
            <a:ext cx="7040880" cy="347472"/>
          </a:xfrm>
          <a:prstGeom prst="rect">
            <a:avLst/>
          </a:prstGeom>
          <a:noFill/>
          <a:ln/>
        </p:spPr>
        <p:txBody>
          <a:bodyPr wrap="square" rtlCol="0" anchor="t"/>
          <a:lstStyle/>
          <a:p>
            <a:pPr indent="0" marL="0">
              <a:buNone/>
            </a:pPr>
            <a:r>
              <a:rPr lang="en-US" sz="1500" b="1" dirty="0">
                <a:solidFill>
                  <a:srgbClr val="1A2B4A"/>
                </a:solidFill>
                <a:latin typeface="Georgia" pitchFamily="34" charset="0"/>
                <a:ea typeface="Georgia" pitchFamily="34" charset="-122"/>
                <a:cs typeface="Georgia" pitchFamily="34" charset="-120"/>
              </a:rPr>
              <a:t>What are the tools?</a:t>
            </a:r>
            <a:endParaRPr lang="en-US" sz="1500" dirty="0"/>
          </a:p>
        </p:txBody>
      </p:sp>
      <p:sp>
        <p:nvSpPr>
          <p:cNvPr id="9" name="Text 7"/>
          <p:cNvSpPr/>
          <p:nvPr/>
        </p:nvSpPr>
        <p:spPr>
          <a:xfrm>
            <a:off x="1417320" y="1399032"/>
            <a:ext cx="7040880" cy="329184"/>
          </a:xfrm>
          <a:prstGeom prst="rect">
            <a:avLst/>
          </a:prstGeom>
          <a:noFill/>
          <a:ln/>
        </p:spPr>
        <p:txBody>
          <a:bodyPr wrap="square" rtlCol="0" anchor="t"/>
          <a:lstStyle/>
          <a:p>
            <a:pPr indent="0" marL="0">
              <a:buNone/>
            </a:pPr>
            <a:r>
              <a:rPr lang="en-US" sz="1200" dirty="0">
                <a:solidFill>
                  <a:srgbClr val="5577A0"/>
                </a:solidFill>
                <a:latin typeface="Calibri" pitchFamily="34" charset="0"/>
                <a:ea typeface="Calibri" pitchFamily="34" charset="-122"/>
                <a:cs typeface="Calibri" pitchFamily="34" charset="-120"/>
              </a:rPr>
              <a:t>Claude, ChatGPT/GPT-4, GitHub Copilot — and what each is best for</a:t>
            </a:r>
            <a:endParaRPr lang="en-US" sz="1200" dirty="0"/>
          </a:p>
        </p:txBody>
      </p:sp>
      <p:sp>
        <p:nvSpPr>
          <p:cNvPr id="10" name="Shape 8"/>
          <p:cNvSpPr/>
          <p:nvPr/>
        </p:nvSpPr>
        <p:spPr>
          <a:xfrm>
            <a:off x="320040" y="1947672"/>
            <a:ext cx="8503920" cy="868680"/>
          </a:xfrm>
          <a:prstGeom prst="rect">
            <a:avLst/>
          </a:prstGeom>
          <a:solidFill>
            <a:srgbClr val="FFFFFF"/>
          </a:solidFill>
          <a:ln w="6350">
            <a:solidFill>
              <a:srgbClr val="E0ECF8"/>
            </a:solidFill>
            <a:prstDash val="solid"/>
          </a:ln>
          <a:effectLst>
            <a:outerShdw sx="100000" sy="100000" kx="0" ky="0" algn="bl" rotWithShape="0" blurRad="76200" dist="25400" dir="8100000">
              <a:srgbClr val="000000">
                <a:alpha val="12000"/>
              </a:srgbClr>
            </a:outerShdw>
          </a:effectLst>
        </p:spPr>
      </p:sp>
      <p:sp>
        <p:nvSpPr>
          <p:cNvPr id="11" name="Shape 9"/>
          <p:cNvSpPr/>
          <p:nvPr/>
        </p:nvSpPr>
        <p:spPr>
          <a:xfrm>
            <a:off x="320040" y="1947672"/>
            <a:ext cx="73152" cy="868680"/>
          </a:xfrm>
          <a:prstGeom prst="rect">
            <a:avLst/>
          </a:prstGeom>
          <a:solidFill>
            <a:srgbClr val="0E4D8B"/>
          </a:solidFill>
          <a:ln/>
        </p:spPr>
      </p:sp>
      <p:sp>
        <p:nvSpPr>
          <p:cNvPr id="12" name="Shape 10"/>
          <p:cNvSpPr/>
          <p:nvPr/>
        </p:nvSpPr>
        <p:spPr>
          <a:xfrm>
            <a:off x="502920" y="2176272"/>
            <a:ext cx="777240" cy="402336"/>
          </a:xfrm>
          <a:prstGeom prst="roundRect">
            <a:avLst>
              <a:gd name="adj" fmla="val 11364"/>
            </a:avLst>
          </a:prstGeom>
          <a:solidFill>
            <a:srgbClr val="0E4D8B">
              <a:alpha val="15000"/>
            </a:srgbClr>
          </a:solidFill>
          <a:ln/>
        </p:spPr>
      </p:sp>
      <p:sp>
        <p:nvSpPr>
          <p:cNvPr id="13" name="Text 11"/>
          <p:cNvSpPr/>
          <p:nvPr/>
        </p:nvSpPr>
        <p:spPr>
          <a:xfrm>
            <a:off x="502920" y="2176272"/>
            <a:ext cx="777240" cy="402336"/>
          </a:xfrm>
          <a:prstGeom prst="rect">
            <a:avLst/>
          </a:prstGeom>
          <a:noFill/>
          <a:ln/>
        </p:spPr>
        <p:txBody>
          <a:bodyPr wrap="square" rtlCol="0" anchor="ctr"/>
          <a:lstStyle/>
          <a:p>
            <a:pPr algn="ctr" indent="0" marL="0">
              <a:buNone/>
            </a:pPr>
            <a:r>
              <a:rPr lang="en-US" sz="1100" b="1" dirty="0">
                <a:solidFill>
                  <a:srgbClr val="0E4D8B"/>
                </a:solidFill>
                <a:latin typeface="Calibri" pitchFamily="34" charset="0"/>
                <a:ea typeface="Calibri" pitchFamily="34" charset="-122"/>
                <a:cs typeface="Calibri" pitchFamily="34" charset="-120"/>
              </a:rPr>
              <a:t>10 min</a:t>
            </a:r>
            <a:endParaRPr lang="en-US" sz="1100" dirty="0"/>
          </a:p>
        </p:txBody>
      </p:sp>
      <p:sp>
        <p:nvSpPr>
          <p:cNvPr id="14" name="Text 12"/>
          <p:cNvSpPr/>
          <p:nvPr/>
        </p:nvSpPr>
        <p:spPr>
          <a:xfrm>
            <a:off x="1417320" y="2039112"/>
            <a:ext cx="7040880" cy="347472"/>
          </a:xfrm>
          <a:prstGeom prst="rect">
            <a:avLst/>
          </a:prstGeom>
          <a:noFill/>
          <a:ln/>
        </p:spPr>
        <p:txBody>
          <a:bodyPr wrap="square" rtlCol="0" anchor="t"/>
          <a:lstStyle/>
          <a:p>
            <a:pPr indent="0" marL="0">
              <a:buNone/>
            </a:pPr>
            <a:r>
              <a:rPr lang="en-US" sz="1500" b="1" dirty="0">
                <a:solidFill>
                  <a:srgbClr val="1A2B4A"/>
                </a:solidFill>
                <a:latin typeface="Georgia" pitchFamily="34" charset="0"/>
                <a:ea typeface="Georgia" pitchFamily="34" charset="-122"/>
                <a:cs typeface="Georgia" pitchFamily="34" charset="-120"/>
              </a:rPr>
              <a:t>What AI can do for your code</a:t>
            </a:r>
            <a:endParaRPr lang="en-US" sz="1500" dirty="0"/>
          </a:p>
        </p:txBody>
      </p:sp>
      <p:sp>
        <p:nvSpPr>
          <p:cNvPr id="15" name="Text 13"/>
          <p:cNvSpPr/>
          <p:nvPr/>
        </p:nvSpPr>
        <p:spPr>
          <a:xfrm>
            <a:off x="1417320" y="2386584"/>
            <a:ext cx="7040880" cy="329184"/>
          </a:xfrm>
          <a:prstGeom prst="rect">
            <a:avLst/>
          </a:prstGeom>
          <a:noFill/>
          <a:ln/>
        </p:spPr>
        <p:txBody>
          <a:bodyPr wrap="square" rtlCol="0" anchor="t"/>
          <a:lstStyle/>
          <a:p>
            <a:pPr indent="0" marL="0">
              <a:buNone/>
            </a:pPr>
            <a:r>
              <a:rPr lang="en-US" sz="1200" dirty="0">
                <a:solidFill>
                  <a:srgbClr val="5577A0"/>
                </a:solidFill>
                <a:latin typeface="Calibri" pitchFamily="34" charset="0"/>
                <a:ea typeface="Calibri" pitchFamily="34" charset="-122"/>
                <a:cs typeface="Calibri" pitchFamily="34" charset="-120"/>
              </a:rPr>
              <a:t>Real examples from research: writing scripts, explaining errors, refactoring</a:t>
            </a:r>
            <a:endParaRPr lang="en-US" sz="1200" dirty="0"/>
          </a:p>
        </p:txBody>
      </p:sp>
      <p:sp>
        <p:nvSpPr>
          <p:cNvPr id="16" name="Shape 14"/>
          <p:cNvSpPr/>
          <p:nvPr/>
        </p:nvSpPr>
        <p:spPr>
          <a:xfrm>
            <a:off x="320040" y="2935224"/>
            <a:ext cx="8503920" cy="868680"/>
          </a:xfrm>
          <a:prstGeom prst="rect">
            <a:avLst/>
          </a:prstGeom>
          <a:solidFill>
            <a:srgbClr val="FFFFFF"/>
          </a:solidFill>
          <a:ln w="6350">
            <a:solidFill>
              <a:srgbClr val="E0ECF8"/>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320040" y="2935224"/>
            <a:ext cx="73152" cy="868680"/>
          </a:xfrm>
          <a:prstGeom prst="rect">
            <a:avLst/>
          </a:prstGeom>
          <a:solidFill>
            <a:srgbClr val="E87C2A"/>
          </a:solidFill>
          <a:ln/>
        </p:spPr>
      </p:sp>
      <p:sp>
        <p:nvSpPr>
          <p:cNvPr id="18" name="Shape 16"/>
          <p:cNvSpPr/>
          <p:nvPr/>
        </p:nvSpPr>
        <p:spPr>
          <a:xfrm>
            <a:off x="502920" y="3163824"/>
            <a:ext cx="777240" cy="402336"/>
          </a:xfrm>
          <a:prstGeom prst="roundRect">
            <a:avLst>
              <a:gd name="adj" fmla="val 11364"/>
            </a:avLst>
          </a:prstGeom>
          <a:solidFill>
            <a:srgbClr val="E87C2A">
              <a:alpha val="15000"/>
            </a:srgbClr>
          </a:solidFill>
          <a:ln/>
        </p:spPr>
      </p:sp>
      <p:sp>
        <p:nvSpPr>
          <p:cNvPr id="19" name="Text 17"/>
          <p:cNvSpPr/>
          <p:nvPr/>
        </p:nvSpPr>
        <p:spPr>
          <a:xfrm>
            <a:off x="502920" y="3163824"/>
            <a:ext cx="777240" cy="402336"/>
          </a:xfrm>
          <a:prstGeom prst="rect">
            <a:avLst/>
          </a:prstGeom>
          <a:noFill/>
          <a:ln/>
        </p:spPr>
        <p:txBody>
          <a:bodyPr wrap="square" rtlCol="0" anchor="ctr"/>
          <a:lstStyle/>
          <a:p>
            <a:pPr algn="ctr" indent="0" marL="0">
              <a:buNone/>
            </a:pPr>
            <a:r>
              <a:rPr lang="en-US" sz="1100" b="1" dirty="0">
                <a:solidFill>
                  <a:srgbClr val="E87C2A"/>
                </a:solidFill>
                <a:latin typeface="Calibri" pitchFamily="34" charset="0"/>
                <a:ea typeface="Calibri" pitchFamily="34" charset="-122"/>
                <a:cs typeface="Calibri" pitchFamily="34" charset="-120"/>
              </a:rPr>
              <a:t>10 min</a:t>
            </a:r>
            <a:endParaRPr lang="en-US" sz="1100" dirty="0"/>
          </a:p>
        </p:txBody>
      </p:sp>
      <p:sp>
        <p:nvSpPr>
          <p:cNvPr id="20" name="Text 18"/>
          <p:cNvSpPr/>
          <p:nvPr/>
        </p:nvSpPr>
        <p:spPr>
          <a:xfrm>
            <a:off x="1417320" y="3026664"/>
            <a:ext cx="7040880" cy="347472"/>
          </a:xfrm>
          <a:prstGeom prst="rect">
            <a:avLst/>
          </a:prstGeom>
          <a:noFill/>
          <a:ln/>
        </p:spPr>
        <p:txBody>
          <a:bodyPr wrap="square" rtlCol="0" anchor="t"/>
          <a:lstStyle/>
          <a:p>
            <a:pPr indent="0" marL="0">
              <a:buNone/>
            </a:pPr>
            <a:r>
              <a:rPr lang="en-US" sz="1500" b="1" dirty="0">
                <a:solidFill>
                  <a:srgbClr val="1A2B4A"/>
                </a:solidFill>
                <a:latin typeface="Georgia" pitchFamily="34" charset="0"/>
                <a:ea typeface="Georgia" pitchFamily="34" charset="-122"/>
                <a:cs typeface="Georgia" pitchFamily="34" charset="-120"/>
              </a:rPr>
              <a:t>Pitfalls &amp; what to watch out for</a:t>
            </a:r>
            <a:endParaRPr lang="en-US" sz="1500" dirty="0"/>
          </a:p>
        </p:txBody>
      </p:sp>
      <p:sp>
        <p:nvSpPr>
          <p:cNvPr id="21" name="Text 19"/>
          <p:cNvSpPr/>
          <p:nvPr/>
        </p:nvSpPr>
        <p:spPr>
          <a:xfrm>
            <a:off x="1417320" y="3374136"/>
            <a:ext cx="7040880" cy="329184"/>
          </a:xfrm>
          <a:prstGeom prst="rect">
            <a:avLst/>
          </a:prstGeom>
          <a:noFill/>
          <a:ln/>
        </p:spPr>
        <p:txBody>
          <a:bodyPr wrap="square" rtlCol="0" anchor="t"/>
          <a:lstStyle/>
          <a:p>
            <a:pPr indent="0" marL="0">
              <a:buNone/>
            </a:pPr>
            <a:r>
              <a:rPr lang="en-US" sz="1200" dirty="0">
                <a:solidFill>
                  <a:srgbClr val="5577A0"/>
                </a:solidFill>
                <a:latin typeface="Calibri" pitchFamily="34" charset="0"/>
                <a:ea typeface="Calibri" pitchFamily="34" charset="-122"/>
                <a:cs typeface="Calibri" pitchFamily="34" charset="-120"/>
              </a:rPr>
              <a:t>Bugs, hallucinations, security, data privacy, and over-trust</a:t>
            </a:r>
            <a:endParaRPr lang="en-US" sz="1200" dirty="0"/>
          </a:p>
        </p:txBody>
      </p:sp>
      <p:sp>
        <p:nvSpPr>
          <p:cNvPr id="22" name="Shape 20"/>
          <p:cNvSpPr/>
          <p:nvPr/>
        </p:nvSpPr>
        <p:spPr>
          <a:xfrm>
            <a:off x="320040" y="3922776"/>
            <a:ext cx="8503920" cy="868680"/>
          </a:xfrm>
          <a:prstGeom prst="rect">
            <a:avLst/>
          </a:prstGeom>
          <a:solidFill>
            <a:srgbClr val="FFFFFF"/>
          </a:solidFill>
          <a:ln w="6350">
            <a:solidFill>
              <a:srgbClr val="E0ECF8"/>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320040" y="3922776"/>
            <a:ext cx="73152" cy="868680"/>
          </a:xfrm>
          <a:prstGeom prst="rect">
            <a:avLst/>
          </a:prstGeom>
          <a:solidFill>
            <a:srgbClr val="1A9E6E"/>
          </a:solidFill>
          <a:ln/>
        </p:spPr>
      </p:sp>
      <p:sp>
        <p:nvSpPr>
          <p:cNvPr id="24" name="Shape 22"/>
          <p:cNvSpPr/>
          <p:nvPr/>
        </p:nvSpPr>
        <p:spPr>
          <a:xfrm>
            <a:off x="502920" y="4151376"/>
            <a:ext cx="777240" cy="402336"/>
          </a:xfrm>
          <a:prstGeom prst="roundRect">
            <a:avLst>
              <a:gd name="adj" fmla="val 11364"/>
            </a:avLst>
          </a:prstGeom>
          <a:solidFill>
            <a:srgbClr val="1A9E6E">
              <a:alpha val="15000"/>
            </a:srgbClr>
          </a:solidFill>
          <a:ln/>
        </p:spPr>
      </p:sp>
      <p:sp>
        <p:nvSpPr>
          <p:cNvPr id="25" name="Text 23"/>
          <p:cNvSpPr/>
          <p:nvPr/>
        </p:nvSpPr>
        <p:spPr>
          <a:xfrm>
            <a:off x="502920" y="4151376"/>
            <a:ext cx="777240" cy="402336"/>
          </a:xfrm>
          <a:prstGeom prst="rect">
            <a:avLst/>
          </a:prstGeom>
          <a:noFill/>
          <a:ln/>
        </p:spPr>
        <p:txBody>
          <a:bodyPr wrap="square" rtlCol="0" anchor="ctr"/>
          <a:lstStyle/>
          <a:p>
            <a:pPr algn="ctr" indent="0" marL="0">
              <a:buNone/>
            </a:pPr>
            <a:r>
              <a:rPr lang="en-US" sz="1100" b="1" dirty="0">
                <a:solidFill>
                  <a:srgbClr val="1A9E6E"/>
                </a:solidFill>
                <a:latin typeface="Calibri" pitchFamily="34" charset="0"/>
                <a:ea typeface="Calibri" pitchFamily="34" charset="-122"/>
                <a:cs typeface="Calibri" pitchFamily="34" charset="-120"/>
              </a:rPr>
              <a:t>5 min</a:t>
            </a:r>
            <a:endParaRPr lang="en-US" sz="1100" dirty="0"/>
          </a:p>
        </p:txBody>
      </p:sp>
      <p:sp>
        <p:nvSpPr>
          <p:cNvPr id="26" name="Text 24"/>
          <p:cNvSpPr/>
          <p:nvPr/>
        </p:nvSpPr>
        <p:spPr>
          <a:xfrm>
            <a:off x="1417320" y="4014216"/>
            <a:ext cx="7040880" cy="347472"/>
          </a:xfrm>
          <a:prstGeom prst="rect">
            <a:avLst/>
          </a:prstGeom>
          <a:noFill/>
          <a:ln/>
        </p:spPr>
        <p:txBody>
          <a:bodyPr wrap="square" rtlCol="0" anchor="t"/>
          <a:lstStyle/>
          <a:p>
            <a:pPr indent="0" marL="0">
              <a:buNone/>
            </a:pPr>
            <a:r>
              <a:rPr lang="en-US" sz="1500" b="1" dirty="0">
                <a:solidFill>
                  <a:srgbClr val="1A2B4A"/>
                </a:solidFill>
                <a:latin typeface="Georgia" pitchFamily="34" charset="0"/>
                <a:ea typeface="Georgia" pitchFamily="34" charset="-122"/>
                <a:cs typeface="Georgia" pitchFamily="34" charset="-120"/>
              </a:rPr>
              <a:t>Hands-on exercise</a:t>
            </a:r>
            <a:endParaRPr lang="en-US" sz="1500" dirty="0"/>
          </a:p>
        </p:txBody>
      </p:sp>
      <p:sp>
        <p:nvSpPr>
          <p:cNvPr id="27" name="Text 25"/>
          <p:cNvSpPr/>
          <p:nvPr/>
        </p:nvSpPr>
        <p:spPr>
          <a:xfrm>
            <a:off x="1417320" y="4361688"/>
            <a:ext cx="7040880" cy="329184"/>
          </a:xfrm>
          <a:prstGeom prst="rect">
            <a:avLst/>
          </a:prstGeom>
          <a:noFill/>
          <a:ln/>
        </p:spPr>
        <p:txBody>
          <a:bodyPr wrap="square" rtlCol="0" anchor="t"/>
          <a:lstStyle/>
          <a:p>
            <a:pPr indent="0" marL="0">
              <a:buNone/>
            </a:pPr>
            <a:r>
              <a:rPr lang="en-US" sz="1200" dirty="0">
                <a:solidFill>
                  <a:srgbClr val="5577A0"/>
                </a:solidFill>
                <a:latin typeface="Calibri" pitchFamily="34" charset="0"/>
                <a:ea typeface="Calibri" pitchFamily="34" charset="-122"/>
                <a:cs typeface="Calibri" pitchFamily="34" charset="-120"/>
              </a:rPr>
              <a:t>You try it — bring a small coding problem or use ours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Main Tools</a:t>
            </a:r>
            <a:endParaRPr lang="en-US" sz="3000" dirty="0"/>
          </a:p>
        </p:txBody>
      </p:sp>
      <p:sp>
        <p:nvSpPr>
          <p:cNvPr id="4" name="Shape 2"/>
          <p:cNvSpPr/>
          <p:nvPr/>
        </p:nvSpPr>
        <p:spPr>
          <a:xfrm>
            <a:off x="182880" y="914400"/>
            <a:ext cx="2834640" cy="388620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2834640" cy="457200"/>
          </a:xfrm>
          <a:prstGeom prst="rect">
            <a:avLst/>
          </a:prstGeom>
          <a:solidFill>
            <a:srgbClr val="0891B2"/>
          </a:solidFill>
          <a:ln/>
        </p:spPr>
      </p:sp>
      <p:sp>
        <p:nvSpPr>
          <p:cNvPr id="6" name="Text 4"/>
          <p:cNvSpPr/>
          <p:nvPr/>
        </p:nvSpPr>
        <p:spPr>
          <a:xfrm>
            <a:off x="274320" y="932688"/>
            <a:ext cx="2651760" cy="420624"/>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Claude</a:t>
            </a:r>
            <a:endParaRPr lang="en-US" sz="1500" dirty="0"/>
          </a:p>
        </p:txBody>
      </p:sp>
      <p:sp>
        <p:nvSpPr>
          <p:cNvPr id="7" name="Text 5"/>
          <p:cNvSpPr/>
          <p:nvPr/>
        </p:nvSpPr>
        <p:spPr>
          <a:xfrm>
            <a:off x="274320" y="1417320"/>
            <a:ext cx="2651760" cy="274320"/>
          </a:xfrm>
          <a:prstGeom prst="rect">
            <a:avLst/>
          </a:prstGeom>
          <a:noFill/>
          <a:ln/>
        </p:spPr>
        <p:txBody>
          <a:bodyPr wrap="square" rtlCol="0" anchor="ctr"/>
          <a:lstStyle/>
          <a:p>
            <a:pPr algn="ctr" indent="0" marL="0">
              <a:buNone/>
            </a:pPr>
            <a:r>
              <a:rPr lang="en-US" sz="1100" i="1" dirty="0">
                <a:solidFill>
                  <a:srgbClr val="7799BB"/>
                </a:solidFill>
                <a:latin typeface="Calibri" pitchFamily="34" charset="0"/>
                <a:ea typeface="Calibri" pitchFamily="34" charset="-122"/>
                <a:cs typeface="Calibri" pitchFamily="34" charset="-120"/>
              </a:rPr>
              <a:t>Anthropic</a:t>
            </a:r>
            <a:endParaRPr lang="en-US" sz="1100" dirty="0"/>
          </a:p>
        </p:txBody>
      </p:sp>
      <p:sp>
        <p:nvSpPr>
          <p:cNvPr id="8" name="Shape 6"/>
          <p:cNvSpPr/>
          <p:nvPr/>
        </p:nvSpPr>
        <p:spPr>
          <a:xfrm>
            <a:off x="274320" y="3246120"/>
            <a:ext cx="2651760" cy="36576"/>
          </a:xfrm>
          <a:prstGeom prst="rect">
            <a:avLst/>
          </a:prstGeom>
          <a:solidFill>
            <a:srgbClr val="D8E8F4"/>
          </a:solidFill>
          <a:ln/>
        </p:spPr>
      </p:sp>
      <p:sp>
        <p:nvSpPr>
          <p:cNvPr id="9" name="Text 7"/>
          <p:cNvSpPr/>
          <p:nvPr/>
        </p:nvSpPr>
        <p:spPr>
          <a:xfrm>
            <a:off x="320040" y="3337560"/>
            <a:ext cx="2606040" cy="256032"/>
          </a:xfrm>
          <a:prstGeom prst="rect">
            <a:avLst/>
          </a:prstGeom>
          <a:noFill/>
          <a:ln/>
        </p:spPr>
        <p:txBody>
          <a:bodyPr wrap="square"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Best for:</a:t>
            </a:r>
            <a:endParaRPr lang="en-US" sz="1000" dirty="0"/>
          </a:p>
        </p:txBody>
      </p:sp>
      <p:sp>
        <p:nvSpPr>
          <p:cNvPr id="10" name="Text 8"/>
          <p:cNvSpPr/>
          <p:nvPr/>
        </p:nvSpPr>
        <p:spPr>
          <a:xfrm>
            <a:off x="320040" y="3566160"/>
            <a:ext cx="2606040" cy="548640"/>
          </a:xfrm>
          <a:prstGeom prst="rect">
            <a:avLst/>
          </a:prstGeom>
          <a:noFill/>
          <a:ln/>
        </p:spPr>
        <p:txBody>
          <a:bodyPr wrap="square" rtlCol="0" anchor="ctr"/>
          <a:lstStyle/>
          <a:p>
            <a:pPr indent="0" marL="0">
              <a:buNone/>
            </a:pPr>
            <a:r>
              <a:rPr lang="en-US" sz="1050" i="1" dirty="0">
                <a:solidFill>
                  <a:srgbClr val="4A6688"/>
                </a:solidFill>
                <a:latin typeface="Calibri" pitchFamily="34" charset="0"/>
                <a:ea typeface="Calibri" pitchFamily="34" charset="-122"/>
                <a:cs typeface="Calibri" pitchFamily="34" charset="-120"/>
              </a:rPr>
              <a:t>Explaining code, reviewing logic, working with large codebases</a:t>
            </a:r>
            <a:endParaRPr lang="en-US" sz="1050" dirty="0"/>
          </a:p>
        </p:txBody>
      </p:sp>
      <p:sp>
        <p:nvSpPr>
          <p:cNvPr id="11" name="Shape 9"/>
          <p:cNvSpPr/>
          <p:nvPr/>
        </p:nvSpPr>
        <p:spPr>
          <a:xfrm>
            <a:off x="3154680" y="914400"/>
            <a:ext cx="2834640" cy="388620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54680" y="914400"/>
            <a:ext cx="2834640" cy="457200"/>
          </a:xfrm>
          <a:prstGeom prst="rect">
            <a:avLst/>
          </a:prstGeom>
          <a:solidFill>
            <a:srgbClr val="1A6B4A"/>
          </a:solidFill>
          <a:ln/>
        </p:spPr>
      </p:sp>
      <p:sp>
        <p:nvSpPr>
          <p:cNvPr id="13" name="Text 11"/>
          <p:cNvSpPr/>
          <p:nvPr/>
        </p:nvSpPr>
        <p:spPr>
          <a:xfrm>
            <a:off x="3246120" y="932688"/>
            <a:ext cx="2651760" cy="420624"/>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ChatGPT / GPT-4</a:t>
            </a:r>
            <a:endParaRPr lang="en-US" sz="1500" dirty="0"/>
          </a:p>
        </p:txBody>
      </p:sp>
      <p:sp>
        <p:nvSpPr>
          <p:cNvPr id="14" name="Text 12"/>
          <p:cNvSpPr/>
          <p:nvPr/>
        </p:nvSpPr>
        <p:spPr>
          <a:xfrm>
            <a:off x="3246120" y="1417320"/>
            <a:ext cx="2651760" cy="274320"/>
          </a:xfrm>
          <a:prstGeom prst="rect">
            <a:avLst/>
          </a:prstGeom>
          <a:noFill/>
          <a:ln/>
        </p:spPr>
        <p:txBody>
          <a:bodyPr wrap="square" rtlCol="0" anchor="ctr"/>
          <a:lstStyle/>
          <a:p>
            <a:pPr algn="ctr" indent="0" marL="0">
              <a:buNone/>
            </a:pPr>
            <a:r>
              <a:rPr lang="en-US" sz="1100" i="1" dirty="0">
                <a:solidFill>
                  <a:srgbClr val="7799BB"/>
                </a:solidFill>
                <a:latin typeface="Calibri" pitchFamily="34" charset="0"/>
                <a:ea typeface="Calibri" pitchFamily="34" charset="-122"/>
                <a:cs typeface="Calibri" pitchFamily="34" charset="-120"/>
              </a:rPr>
              <a:t>OpenAI</a:t>
            </a:r>
            <a:endParaRPr lang="en-US" sz="1100" dirty="0"/>
          </a:p>
        </p:txBody>
      </p:sp>
      <p:sp>
        <p:nvSpPr>
          <p:cNvPr id="15" name="Shape 13"/>
          <p:cNvSpPr/>
          <p:nvPr/>
        </p:nvSpPr>
        <p:spPr>
          <a:xfrm>
            <a:off x="3246120" y="3246120"/>
            <a:ext cx="2651760" cy="36576"/>
          </a:xfrm>
          <a:prstGeom prst="rect">
            <a:avLst/>
          </a:prstGeom>
          <a:solidFill>
            <a:srgbClr val="D8E8F4"/>
          </a:solidFill>
          <a:ln/>
        </p:spPr>
      </p:sp>
      <p:sp>
        <p:nvSpPr>
          <p:cNvPr id="16" name="Text 14"/>
          <p:cNvSpPr/>
          <p:nvPr/>
        </p:nvSpPr>
        <p:spPr>
          <a:xfrm>
            <a:off x="3291840" y="3337560"/>
            <a:ext cx="2606040" cy="256032"/>
          </a:xfrm>
          <a:prstGeom prst="rect">
            <a:avLst/>
          </a:prstGeom>
          <a:noFill/>
          <a:ln/>
        </p:spPr>
        <p:txBody>
          <a:bodyPr wrap="square" rtlCol="0" anchor="ctr"/>
          <a:lstStyle/>
          <a:p>
            <a:pPr indent="0" marL="0">
              <a:buNone/>
            </a:pPr>
            <a:r>
              <a:rPr lang="en-US" sz="1000" b="1" dirty="0">
                <a:solidFill>
                  <a:srgbClr val="1A6B4A"/>
                </a:solidFill>
                <a:latin typeface="Calibri" pitchFamily="34" charset="0"/>
                <a:ea typeface="Calibri" pitchFamily="34" charset="-122"/>
                <a:cs typeface="Calibri" pitchFamily="34" charset="-120"/>
              </a:rPr>
              <a:t>Best for:</a:t>
            </a:r>
            <a:endParaRPr lang="en-US" sz="1000" dirty="0"/>
          </a:p>
        </p:txBody>
      </p:sp>
      <p:sp>
        <p:nvSpPr>
          <p:cNvPr id="17" name="Text 15"/>
          <p:cNvSpPr/>
          <p:nvPr/>
        </p:nvSpPr>
        <p:spPr>
          <a:xfrm>
            <a:off x="3291840" y="3566160"/>
            <a:ext cx="2606040" cy="548640"/>
          </a:xfrm>
          <a:prstGeom prst="rect">
            <a:avLst/>
          </a:prstGeom>
          <a:noFill/>
          <a:ln/>
        </p:spPr>
        <p:txBody>
          <a:bodyPr wrap="square" rtlCol="0" anchor="ctr"/>
          <a:lstStyle/>
          <a:p>
            <a:pPr indent="0" marL="0">
              <a:buNone/>
            </a:pPr>
            <a:r>
              <a:rPr lang="en-US" sz="1050" i="1" dirty="0">
                <a:solidFill>
                  <a:srgbClr val="4A6688"/>
                </a:solidFill>
                <a:latin typeface="Calibri" pitchFamily="34" charset="0"/>
                <a:ea typeface="Calibri" pitchFamily="34" charset="-122"/>
                <a:cs typeface="Calibri" pitchFamily="34" charset="-120"/>
              </a:rPr>
              <a:t>General scripting, quick prototypes, broad technical questions</a:t>
            </a:r>
            <a:endParaRPr lang="en-US" sz="1050" dirty="0"/>
          </a:p>
        </p:txBody>
      </p:sp>
      <p:sp>
        <p:nvSpPr>
          <p:cNvPr id="18" name="Shape 16"/>
          <p:cNvSpPr/>
          <p:nvPr/>
        </p:nvSpPr>
        <p:spPr>
          <a:xfrm>
            <a:off x="6126480" y="914400"/>
            <a:ext cx="2834640" cy="388620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6126480" y="914400"/>
            <a:ext cx="2834640" cy="457200"/>
          </a:xfrm>
          <a:prstGeom prst="rect">
            <a:avLst/>
          </a:prstGeom>
          <a:solidFill>
            <a:srgbClr val="3B3B6A"/>
          </a:solidFill>
          <a:ln/>
        </p:spPr>
      </p:sp>
      <p:sp>
        <p:nvSpPr>
          <p:cNvPr id="20" name="Text 18"/>
          <p:cNvSpPr/>
          <p:nvPr/>
        </p:nvSpPr>
        <p:spPr>
          <a:xfrm>
            <a:off x="6217920" y="932688"/>
            <a:ext cx="2651760" cy="420624"/>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GitHub Copilot</a:t>
            </a:r>
            <a:endParaRPr lang="en-US" sz="1500" dirty="0"/>
          </a:p>
        </p:txBody>
      </p:sp>
      <p:sp>
        <p:nvSpPr>
          <p:cNvPr id="21" name="Text 19"/>
          <p:cNvSpPr/>
          <p:nvPr/>
        </p:nvSpPr>
        <p:spPr>
          <a:xfrm>
            <a:off x="6217920" y="1417320"/>
            <a:ext cx="2651760" cy="274320"/>
          </a:xfrm>
          <a:prstGeom prst="rect">
            <a:avLst/>
          </a:prstGeom>
          <a:noFill/>
          <a:ln/>
        </p:spPr>
        <p:txBody>
          <a:bodyPr wrap="square" rtlCol="0" anchor="ctr"/>
          <a:lstStyle/>
          <a:p>
            <a:pPr algn="ctr" indent="0" marL="0">
              <a:buNone/>
            </a:pPr>
            <a:r>
              <a:rPr lang="en-US" sz="1100" i="1" dirty="0">
                <a:solidFill>
                  <a:srgbClr val="7799BB"/>
                </a:solidFill>
                <a:latin typeface="Calibri" pitchFamily="34" charset="0"/>
                <a:ea typeface="Calibri" pitchFamily="34" charset="-122"/>
                <a:cs typeface="Calibri" pitchFamily="34" charset="-120"/>
              </a:rPr>
              <a:t>GitHub / Microsoft</a:t>
            </a:r>
            <a:endParaRPr lang="en-US" sz="1100" dirty="0"/>
          </a:p>
        </p:txBody>
      </p:sp>
      <p:sp>
        <p:nvSpPr>
          <p:cNvPr id="22" name="Shape 20"/>
          <p:cNvSpPr/>
          <p:nvPr/>
        </p:nvSpPr>
        <p:spPr>
          <a:xfrm>
            <a:off x="6217920" y="3246120"/>
            <a:ext cx="2651760" cy="36576"/>
          </a:xfrm>
          <a:prstGeom prst="rect">
            <a:avLst/>
          </a:prstGeom>
          <a:solidFill>
            <a:srgbClr val="D8E8F4"/>
          </a:solidFill>
          <a:ln/>
        </p:spPr>
      </p:sp>
      <p:sp>
        <p:nvSpPr>
          <p:cNvPr id="23" name="Text 21"/>
          <p:cNvSpPr/>
          <p:nvPr/>
        </p:nvSpPr>
        <p:spPr>
          <a:xfrm>
            <a:off x="6263640" y="3337560"/>
            <a:ext cx="2606040" cy="256032"/>
          </a:xfrm>
          <a:prstGeom prst="rect">
            <a:avLst/>
          </a:prstGeom>
          <a:noFill/>
          <a:ln/>
        </p:spPr>
        <p:txBody>
          <a:bodyPr wrap="square" rtlCol="0" anchor="ctr"/>
          <a:lstStyle/>
          <a:p>
            <a:pPr indent="0" marL="0">
              <a:buNone/>
            </a:pPr>
            <a:r>
              <a:rPr lang="en-US" sz="1000" b="1" dirty="0">
                <a:solidFill>
                  <a:srgbClr val="3B3B6A"/>
                </a:solidFill>
                <a:latin typeface="Calibri" pitchFamily="34" charset="0"/>
                <a:ea typeface="Calibri" pitchFamily="34" charset="-122"/>
                <a:cs typeface="Calibri" pitchFamily="34" charset="-120"/>
              </a:rPr>
              <a:t>Best for:</a:t>
            </a:r>
            <a:endParaRPr lang="en-US" sz="1000" dirty="0"/>
          </a:p>
        </p:txBody>
      </p:sp>
      <p:sp>
        <p:nvSpPr>
          <p:cNvPr id="24" name="Text 22"/>
          <p:cNvSpPr/>
          <p:nvPr/>
        </p:nvSpPr>
        <p:spPr>
          <a:xfrm>
            <a:off x="6263640" y="3566160"/>
            <a:ext cx="2606040" cy="548640"/>
          </a:xfrm>
          <a:prstGeom prst="rect">
            <a:avLst/>
          </a:prstGeom>
          <a:noFill/>
          <a:ln/>
        </p:spPr>
        <p:txBody>
          <a:bodyPr wrap="square" rtlCol="0" anchor="ctr"/>
          <a:lstStyle/>
          <a:p>
            <a:pPr indent="0" marL="0">
              <a:buNone/>
            </a:pPr>
            <a:r>
              <a:rPr lang="en-US" sz="1050" i="1" dirty="0">
                <a:solidFill>
                  <a:srgbClr val="4A6688"/>
                </a:solidFill>
                <a:latin typeface="Calibri" pitchFamily="34" charset="0"/>
                <a:ea typeface="Calibri" pitchFamily="34" charset="-122"/>
                <a:cs typeface="Calibri" pitchFamily="34" charset="-120"/>
              </a:rPr>
              <a:t>Completing functions, writing boilerplate, staying in flow</a:t>
            </a:r>
            <a:endParaRPr lang="en-US" sz="1050" dirty="0"/>
          </a:p>
        </p:txBody>
      </p:sp>
      <p:sp>
        <p:nvSpPr>
          <p:cNvPr id="25" name="Text 23"/>
          <p:cNvSpPr/>
          <p:nvPr/>
        </p:nvSpPr>
        <p:spPr>
          <a:xfrm>
            <a:off x="347472" y="1737360"/>
            <a:ext cx="2560320" cy="1417320"/>
          </a:xfrm>
          <a:prstGeom prst="rect">
            <a:avLst/>
          </a:prstGeom>
          <a:noFill/>
          <a:ln/>
        </p:spPr>
        <p:txBody>
          <a:bodyPr wrap="square" rtlCol="0" anchor="ctr"/>
          <a:lstStyle/>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Long documents &amp; context</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Careful, nuanced explanations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Safe for sensitive topics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claude.ai / API</a:t>
            </a:r>
            <a:endParaRPr lang="en-US" sz="1150" dirty="0"/>
          </a:p>
        </p:txBody>
      </p:sp>
      <p:sp>
        <p:nvSpPr>
          <p:cNvPr id="26" name="Text 24"/>
          <p:cNvSpPr/>
          <p:nvPr/>
        </p:nvSpPr>
        <p:spPr>
          <a:xfrm>
            <a:off x="3319272" y="1737360"/>
            <a:ext cx="2560320" cy="1417320"/>
          </a:xfrm>
          <a:prstGeom prst="rect">
            <a:avLst/>
          </a:prstGeom>
          <a:noFill/>
          <a:ln/>
        </p:spPr>
        <p:txBody>
          <a:bodyPr wrap="square" rtlCol="0" anchor="ctr"/>
          <a:lstStyle/>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Very broad knowledge</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Great for quick scripts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Plugin ecosystem</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chatgpt.com / API</a:t>
            </a:r>
            <a:endParaRPr lang="en-US" sz="1150" dirty="0"/>
          </a:p>
        </p:txBody>
      </p:sp>
      <p:sp>
        <p:nvSpPr>
          <p:cNvPr id="27" name="Text 25"/>
          <p:cNvSpPr/>
          <p:nvPr/>
        </p:nvSpPr>
        <p:spPr>
          <a:xfrm>
            <a:off x="6291072" y="1737360"/>
            <a:ext cx="2560320" cy="1417320"/>
          </a:xfrm>
          <a:prstGeom prst="rect">
            <a:avLst/>
          </a:prstGeom>
          <a:noFill/>
          <a:ln/>
        </p:spPr>
        <p:txBody>
          <a:bodyPr wrap="square" rtlCol="0" anchor="ctr"/>
          <a:lstStyle/>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Lives inside your editor</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Autocomplete as you type</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Understands your repo</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VS Code, JetBrains, etc.</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AI Can Do for Your Research Code</a:t>
            </a:r>
            <a:endParaRPr lang="en-US" sz="2800" dirty="0"/>
          </a:p>
        </p:txBody>
      </p:sp>
      <p:sp>
        <p:nvSpPr>
          <p:cNvPr id="4" name="Shape 2"/>
          <p:cNvSpPr/>
          <p:nvPr/>
        </p:nvSpPr>
        <p:spPr>
          <a:xfrm>
            <a:off x="228600" y="96012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28600" y="960120"/>
            <a:ext cx="64008" cy="1188720"/>
          </a:xfrm>
          <a:prstGeom prst="rect">
            <a:avLst/>
          </a:prstGeom>
          <a:solidFill>
            <a:srgbClr val="0891B2"/>
          </a:solidFill>
          <a:ln/>
        </p:spPr>
      </p:sp>
      <p:sp>
        <p:nvSpPr>
          <p:cNvPr id="6" name="Text 4"/>
          <p:cNvSpPr/>
          <p:nvPr/>
        </p:nvSpPr>
        <p:spPr>
          <a:xfrm>
            <a:off x="393192" y="103327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Write boilerplate fast</a:t>
            </a:r>
            <a:endParaRPr lang="en-US" sz="1300" dirty="0"/>
          </a:p>
        </p:txBody>
      </p:sp>
      <p:sp>
        <p:nvSpPr>
          <p:cNvPr id="7" name="Text 5"/>
          <p:cNvSpPr/>
          <p:nvPr/>
        </p:nvSpPr>
        <p:spPr>
          <a:xfrm>
            <a:off x="393192" y="138074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"Write a Python function to load a CSV, drop rows with missing values in column X, and return a cleaned DataFrame."</a:t>
            </a:r>
            <a:endParaRPr lang="en-US" sz="1050" dirty="0"/>
          </a:p>
        </p:txBody>
      </p:sp>
      <p:sp>
        <p:nvSpPr>
          <p:cNvPr id="8" name="Shape 6"/>
          <p:cNvSpPr/>
          <p:nvPr/>
        </p:nvSpPr>
        <p:spPr>
          <a:xfrm>
            <a:off x="4709160" y="96012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4709160" y="960120"/>
            <a:ext cx="64008" cy="1188720"/>
          </a:xfrm>
          <a:prstGeom prst="rect">
            <a:avLst/>
          </a:prstGeom>
          <a:solidFill>
            <a:srgbClr val="C0392B"/>
          </a:solidFill>
          <a:ln/>
        </p:spPr>
      </p:sp>
      <p:sp>
        <p:nvSpPr>
          <p:cNvPr id="10" name="Text 8"/>
          <p:cNvSpPr/>
          <p:nvPr/>
        </p:nvSpPr>
        <p:spPr>
          <a:xfrm>
            <a:off x="4873752" y="103327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Explain errors</a:t>
            </a:r>
            <a:endParaRPr lang="en-US" sz="1300" dirty="0"/>
          </a:p>
        </p:txBody>
      </p:sp>
      <p:sp>
        <p:nvSpPr>
          <p:cNvPr id="11" name="Text 9"/>
          <p:cNvSpPr/>
          <p:nvPr/>
        </p:nvSpPr>
        <p:spPr>
          <a:xfrm>
            <a:off x="4873752" y="138074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Paste your error traceback. AI will explain what caused it and suggest a fix — even for cryptic NumPy or R errors.</a:t>
            </a:r>
            <a:endParaRPr lang="en-US" sz="1050" dirty="0"/>
          </a:p>
        </p:txBody>
      </p:sp>
      <p:sp>
        <p:nvSpPr>
          <p:cNvPr id="12" name="Shape 10"/>
          <p:cNvSpPr/>
          <p:nvPr/>
        </p:nvSpPr>
        <p:spPr>
          <a:xfrm>
            <a:off x="228600" y="228600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228600" y="2286000"/>
            <a:ext cx="64008" cy="1188720"/>
          </a:xfrm>
          <a:prstGeom prst="rect">
            <a:avLst/>
          </a:prstGeom>
          <a:solidFill>
            <a:srgbClr val="0E4D8B"/>
          </a:solidFill>
          <a:ln/>
        </p:spPr>
      </p:sp>
      <p:sp>
        <p:nvSpPr>
          <p:cNvPr id="14" name="Text 12"/>
          <p:cNvSpPr/>
          <p:nvPr/>
        </p:nvSpPr>
        <p:spPr>
          <a:xfrm>
            <a:off x="393192" y="235915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Understand unfamiliar code</a:t>
            </a:r>
            <a:endParaRPr lang="en-US" sz="1300" dirty="0"/>
          </a:p>
        </p:txBody>
      </p:sp>
      <p:sp>
        <p:nvSpPr>
          <p:cNvPr id="15" name="Text 13"/>
          <p:cNvSpPr/>
          <p:nvPr/>
        </p:nvSpPr>
        <p:spPr>
          <a:xfrm>
            <a:off x="393192" y="270662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Inherited someone's undocumented analysis script? Ask AI to explain it section by section.</a:t>
            </a:r>
            <a:endParaRPr lang="en-US" sz="1050" dirty="0"/>
          </a:p>
        </p:txBody>
      </p:sp>
      <p:sp>
        <p:nvSpPr>
          <p:cNvPr id="16" name="Shape 14"/>
          <p:cNvSpPr/>
          <p:nvPr/>
        </p:nvSpPr>
        <p:spPr>
          <a:xfrm>
            <a:off x="4709160" y="228600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4709160" y="2286000"/>
            <a:ext cx="64008" cy="1188720"/>
          </a:xfrm>
          <a:prstGeom prst="rect">
            <a:avLst/>
          </a:prstGeom>
          <a:solidFill>
            <a:srgbClr val="1A9E6E"/>
          </a:solidFill>
          <a:ln/>
        </p:spPr>
      </p:sp>
      <p:sp>
        <p:nvSpPr>
          <p:cNvPr id="18" name="Text 16"/>
          <p:cNvSpPr/>
          <p:nvPr/>
        </p:nvSpPr>
        <p:spPr>
          <a:xfrm>
            <a:off x="4873752" y="235915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Refactor &amp; improve</a:t>
            </a:r>
            <a:endParaRPr lang="en-US" sz="1300" dirty="0"/>
          </a:p>
        </p:txBody>
      </p:sp>
      <p:sp>
        <p:nvSpPr>
          <p:cNvPr id="19" name="Text 17"/>
          <p:cNvSpPr/>
          <p:nvPr/>
        </p:nvSpPr>
        <p:spPr>
          <a:xfrm>
            <a:off x="4873752" y="270662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"This function works but it's slow. Can you suggest a more efficient approach?" Good for vectorizing loops.</a:t>
            </a:r>
            <a:endParaRPr lang="en-US" sz="1050" dirty="0"/>
          </a:p>
        </p:txBody>
      </p:sp>
      <p:sp>
        <p:nvSpPr>
          <p:cNvPr id="20" name="Shape 18"/>
          <p:cNvSpPr/>
          <p:nvPr/>
        </p:nvSpPr>
        <p:spPr>
          <a:xfrm>
            <a:off x="228600" y="361188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21" name="Shape 19"/>
          <p:cNvSpPr/>
          <p:nvPr/>
        </p:nvSpPr>
        <p:spPr>
          <a:xfrm>
            <a:off x="228600" y="3611880"/>
            <a:ext cx="64008" cy="1188720"/>
          </a:xfrm>
          <a:prstGeom prst="rect">
            <a:avLst/>
          </a:prstGeom>
          <a:solidFill>
            <a:srgbClr val="E87C2A"/>
          </a:solidFill>
          <a:ln/>
        </p:spPr>
      </p:sp>
      <p:sp>
        <p:nvSpPr>
          <p:cNvPr id="22" name="Text 20"/>
          <p:cNvSpPr/>
          <p:nvPr/>
        </p:nvSpPr>
        <p:spPr>
          <a:xfrm>
            <a:off x="393192" y="368503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Write tests</a:t>
            </a:r>
            <a:endParaRPr lang="en-US" sz="1300" dirty="0"/>
          </a:p>
        </p:txBody>
      </p:sp>
      <p:sp>
        <p:nvSpPr>
          <p:cNvPr id="23" name="Text 21"/>
          <p:cNvSpPr/>
          <p:nvPr/>
        </p:nvSpPr>
        <p:spPr>
          <a:xfrm>
            <a:off x="393192" y="403250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Ask it to write unit tests for your functions — especially useful before submitting code with a paper.</a:t>
            </a:r>
            <a:endParaRPr lang="en-US" sz="1050" dirty="0"/>
          </a:p>
        </p:txBody>
      </p:sp>
      <p:sp>
        <p:nvSpPr>
          <p:cNvPr id="24" name="Shape 22"/>
          <p:cNvSpPr/>
          <p:nvPr/>
        </p:nvSpPr>
        <p:spPr>
          <a:xfrm>
            <a:off x="4709160" y="3611880"/>
            <a:ext cx="4251960" cy="118872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25" name="Shape 23"/>
          <p:cNvSpPr/>
          <p:nvPr/>
        </p:nvSpPr>
        <p:spPr>
          <a:xfrm>
            <a:off x="4709160" y="3611880"/>
            <a:ext cx="64008" cy="1188720"/>
          </a:xfrm>
          <a:prstGeom prst="rect">
            <a:avLst/>
          </a:prstGeom>
          <a:solidFill>
            <a:srgbClr val="6D3B9E"/>
          </a:solidFill>
          <a:ln/>
        </p:spPr>
      </p:sp>
      <p:sp>
        <p:nvSpPr>
          <p:cNvPr id="26" name="Text 24"/>
          <p:cNvSpPr/>
          <p:nvPr/>
        </p:nvSpPr>
        <p:spPr>
          <a:xfrm>
            <a:off x="4873752" y="3685032"/>
            <a:ext cx="3977640" cy="347472"/>
          </a:xfrm>
          <a:prstGeom prst="rect">
            <a:avLst/>
          </a:prstGeom>
          <a:noFill/>
          <a:ln/>
        </p:spPr>
        <p:txBody>
          <a:bodyPr wrap="square" rtlCol="0" anchor="ctr"/>
          <a:lstStyle/>
          <a:p>
            <a:pPr indent="0" marL="0">
              <a:buNone/>
            </a:pPr>
            <a:r>
              <a:rPr lang="en-US" sz="1300" b="1" dirty="0">
                <a:solidFill>
                  <a:srgbClr val="1A2B4A"/>
                </a:solidFill>
                <a:latin typeface="Georgia" pitchFamily="34" charset="0"/>
                <a:ea typeface="Georgia" pitchFamily="34" charset="-122"/>
                <a:cs typeface="Georgia" pitchFamily="34" charset="-120"/>
              </a:rPr>
              <a:t>🌐  Translate between languages</a:t>
            </a:r>
            <a:endParaRPr lang="en-US" sz="1300" dirty="0"/>
          </a:p>
        </p:txBody>
      </p:sp>
      <p:sp>
        <p:nvSpPr>
          <p:cNvPr id="27" name="Text 25"/>
          <p:cNvSpPr/>
          <p:nvPr/>
        </p:nvSpPr>
        <p:spPr>
          <a:xfrm>
            <a:off x="4873752" y="4032504"/>
            <a:ext cx="3977640" cy="694944"/>
          </a:xfrm>
          <a:prstGeom prst="rect">
            <a:avLst/>
          </a:prstGeom>
          <a:noFill/>
          <a:ln/>
        </p:spPr>
        <p:txBody>
          <a:bodyPr wrap="square" rtlCol="0" anchor="ctr"/>
          <a:lstStyle/>
          <a:p>
            <a:pPr indent="0" marL="0">
              <a:buNone/>
            </a:pPr>
            <a:r>
              <a:rPr lang="en-US" sz="1050" dirty="0">
                <a:solidFill>
                  <a:srgbClr val="4A6688"/>
                </a:solidFill>
                <a:latin typeface="Calibri" pitchFamily="34" charset="0"/>
                <a:ea typeface="Calibri" pitchFamily="34" charset="-122"/>
                <a:cs typeface="Calibri" pitchFamily="34" charset="-120"/>
              </a:rPr>
              <a:t>Convert R analysis to Python, or Python to Julia. Useful for collaboration across research groups.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 Good Prompt vs. A Weak Prompt</a:t>
            </a:r>
            <a:endParaRPr lang="en-US" sz="2800" dirty="0"/>
          </a:p>
        </p:txBody>
      </p:sp>
      <p:sp>
        <p:nvSpPr>
          <p:cNvPr id="4" name="Shape 2"/>
          <p:cNvSpPr/>
          <p:nvPr/>
        </p:nvSpPr>
        <p:spPr>
          <a:xfrm>
            <a:off x="228600" y="914400"/>
            <a:ext cx="4160520" cy="3886200"/>
          </a:xfrm>
          <a:prstGeom prst="rect">
            <a:avLst/>
          </a:prstGeom>
          <a:solidFill>
            <a:srgbClr val="FFF4F4"/>
          </a:solidFill>
          <a:ln w="12700">
            <a:solidFill>
              <a:srgbClr val="F0AAAA"/>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320040" y="1005840"/>
            <a:ext cx="3931920" cy="347472"/>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  Weak prompt</a:t>
            </a:r>
            <a:endParaRPr lang="en-US" sz="1400" dirty="0"/>
          </a:p>
        </p:txBody>
      </p:sp>
      <p:sp>
        <p:nvSpPr>
          <p:cNvPr id="6" name="Text 4"/>
          <p:cNvSpPr/>
          <p:nvPr/>
        </p:nvSpPr>
        <p:spPr>
          <a:xfrm>
            <a:off x="320040" y="1417320"/>
            <a:ext cx="3931920" cy="457200"/>
          </a:xfrm>
          <a:prstGeom prst="rect">
            <a:avLst/>
          </a:prstGeom>
          <a:noFill/>
          <a:ln/>
        </p:spPr>
        <p:txBody>
          <a:bodyPr wrap="square" rtlCol="0" anchor="ctr"/>
          <a:lstStyle/>
          <a:p>
            <a:pPr indent="0" marL="0">
              <a:buNone/>
            </a:pPr>
            <a:r>
              <a:rPr lang="en-US" sz="1200" i="1" dirty="0">
                <a:solidFill>
                  <a:srgbClr val="8B3030"/>
                </a:solidFill>
                <a:latin typeface="Consolas" pitchFamily="34" charset="0"/>
                <a:ea typeface="Consolas" pitchFamily="34" charset="-122"/>
                <a:cs typeface="Consolas" pitchFamily="34" charset="-120"/>
              </a:rPr>
              <a:t>"write me a function to clean data"</a:t>
            </a:r>
            <a:endParaRPr lang="en-US" sz="1200" dirty="0"/>
          </a:p>
        </p:txBody>
      </p:sp>
      <p:sp>
        <p:nvSpPr>
          <p:cNvPr id="7" name="Shape 5"/>
          <p:cNvSpPr/>
          <p:nvPr/>
        </p:nvSpPr>
        <p:spPr>
          <a:xfrm>
            <a:off x="320040" y="1938528"/>
            <a:ext cx="3886200" cy="27432"/>
          </a:xfrm>
          <a:prstGeom prst="rect">
            <a:avLst/>
          </a:prstGeom>
          <a:solidFill>
            <a:srgbClr val="F0AAAA"/>
          </a:solidFill>
          <a:ln/>
        </p:spPr>
      </p:sp>
      <p:sp>
        <p:nvSpPr>
          <p:cNvPr id="8" name="Text 6"/>
          <p:cNvSpPr/>
          <p:nvPr/>
        </p:nvSpPr>
        <p:spPr>
          <a:xfrm>
            <a:off x="320040" y="2011680"/>
            <a:ext cx="384048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Why it fails:</a:t>
            </a:r>
            <a:endParaRPr lang="en-US" sz="1100" dirty="0"/>
          </a:p>
        </p:txBody>
      </p:sp>
      <p:sp>
        <p:nvSpPr>
          <p:cNvPr id="9" name="Text 7"/>
          <p:cNvSpPr/>
          <p:nvPr/>
        </p:nvSpPr>
        <p:spPr>
          <a:xfrm>
            <a:off x="320040" y="2304288"/>
            <a:ext cx="3840480" cy="1463040"/>
          </a:xfrm>
          <a:prstGeom prst="rect">
            <a:avLst/>
          </a:prstGeom>
          <a:noFill/>
          <a:ln/>
        </p:spPr>
        <p:txBody>
          <a:bodyPr wrap="square" rtlCol="0" anchor="ctr"/>
          <a:lstStyle/>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No language specified (Python? R? Julia?)</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"Data" is too vague — what format?</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"Clean" means nothing without context</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AI guesses — and probably guesses wrong</a:t>
            </a:r>
            <a:endParaRPr lang="en-US" sz="1150" dirty="0"/>
          </a:p>
        </p:txBody>
      </p:sp>
      <p:sp>
        <p:nvSpPr>
          <p:cNvPr id="10" name="Shape 8"/>
          <p:cNvSpPr/>
          <p:nvPr/>
        </p:nvSpPr>
        <p:spPr>
          <a:xfrm>
            <a:off x="4754880" y="914400"/>
            <a:ext cx="4160520" cy="3886200"/>
          </a:xfrm>
          <a:prstGeom prst="rect">
            <a:avLst/>
          </a:prstGeom>
          <a:solidFill>
            <a:srgbClr val="F2FBF5"/>
          </a:solidFill>
          <a:ln w="12700">
            <a:solidFill>
              <a:srgbClr val="88CCA0"/>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4846320" y="1005840"/>
            <a:ext cx="3931920" cy="347472"/>
          </a:xfrm>
          <a:prstGeom prst="rect">
            <a:avLst/>
          </a:prstGeom>
          <a:noFill/>
          <a:ln/>
        </p:spPr>
        <p:txBody>
          <a:bodyPr wrap="square" rtlCol="0" anchor="ctr"/>
          <a:lstStyle/>
          <a:p>
            <a:pPr indent="0" marL="0">
              <a:buNone/>
            </a:pPr>
            <a:r>
              <a:rPr lang="en-US" sz="1400" b="1" dirty="0">
                <a:solidFill>
                  <a:srgbClr val="1A9E6E"/>
                </a:solidFill>
                <a:latin typeface="Georgia" pitchFamily="34" charset="0"/>
                <a:ea typeface="Georgia" pitchFamily="34" charset="-122"/>
                <a:cs typeface="Georgia" pitchFamily="34" charset="-120"/>
              </a:rPr>
              <a:t>✅  Strong prompt</a:t>
            </a:r>
            <a:endParaRPr lang="en-US" sz="1400" dirty="0"/>
          </a:p>
        </p:txBody>
      </p:sp>
      <p:sp>
        <p:nvSpPr>
          <p:cNvPr id="12" name="Text 10"/>
          <p:cNvSpPr/>
          <p:nvPr/>
        </p:nvSpPr>
        <p:spPr>
          <a:xfrm>
            <a:off x="4846320" y="1417320"/>
            <a:ext cx="3886200" cy="1783080"/>
          </a:xfrm>
          <a:prstGeom prst="rect">
            <a:avLst/>
          </a:prstGeom>
          <a:noFill/>
          <a:ln/>
        </p:spPr>
        <p:txBody>
          <a:bodyPr wrap="square" rtlCol="0" anchor="ctr"/>
          <a:lstStyle/>
          <a:p>
            <a:pPr indent="0" marL="0">
              <a:buNone/>
            </a:pPr>
            <a:r>
              <a:rPr lang="en-US" sz="1050" i="1" dirty="0">
                <a:solidFill>
                  <a:srgbClr val="2A6048"/>
                </a:solidFill>
                <a:latin typeface="Consolas" pitchFamily="34" charset="0"/>
                <a:ea typeface="Consolas" pitchFamily="34" charset="-122"/>
                <a:cs typeface="Consolas" pitchFamily="34" charset="-120"/>
              </a:rPr>
              <a:t>"Write a Python function that takes a</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pandas DataFrame, drops rows where</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the 'age' or 'income' columns are</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null, removes duplicate rows based</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on 'subject_id', and returns the</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cleaned DataFrame with a summary</a:t>
            </a:r>
            <a:endParaRPr lang="en-US" sz="1050" dirty="0"/>
          </a:p>
          <a:p>
            <a:pPr indent="0" marL="0">
              <a:buNone/>
            </a:pPr>
            <a:r>
              <a:rPr lang="en-US" sz="1050" i="1" dirty="0">
                <a:solidFill>
                  <a:srgbClr val="2A6048"/>
                </a:solidFill>
                <a:latin typeface="Consolas" pitchFamily="34" charset="0"/>
                <a:ea typeface="Consolas" pitchFamily="34" charset="-122"/>
                <a:cs typeface="Consolas" pitchFamily="34" charset="-120"/>
              </a:rPr>
              <a:t>of how many rows were dropped."</a:t>
            </a:r>
            <a:endParaRPr lang="en-US" sz="1050" dirty="0"/>
          </a:p>
        </p:txBody>
      </p:sp>
      <p:sp>
        <p:nvSpPr>
          <p:cNvPr id="13" name="Shape 11"/>
          <p:cNvSpPr/>
          <p:nvPr/>
        </p:nvSpPr>
        <p:spPr>
          <a:xfrm>
            <a:off x="4846320" y="3264408"/>
            <a:ext cx="3886200" cy="27432"/>
          </a:xfrm>
          <a:prstGeom prst="rect">
            <a:avLst/>
          </a:prstGeom>
          <a:solidFill>
            <a:srgbClr val="88CCA0"/>
          </a:solidFill>
          <a:ln/>
        </p:spPr>
      </p:sp>
      <p:sp>
        <p:nvSpPr>
          <p:cNvPr id="14" name="Text 12"/>
          <p:cNvSpPr/>
          <p:nvPr/>
        </p:nvSpPr>
        <p:spPr>
          <a:xfrm>
            <a:off x="4846320" y="3337560"/>
            <a:ext cx="3840480" cy="256032"/>
          </a:xfrm>
          <a:prstGeom prst="rect">
            <a:avLst/>
          </a:prstGeom>
          <a:noFill/>
          <a:ln/>
        </p:spPr>
        <p:txBody>
          <a:bodyPr wrap="square" rtlCol="0" anchor="ctr"/>
          <a:lstStyle/>
          <a:p>
            <a:pPr indent="0" marL="0">
              <a:buNone/>
            </a:pPr>
            <a:r>
              <a:rPr lang="en-US" sz="1100" b="1" dirty="0">
                <a:solidFill>
                  <a:srgbClr val="1A9E6E"/>
                </a:solidFill>
                <a:latin typeface="Calibri" pitchFamily="34" charset="0"/>
                <a:ea typeface="Calibri" pitchFamily="34" charset="-122"/>
                <a:cs typeface="Calibri" pitchFamily="34" charset="-120"/>
              </a:rPr>
              <a:t>Why it works:</a:t>
            </a:r>
            <a:endParaRPr lang="en-US" sz="1100" dirty="0"/>
          </a:p>
        </p:txBody>
      </p:sp>
      <p:sp>
        <p:nvSpPr>
          <p:cNvPr id="15" name="Text 13"/>
          <p:cNvSpPr/>
          <p:nvPr/>
        </p:nvSpPr>
        <p:spPr>
          <a:xfrm>
            <a:off x="4846320" y="3639312"/>
            <a:ext cx="3840480" cy="960120"/>
          </a:xfrm>
          <a:prstGeom prst="rect">
            <a:avLst/>
          </a:prstGeom>
          <a:noFill/>
          <a:ln/>
        </p:spPr>
        <p:txBody>
          <a:bodyPr wrap="square" rtlCol="0" anchor="ctr"/>
          <a:lstStyle/>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Language is explicit (Python + pandas)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Exact columns named</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Behaviour is specific and testable</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Asks for a summary — easier to verify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0A"/>
        </a:solidFill>
      </p:bgPr>
    </p:bg>
    <p:spTree>
      <p:nvGrpSpPr>
        <p:cNvPr id="1" name=""/>
        <p:cNvGrpSpPr/>
        <p:nvPr/>
      </p:nvGrpSpPr>
      <p:grpSpPr>
        <a:xfrm>
          <a:off x="0" y="0"/>
          <a:ext cx="0" cy="0"/>
          <a:chOff x="0" y="0"/>
          <a:chExt cx="0" cy="0"/>
        </a:xfrm>
      </p:grpSpPr>
      <p:sp>
        <p:nvSpPr>
          <p:cNvPr id="2" name="Text 0"/>
          <p:cNvSpPr/>
          <p:nvPr/>
        </p:nvSpPr>
        <p:spPr>
          <a:xfrm>
            <a:off x="365760" y="228600"/>
            <a:ext cx="8412480" cy="7772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  What to Watch Out For</a:t>
            </a:r>
            <a:endParaRPr lang="en-US" sz="3400" dirty="0"/>
          </a:p>
        </p:txBody>
      </p:sp>
      <p:sp>
        <p:nvSpPr>
          <p:cNvPr id="3" name="Text 1"/>
          <p:cNvSpPr/>
          <p:nvPr/>
        </p:nvSpPr>
        <p:spPr>
          <a:xfrm>
            <a:off x="365760" y="914400"/>
            <a:ext cx="8412480" cy="384048"/>
          </a:xfrm>
          <a:prstGeom prst="rect">
            <a:avLst/>
          </a:prstGeom>
          <a:noFill/>
          <a:ln/>
        </p:spPr>
        <p:txBody>
          <a:bodyPr wrap="square" rtlCol="0" anchor="ctr"/>
          <a:lstStyle/>
          <a:p>
            <a:pPr indent="0" marL="0">
              <a:buNone/>
            </a:pPr>
            <a:r>
              <a:rPr lang="en-US" sz="1500" i="1" dirty="0">
                <a:solidFill>
                  <a:srgbClr val="FFB77A"/>
                </a:solidFill>
                <a:latin typeface="Calibri" pitchFamily="34" charset="0"/>
                <a:ea typeface="Calibri" pitchFamily="34" charset="-122"/>
                <a:cs typeface="Calibri" pitchFamily="34" charset="-120"/>
              </a:rPr>
              <a:t>AI is a powerful tool — but it makes mistakes you might not notice</a:t>
            </a:r>
            <a:endParaRPr lang="en-US" sz="1500" dirty="0"/>
          </a:p>
        </p:txBody>
      </p:sp>
      <p:sp>
        <p:nvSpPr>
          <p:cNvPr id="4" name="Shape 2"/>
          <p:cNvSpPr/>
          <p:nvPr/>
        </p:nvSpPr>
        <p:spPr>
          <a:xfrm>
            <a:off x="274320" y="1463040"/>
            <a:ext cx="4160520" cy="1417320"/>
          </a:xfrm>
          <a:prstGeom prst="rect">
            <a:avLst/>
          </a:prstGeom>
          <a:solidFill>
            <a:srgbClr val="2A1515"/>
          </a:solidFill>
          <a:ln w="19050">
            <a:solidFill>
              <a:srgbClr val="E87C2A"/>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384048" y="1719072"/>
            <a:ext cx="685800" cy="347472"/>
          </a:xfrm>
          <a:prstGeom prst="rect">
            <a:avLst/>
          </a:prstGeom>
          <a:noFill/>
          <a:ln/>
        </p:spPr>
        <p:txBody>
          <a:bodyPr wrap="square" rtlCol="0" anchor="ctr"/>
          <a:lstStyle/>
          <a:p>
            <a:pPr indent="0" marL="0">
              <a:buNone/>
            </a:pPr>
            <a:r>
              <a:rPr lang="en-US" sz="1800" b="1" dirty="0">
                <a:solidFill>
                  <a:srgbClr val="E87C2A"/>
                </a:solidFill>
                <a:latin typeface="Georgia" pitchFamily="34" charset="0"/>
                <a:ea typeface="Georgia" pitchFamily="34" charset="-122"/>
                <a:cs typeface="Georgia" pitchFamily="34" charset="-120"/>
              </a:rPr>
              <a:t>01</a:t>
            </a:r>
            <a:endParaRPr lang="en-US" sz="1800" dirty="0"/>
          </a:p>
        </p:txBody>
      </p:sp>
      <p:sp>
        <p:nvSpPr>
          <p:cNvPr id="6" name="Text 4"/>
          <p:cNvSpPr/>
          <p:nvPr/>
        </p:nvSpPr>
        <p:spPr>
          <a:xfrm>
            <a:off x="1051560" y="1572768"/>
            <a:ext cx="3246120" cy="384048"/>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Confident but wrong</a:t>
            </a:r>
            <a:endParaRPr lang="en-US" sz="1400" dirty="0"/>
          </a:p>
        </p:txBody>
      </p:sp>
      <p:sp>
        <p:nvSpPr>
          <p:cNvPr id="7" name="Text 5"/>
          <p:cNvSpPr/>
          <p:nvPr/>
        </p:nvSpPr>
        <p:spPr>
          <a:xfrm>
            <a:off x="1051560" y="1965960"/>
            <a:ext cx="3246120" cy="804672"/>
          </a:xfrm>
          <a:prstGeom prst="rect">
            <a:avLst/>
          </a:prstGeom>
          <a:noFill/>
          <a:ln/>
        </p:spPr>
        <p:txBody>
          <a:bodyPr wrap="square" rtlCol="0" anchor="ctr"/>
          <a:lstStyle/>
          <a:p>
            <a:pPr indent="0" marL="0">
              <a:buNone/>
            </a:pPr>
            <a:r>
              <a:rPr lang="en-US" sz="1100" dirty="0">
                <a:solidFill>
                  <a:srgbClr val="C8C8C8"/>
                </a:solidFill>
                <a:latin typeface="Calibri" pitchFamily="34" charset="0"/>
                <a:ea typeface="Calibri" pitchFamily="34" charset="-122"/>
                <a:cs typeface="Calibri" pitchFamily="34" charset="-120"/>
              </a:rPr>
              <a:t>AI gives plausible-sounding code that is subtly incorrect. No error message. Just wrong results.</a:t>
            </a:r>
            <a:endParaRPr lang="en-US" sz="1100" dirty="0"/>
          </a:p>
        </p:txBody>
      </p:sp>
      <p:sp>
        <p:nvSpPr>
          <p:cNvPr id="8" name="Shape 6"/>
          <p:cNvSpPr/>
          <p:nvPr/>
        </p:nvSpPr>
        <p:spPr>
          <a:xfrm>
            <a:off x="4709160" y="1463040"/>
            <a:ext cx="4160520" cy="1417320"/>
          </a:xfrm>
          <a:prstGeom prst="rect">
            <a:avLst/>
          </a:prstGeom>
          <a:solidFill>
            <a:srgbClr val="2A1515"/>
          </a:solidFill>
          <a:ln w="19050">
            <a:solidFill>
              <a:srgbClr val="C0392B"/>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4818888" y="1719072"/>
            <a:ext cx="685800" cy="347472"/>
          </a:xfrm>
          <a:prstGeom prst="rect">
            <a:avLst/>
          </a:prstGeom>
          <a:noFill/>
          <a:ln/>
        </p:spPr>
        <p:txBody>
          <a:bodyPr wrap="square" rtlCol="0" anchor="ctr"/>
          <a:lstStyle/>
          <a:p>
            <a:pPr indent="0" marL="0">
              <a:buNone/>
            </a:pPr>
            <a:r>
              <a:rPr lang="en-US" sz="1800" b="1" dirty="0">
                <a:solidFill>
                  <a:srgbClr val="C0392B"/>
                </a:solidFill>
                <a:latin typeface="Georgia" pitchFamily="34" charset="0"/>
                <a:ea typeface="Georgia" pitchFamily="34" charset="-122"/>
                <a:cs typeface="Georgia" pitchFamily="34" charset="-120"/>
              </a:rPr>
              <a:t>02</a:t>
            </a:r>
            <a:endParaRPr lang="en-US" sz="1800" dirty="0"/>
          </a:p>
        </p:txBody>
      </p:sp>
      <p:sp>
        <p:nvSpPr>
          <p:cNvPr id="10" name="Text 8"/>
          <p:cNvSpPr/>
          <p:nvPr/>
        </p:nvSpPr>
        <p:spPr>
          <a:xfrm>
            <a:off x="5486400" y="1572768"/>
            <a:ext cx="3246120" cy="384048"/>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Security vulnerabilities</a:t>
            </a:r>
            <a:endParaRPr lang="en-US" sz="1400" dirty="0"/>
          </a:p>
        </p:txBody>
      </p:sp>
      <p:sp>
        <p:nvSpPr>
          <p:cNvPr id="11" name="Text 9"/>
          <p:cNvSpPr/>
          <p:nvPr/>
        </p:nvSpPr>
        <p:spPr>
          <a:xfrm>
            <a:off x="5486400" y="1965960"/>
            <a:ext cx="3246120" cy="804672"/>
          </a:xfrm>
          <a:prstGeom prst="rect">
            <a:avLst/>
          </a:prstGeom>
          <a:noFill/>
          <a:ln/>
        </p:spPr>
        <p:txBody>
          <a:bodyPr wrap="square" rtlCol="0" anchor="ctr"/>
          <a:lstStyle/>
          <a:p>
            <a:pPr indent="0" marL="0">
              <a:buNone/>
            </a:pPr>
            <a:r>
              <a:rPr lang="en-US" sz="1100" dirty="0">
                <a:solidFill>
                  <a:srgbClr val="C8C8C8"/>
                </a:solidFill>
                <a:latin typeface="Calibri" pitchFamily="34" charset="0"/>
                <a:ea typeface="Calibri" pitchFamily="34" charset="-122"/>
                <a:cs typeface="Calibri" pitchFamily="34" charset="-120"/>
              </a:rPr>
              <a:t>AI may suggest code with SQL injection risks, hardcoded credentials, or unsafe file handling.</a:t>
            </a:r>
            <a:endParaRPr lang="en-US" sz="1100" dirty="0"/>
          </a:p>
        </p:txBody>
      </p:sp>
      <p:sp>
        <p:nvSpPr>
          <p:cNvPr id="12" name="Shape 10"/>
          <p:cNvSpPr/>
          <p:nvPr/>
        </p:nvSpPr>
        <p:spPr>
          <a:xfrm>
            <a:off x="274320" y="3017520"/>
            <a:ext cx="4160520" cy="1417320"/>
          </a:xfrm>
          <a:prstGeom prst="rect">
            <a:avLst/>
          </a:prstGeom>
          <a:solidFill>
            <a:srgbClr val="2A1515"/>
          </a:solidFill>
          <a:ln w="19050">
            <a:solidFill>
              <a:srgbClr val="9B59B6"/>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384048" y="3273552"/>
            <a:ext cx="685800" cy="347472"/>
          </a:xfrm>
          <a:prstGeom prst="rect">
            <a:avLst/>
          </a:prstGeom>
          <a:noFill/>
          <a:ln/>
        </p:spPr>
        <p:txBody>
          <a:bodyPr wrap="square" rtlCol="0" anchor="ctr"/>
          <a:lstStyle/>
          <a:p>
            <a:pPr indent="0" marL="0">
              <a:buNone/>
            </a:pPr>
            <a:r>
              <a:rPr lang="en-US" sz="1800" b="1" dirty="0">
                <a:solidFill>
                  <a:srgbClr val="9B59B6"/>
                </a:solidFill>
                <a:latin typeface="Georgia" pitchFamily="34" charset="0"/>
                <a:ea typeface="Georgia" pitchFamily="34" charset="-122"/>
                <a:cs typeface="Georgia" pitchFamily="34" charset="-120"/>
              </a:rPr>
              <a:t>03</a:t>
            </a:r>
            <a:endParaRPr lang="en-US" sz="1800" dirty="0"/>
          </a:p>
        </p:txBody>
      </p:sp>
      <p:sp>
        <p:nvSpPr>
          <p:cNvPr id="14" name="Text 12"/>
          <p:cNvSpPr/>
          <p:nvPr/>
        </p:nvSpPr>
        <p:spPr>
          <a:xfrm>
            <a:off x="1051560" y="3127248"/>
            <a:ext cx="3246120" cy="384048"/>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Your data stays in the chat</a:t>
            </a:r>
            <a:endParaRPr lang="en-US" sz="1400" dirty="0"/>
          </a:p>
        </p:txBody>
      </p:sp>
      <p:sp>
        <p:nvSpPr>
          <p:cNvPr id="15" name="Text 13"/>
          <p:cNvSpPr/>
          <p:nvPr/>
        </p:nvSpPr>
        <p:spPr>
          <a:xfrm>
            <a:off x="1051560" y="3520440"/>
            <a:ext cx="3246120" cy="804672"/>
          </a:xfrm>
          <a:prstGeom prst="rect">
            <a:avLst/>
          </a:prstGeom>
          <a:noFill/>
          <a:ln/>
        </p:spPr>
        <p:txBody>
          <a:bodyPr wrap="square" rtlCol="0" anchor="ctr"/>
          <a:lstStyle/>
          <a:p>
            <a:pPr indent="0" marL="0">
              <a:buNone/>
            </a:pPr>
            <a:r>
              <a:rPr lang="en-US" sz="1100" dirty="0">
                <a:solidFill>
                  <a:srgbClr val="C8C8C8"/>
                </a:solidFill>
                <a:latin typeface="Calibri" pitchFamily="34" charset="0"/>
                <a:ea typeface="Calibri" pitchFamily="34" charset="-122"/>
                <a:cs typeface="Calibri" pitchFamily="34" charset="-120"/>
              </a:rPr>
              <a:t>Anything you paste — data, IDs, credentials — is sent to the provider's servers. Never paste real research data.</a:t>
            </a:r>
            <a:endParaRPr lang="en-US" sz="1100" dirty="0"/>
          </a:p>
        </p:txBody>
      </p:sp>
      <p:sp>
        <p:nvSpPr>
          <p:cNvPr id="16" name="Shape 14"/>
          <p:cNvSpPr/>
          <p:nvPr/>
        </p:nvSpPr>
        <p:spPr>
          <a:xfrm>
            <a:off x="4709160" y="3017520"/>
            <a:ext cx="4160520" cy="1417320"/>
          </a:xfrm>
          <a:prstGeom prst="rect">
            <a:avLst/>
          </a:prstGeom>
          <a:solidFill>
            <a:srgbClr val="2A1515"/>
          </a:solidFill>
          <a:ln w="19050">
            <a:solidFill>
              <a:srgbClr val="D4A017"/>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4818888" y="3273552"/>
            <a:ext cx="685800" cy="347472"/>
          </a:xfrm>
          <a:prstGeom prst="rect">
            <a:avLst/>
          </a:prstGeom>
          <a:noFill/>
          <a:ln/>
        </p:spPr>
        <p:txBody>
          <a:bodyPr wrap="square"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04</a:t>
            </a:r>
            <a:endParaRPr lang="en-US" sz="1800" dirty="0"/>
          </a:p>
        </p:txBody>
      </p:sp>
      <p:sp>
        <p:nvSpPr>
          <p:cNvPr id="18" name="Text 16"/>
          <p:cNvSpPr/>
          <p:nvPr/>
        </p:nvSpPr>
        <p:spPr>
          <a:xfrm>
            <a:off x="5486400" y="3127248"/>
            <a:ext cx="3246120" cy="384048"/>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Outdated knowledge</a:t>
            </a:r>
            <a:endParaRPr lang="en-US" sz="1400" dirty="0"/>
          </a:p>
        </p:txBody>
      </p:sp>
      <p:sp>
        <p:nvSpPr>
          <p:cNvPr id="19" name="Text 17"/>
          <p:cNvSpPr/>
          <p:nvPr/>
        </p:nvSpPr>
        <p:spPr>
          <a:xfrm>
            <a:off x="5486400" y="3520440"/>
            <a:ext cx="3246120" cy="804672"/>
          </a:xfrm>
          <a:prstGeom prst="rect">
            <a:avLst/>
          </a:prstGeom>
          <a:noFill/>
          <a:ln/>
        </p:spPr>
        <p:txBody>
          <a:bodyPr wrap="square" rtlCol="0" anchor="ctr"/>
          <a:lstStyle/>
          <a:p>
            <a:pPr indent="0" marL="0">
              <a:buNone/>
            </a:pPr>
            <a:r>
              <a:rPr lang="en-US" sz="1100" dirty="0">
                <a:solidFill>
                  <a:srgbClr val="C8C8C8"/>
                </a:solidFill>
                <a:latin typeface="Calibri" pitchFamily="34" charset="0"/>
                <a:ea typeface="Calibri" pitchFamily="34" charset="-122"/>
                <a:cs typeface="Calibri" pitchFamily="34" charset="-120"/>
              </a:rPr>
              <a:t>AI training has a cutoff. Library APIs change. Advice for NumPy 1.x may break on 2.x.</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87C2A"/>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Pitfall 1: Confident But Wrong</a:t>
            </a:r>
            <a:endParaRPr lang="en-US" sz="2800" dirty="0"/>
          </a:p>
        </p:txBody>
      </p:sp>
      <p:sp>
        <p:nvSpPr>
          <p:cNvPr id="4" name="Shape 2"/>
          <p:cNvSpPr/>
          <p:nvPr/>
        </p:nvSpPr>
        <p:spPr>
          <a:xfrm>
            <a:off x="228600" y="914400"/>
            <a:ext cx="8686800" cy="1874520"/>
          </a:xfrm>
          <a:prstGeom prst="rect">
            <a:avLst/>
          </a:prstGeom>
          <a:solidFill>
            <a:srgbClr val="1E1E2E"/>
          </a:solidFill>
          <a:ln/>
          <a:effectLst>
            <a:outerShdw sx="100000" sy="100000" kx="0" ky="0" algn="bl" rotWithShape="0" blurRad="76200" dist="25400" dir="8100000">
              <a:srgbClr val="000000">
                <a:alpha val="12000"/>
              </a:srgbClr>
            </a:outerShdw>
          </a:effectLst>
        </p:spPr>
      </p:sp>
      <p:sp>
        <p:nvSpPr>
          <p:cNvPr id="5" name="Text 3"/>
          <p:cNvSpPr/>
          <p:nvPr/>
        </p:nvSpPr>
        <p:spPr>
          <a:xfrm>
            <a:off x="320040" y="987552"/>
            <a:ext cx="8458200" cy="329184"/>
          </a:xfrm>
          <a:prstGeom prst="rect">
            <a:avLst/>
          </a:prstGeom>
          <a:noFill/>
          <a:ln/>
        </p:spPr>
        <p:txBody>
          <a:bodyPr wrap="square" rtlCol="0" anchor="ctr"/>
          <a:lstStyle/>
          <a:p>
            <a:pPr indent="0" marL="0">
              <a:buNone/>
            </a:pPr>
            <a:r>
              <a:rPr lang="en-US" sz="1100" i="1" dirty="0">
                <a:solidFill>
                  <a:srgbClr val="88AACC"/>
                </a:solidFill>
                <a:latin typeface="Calibri" pitchFamily="34" charset="0"/>
                <a:ea typeface="Calibri" pitchFamily="34" charset="-122"/>
                <a:cs typeface="Calibri" pitchFamily="34" charset="-120"/>
              </a:rPr>
              <a:t>You ask: 'Compute the mean of column scores, excluding outliers beyond 2 standard deviations'</a:t>
            </a:r>
            <a:endParaRPr lang="en-US" sz="1100" dirty="0"/>
          </a:p>
        </p:txBody>
      </p:sp>
      <p:sp>
        <p:nvSpPr>
          <p:cNvPr id="6" name="Text 4"/>
          <p:cNvSpPr/>
          <p:nvPr/>
        </p:nvSpPr>
        <p:spPr>
          <a:xfrm>
            <a:off x="365760" y="1371600"/>
            <a:ext cx="8458200" cy="777240"/>
          </a:xfrm>
          <a:prstGeom prst="rect">
            <a:avLst/>
          </a:prstGeom>
          <a:noFill/>
          <a:ln/>
        </p:spPr>
        <p:txBody>
          <a:bodyPr wrap="square" rtlCol="0" anchor="ctr"/>
          <a:lstStyle/>
          <a:p>
            <a:pPr indent="0" marL="0">
              <a:buNone/>
            </a:pPr>
            <a:r>
              <a:rPr lang="en-US" sz="1100" dirty="0">
                <a:solidFill>
                  <a:srgbClr val="D4D4D4"/>
                </a:solidFill>
                <a:latin typeface="Consolas" pitchFamily="34" charset="0"/>
                <a:ea typeface="Consolas" pitchFamily="34" charset="-122"/>
                <a:cs typeface="Consolas" pitchFamily="34" charset="-120"/>
              </a:rPr>
              <a:t>mean = df['scores'].mean()
</a:t>
            </a:r>
            <a:pPr indent="0" marL="0">
              <a:buNone/>
            </a:pPr>
            <a:r>
              <a:rPr lang="en-US" sz="1100" dirty="0">
                <a:solidFill>
                  <a:srgbClr val="D4D4D4"/>
                </a:solidFill>
                <a:latin typeface="Consolas" pitchFamily="34" charset="0"/>
                <a:ea typeface="Consolas" pitchFamily="34" charset="-122"/>
                <a:cs typeface="Consolas" pitchFamily="34" charset="-120"/>
              </a:rPr>
              <a:t>std  = df['scores'].std()
</a:t>
            </a:r>
            <a:pPr indent="0" marL="0">
              <a:buNone/>
            </a:pPr>
            <a:r>
              <a:rPr lang="en-US" sz="1100" dirty="0">
                <a:solidFill>
                  <a:srgbClr val="D4D4D4"/>
                </a:solidFill>
                <a:latin typeface="Consolas" pitchFamily="34" charset="0"/>
                <a:ea typeface="Consolas" pitchFamily="34" charset="-122"/>
                <a:cs typeface="Consolas" pitchFamily="34" charset="-120"/>
              </a:rPr>
              <a:t>filtered = df[df['scores'].between(mean - 2*std, mean + 2*std)]
</a:t>
            </a:r>
            <a:pPr indent="0" marL="0">
              <a:buNone/>
            </a:pPr>
            <a:r>
              <a:rPr lang="en-US" sz="1100" dirty="0">
                <a:solidFill>
                  <a:srgbClr val="4EC994"/>
                </a:solidFill>
                <a:latin typeface="Consolas" pitchFamily="34" charset="0"/>
                <a:ea typeface="Consolas" pitchFamily="34" charset="-122"/>
                <a:cs typeface="Consolas" pitchFamily="34" charset="-120"/>
              </a:rPr>
              <a:t>result = filtered['scores'].mean()  </a:t>
            </a:r>
            <a:pPr indent="0" marL="0">
              <a:buNone/>
            </a:pPr>
            <a:r>
              <a:rPr lang="en-US" sz="1100" dirty="0">
                <a:solidFill>
                  <a:srgbClr val="F44747"/>
                </a:solidFill>
                <a:latin typeface="Consolas" pitchFamily="34" charset="0"/>
                <a:ea typeface="Consolas" pitchFamily="34" charset="-122"/>
                <a:cs typeface="Consolas" pitchFamily="34" charset="-120"/>
              </a:rPr>
              <a:t># ← Bug: mean/std computed on full data, not iteratively</a:t>
            </a:r>
            <a:endParaRPr lang="en-US" sz="1100" dirty="0"/>
          </a:p>
        </p:txBody>
      </p:sp>
      <p:sp>
        <p:nvSpPr>
          <p:cNvPr id="7" name="Shape 5"/>
          <p:cNvSpPr/>
          <p:nvPr/>
        </p:nvSpPr>
        <p:spPr>
          <a:xfrm>
            <a:off x="228600" y="2880360"/>
            <a:ext cx="8686800" cy="1920240"/>
          </a:xfrm>
          <a:prstGeom prst="rect">
            <a:avLst/>
          </a:prstGeom>
          <a:solidFill>
            <a:srgbClr val="FFFFFF"/>
          </a:solidFill>
          <a:ln w="12700">
            <a:solidFill>
              <a:srgbClr val="FFCCAA"/>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411480" y="2971800"/>
            <a:ext cx="8229600" cy="347472"/>
          </a:xfrm>
          <a:prstGeom prst="rect">
            <a:avLst/>
          </a:prstGeom>
          <a:noFill/>
          <a:ln/>
        </p:spPr>
        <p:txBody>
          <a:bodyPr wrap="square" rtlCol="0" anchor="ctr"/>
          <a:lstStyle/>
          <a:p>
            <a:pPr indent="0" marL="0">
              <a:buNone/>
            </a:pPr>
            <a:r>
              <a:rPr lang="en-US" sz="1400" b="1" dirty="0">
                <a:solidFill>
                  <a:srgbClr val="E87C2A"/>
                </a:solidFill>
                <a:latin typeface="Georgia" pitchFamily="34" charset="0"/>
                <a:ea typeface="Georgia" pitchFamily="34" charset="-122"/>
                <a:cs typeface="Georgia" pitchFamily="34" charset="-120"/>
              </a:rPr>
              <a:t>What went wrong?</a:t>
            </a:r>
            <a:endParaRPr lang="en-US" sz="1400" dirty="0"/>
          </a:p>
        </p:txBody>
      </p:sp>
      <p:sp>
        <p:nvSpPr>
          <p:cNvPr id="9" name="Text 7"/>
          <p:cNvSpPr/>
          <p:nvPr/>
        </p:nvSpPr>
        <p:spPr>
          <a:xfrm>
            <a:off x="411480" y="3337560"/>
            <a:ext cx="8229600" cy="1325880"/>
          </a:xfrm>
          <a:prstGeom prst="rect">
            <a:avLst/>
          </a:prstGeom>
          <a:noFill/>
          <a:ln/>
        </p:spPr>
        <p:txBody>
          <a:bodyPr wrap="square" rtlCol="0" anchor="ctr"/>
          <a:lstStyle/>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The code runs without errors and looks reasonable.</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But the mean and std are computed on the full dataset — including outliers — before filtering.</a:t>
            </a:r>
            <a:endParaRPr lang="en-US" sz="1200" dirty="0"/>
          </a:p>
          <a:p>
            <a:pPr marL="342900" indent="-342900">
              <a:buSzPct val="100000"/>
              <a:buChar char="•"/>
            </a:pPr>
            <a:r>
              <a:rPr lang="en-US" sz="1200" dirty="0">
                <a:solidFill>
                  <a:srgbClr val="1A2B4A"/>
                </a:solidFill>
                <a:latin typeface="Calibri" pitchFamily="34" charset="0"/>
                <a:ea typeface="Calibri" pitchFamily="34" charset="-122"/>
                <a:cs typeface="Calibri" pitchFamily="34" charset="-120"/>
              </a:rPr>
              <a:t>For proper iterative outlier removal, you'd recompute stats after each filter step.</a:t>
            </a:r>
            <a:endParaRPr lang="en-US" sz="1200" dirty="0"/>
          </a:p>
          <a:p>
            <a:pPr marL="342900" indent="-342900">
              <a:buSzPct val="100000"/>
              <a:buChar char="•"/>
            </a:pPr>
            <a:r>
              <a:rPr lang="en-US" sz="1200" b="1" dirty="0">
                <a:solidFill>
                  <a:srgbClr val="C0392B"/>
                </a:solidFill>
                <a:latin typeface="Calibri" pitchFamily="34" charset="0"/>
                <a:ea typeface="Calibri" pitchFamily="34" charset="-122"/>
                <a:cs typeface="Calibri" pitchFamily="34" charset="-120"/>
              </a:rPr>
              <a:t>Result: subtly biased values. No error message. No warning. Easily missed.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B1A1A"/>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Pitfall 2 &amp; 3: Security + Data Privacy</a:t>
            </a:r>
            <a:endParaRPr lang="en-US" sz="2800" dirty="0"/>
          </a:p>
        </p:txBody>
      </p:sp>
      <p:sp>
        <p:nvSpPr>
          <p:cNvPr id="4" name="Text 2"/>
          <p:cNvSpPr/>
          <p:nvPr/>
        </p:nvSpPr>
        <p:spPr>
          <a:xfrm>
            <a:off x="274320" y="914400"/>
            <a:ext cx="8595360" cy="365760"/>
          </a:xfrm>
          <a:prstGeom prst="rect">
            <a:avLst/>
          </a:prstGeom>
          <a:noFill/>
          <a:ln/>
        </p:spPr>
        <p:txBody>
          <a:bodyPr wrap="square" rtlCol="0" anchor="ctr"/>
          <a:lstStyle/>
          <a:p>
            <a:pPr indent="0" marL="0">
              <a:buNone/>
            </a:pPr>
            <a:r>
              <a:rPr lang="en-US" sz="1500" b="1" dirty="0">
                <a:solidFill>
                  <a:srgbClr val="C0392B"/>
                </a:solidFill>
                <a:latin typeface="Georgia" pitchFamily="34" charset="0"/>
                <a:ea typeface="Georgia" pitchFamily="34" charset="-122"/>
                <a:cs typeface="Georgia" pitchFamily="34" charset="-120"/>
              </a:rPr>
              <a:t>Security: AI-generated code can have vulnerabilities</a:t>
            </a:r>
            <a:endParaRPr lang="en-US" sz="1500" dirty="0"/>
          </a:p>
        </p:txBody>
      </p:sp>
      <p:sp>
        <p:nvSpPr>
          <p:cNvPr id="5" name="Text 3"/>
          <p:cNvSpPr/>
          <p:nvPr/>
        </p:nvSpPr>
        <p:spPr>
          <a:xfrm>
            <a:off x="274320" y="1325880"/>
            <a:ext cx="859536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Hardcoded credentials:  </a:t>
            </a:r>
            <a:pPr indent="0" marL="0">
              <a:buNone/>
            </a:pPr>
            <a:r>
              <a:rPr lang="en-US" sz="1200" dirty="0">
                <a:solidFill>
                  <a:srgbClr val="333333"/>
                </a:solidFill>
                <a:latin typeface="Consolas" pitchFamily="34" charset="0"/>
                <a:ea typeface="Consolas" pitchFamily="34" charset="-122"/>
                <a:cs typeface="Consolas" pitchFamily="34" charset="-120"/>
              </a:rPr>
              <a:t>api_key = 'sk-abc123'  </a:t>
            </a:r>
            <a:pPr indent="0" marL="0">
              <a:buNone/>
            </a:pPr>
            <a:r>
              <a:rPr lang="en-US" sz="1200" i="1" dirty="0">
                <a:solidFill>
                  <a:srgbClr val="C0392B"/>
                </a:solidFill>
                <a:latin typeface="Calibri" pitchFamily="34" charset="0"/>
                <a:ea typeface="Calibri" pitchFamily="34" charset="-122"/>
                <a:cs typeface="Calibri" pitchFamily="34" charset="-120"/>
              </a:rPr>
              <a:t>← AI often suggests this, never do it</a:t>
            </a:r>
            <a:endParaRPr lang="en-US" sz="1200" dirty="0"/>
          </a:p>
        </p:txBody>
      </p:sp>
      <p:sp>
        <p:nvSpPr>
          <p:cNvPr id="6" name="Text 4"/>
          <p:cNvSpPr/>
          <p:nvPr/>
        </p:nvSpPr>
        <p:spPr>
          <a:xfrm>
            <a:off x="274320" y="1645920"/>
            <a:ext cx="859536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SQL injection risk:  </a:t>
            </a:r>
            <a:pPr indent="0" marL="0">
              <a:buNone/>
            </a:pPr>
            <a:r>
              <a:rPr lang="en-US" sz="1050" dirty="0">
                <a:solidFill>
                  <a:srgbClr val="333333"/>
                </a:solidFill>
                <a:latin typeface="Consolas" pitchFamily="34" charset="0"/>
                <a:ea typeface="Consolas" pitchFamily="34" charset="-122"/>
                <a:cs typeface="Consolas" pitchFamily="34" charset="-120"/>
              </a:rPr>
              <a:t>query = f"SELECT * FROM t WHERE id={user_input}"</a:t>
            </a:r>
            <a:endParaRPr lang="en-US" sz="1200" dirty="0"/>
          </a:p>
        </p:txBody>
      </p:sp>
      <p:sp>
        <p:nvSpPr>
          <p:cNvPr id="7" name="Text 5"/>
          <p:cNvSpPr/>
          <p:nvPr/>
        </p:nvSpPr>
        <p:spPr>
          <a:xfrm>
            <a:off x="274320" y="1965960"/>
            <a:ext cx="8595360" cy="365760"/>
          </a:xfrm>
          <a:prstGeom prst="rect">
            <a:avLst/>
          </a:prstGeom>
          <a:noFill/>
          <a:ln/>
        </p:spPr>
        <p:txBody>
          <a:bodyPr wrap="square" rtlCol="0" anchor="ctr"/>
          <a:lstStyle/>
          <a:p>
            <a:pPr marL="342900" indent="-342900">
              <a:buSzPct val="100000"/>
              <a:buChar char="•"/>
            </a:pPr>
            <a:r>
              <a:rPr lang="en-US" sz="1200" dirty="0">
                <a:solidFill>
                  <a:srgbClr val="5A3030"/>
                </a:solidFill>
                <a:latin typeface="Calibri" pitchFamily="34" charset="0"/>
                <a:ea typeface="Calibri" pitchFamily="34" charset="-122"/>
                <a:cs typeface="Calibri" pitchFamily="34" charset="-120"/>
              </a:rPr>
              <a:t>Outdated library functions with known vulnerabilities — AI may not know about patches released after its training cutoff</a:t>
            </a:r>
            <a:endParaRPr lang="en-US" sz="1200" dirty="0"/>
          </a:p>
        </p:txBody>
      </p:sp>
      <p:sp>
        <p:nvSpPr>
          <p:cNvPr id="8" name="Shape 6"/>
          <p:cNvSpPr/>
          <p:nvPr/>
        </p:nvSpPr>
        <p:spPr>
          <a:xfrm>
            <a:off x="274320" y="2377440"/>
            <a:ext cx="8595360" cy="45720"/>
          </a:xfrm>
          <a:prstGeom prst="rect">
            <a:avLst/>
          </a:prstGeom>
          <a:solidFill>
            <a:srgbClr val="CCCCCC"/>
          </a:solidFill>
          <a:ln/>
        </p:spPr>
      </p:sp>
      <p:sp>
        <p:nvSpPr>
          <p:cNvPr id="9" name="Text 7"/>
          <p:cNvSpPr/>
          <p:nvPr/>
        </p:nvSpPr>
        <p:spPr>
          <a:xfrm>
            <a:off x="274320" y="2514600"/>
            <a:ext cx="8595360" cy="365760"/>
          </a:xfrm>
          <a:prstGeom prst="rect">
            <a:avLst/>
          </a:prstGeom>
          <a:noFill/>
          <a:ln/>
        </p:spPr>
        <p:txBody>
          <a:bodyPr wrap="square" rtlCol="0" anchor="ctr"/>
          <a:lstStyle/>
          <a:p>
            <a:pPr indent="0" marL="0">
              <a:buNone/>
            </a:pPr>
            <a:r>
              <a:rPr lang="en-US" sz="1500" b="1" dirty="0">
                <a:solidFill>
                  <a:srgbClr val="7B1A1A"/>
                </a:solidFill>
                <a:latin typeface="Georgia" pitchFamily="34" charset="0"/>
                <a:ea typeface="Georgia" pitchFamily="34" charset="-122"/>
                <a:cs typeface="Georgia" pitchFamily="34" charset="-120"/>
              </a:rPr>
              <a:t>Data Privacy: be very careful about what you paste</a:t>
            </a:r>
            <a:endParaRPr lang="en-US" sz="1500" dirty="0"/>
          </a:p>
        </p:txBody>
      </p:sp>
      <p:sp>
        <p:nvSpPr>
          <p:cNvPr id="10" name="Text 8"/>
          <p:cNvSpPr/>
          <p:nvPr/>
        </p:nvSpPr>
        <p:spPr>
          <a:xfrm>
            <a:off x="274320" y="2944368"/>
            <a:ext cx="8595360" cy="347472"/>
          </a:xfrm>
          <a:prstGeom prst="rect">
            <a:avLst/>
          </a:prstGeom>
          <a:noFill/>
          <a:ln/>
        </p:spPr>
        <p:txBody>
          <a:bodyPr wrap="square" rtlCol="0" anchor="ctr"/>
          <a:lstStyle/>
          <a:p>
            <a:pPr indent="0" marL="0">
              <a:buNone/>
            </a:pPr>
            <a:r>
              <a:rPr lang="en-US" sz="1150" dirty="0">
                <a:solidFill>
                  <a:srgbClr val="7B1A1A"/>
                </a:solidFill>
                <a:latin typeface="Calibri" pitchFamily="34" charset="0"/>
                <a:ea typeface="Calibri" pitchFamily="34" charset="-122"/>
                <a:cs typeface="Calibri" pitchFamily="34" charset="-120"/>
              </a:rPr>
              <a:t>🚫  NEVER paste real patient data, participant IDs, or clinical records — this data goes to external servers</a:t>
            </a:r>
            <a:endParaRPr lang="en-US" sz="1150" dirty="0"/>
          </a:p>
        </p:txBody>
      </p:sp>
      <p:sp>
        <p:nvSpPr>
          <p:cNvPr id="11" name="Text 9"/>
          <p:cNvSpPr/>
          <p:nvPr/>
        </p:nvSpPr>
        <p:spPr>
          <a:xfrm>
            <a:off x="274320" y="3337560"/>
            <a:ext cx="8595360" cy="347472"/>
          </a:xfrm>
          <a:prstGeom prst="rect">
            <a:avLst/>
          </a:prstGeom>
          <a:noFill/>
          <a:ln/>
        </p:spPr>
        <p:txBody>
          <a:bodyPr wrap="square" rtlCol="0" anchor="ctr"/>
          <a:lstStyle/>
          <a:p>
            <a:pPr indent="0" marL="0">
              <a:buNone/>
            </a:pPr>
            <a:r>
              <a:rPr lang="en-US" sz="1150" dirty="0">
                <a:solidFill>
                  <a:srgbClr val="7B1A1A"/>
                </a:solidFill>
                <a:latin typeface="Calibri" pitchFamily="34" charset="0"/>
                <a:ea typeface="Calibri" pitchFamily="34" charset="-122"/>
                <a:cs typeface="Calibri" pitchFamily="34" charset="-120"/>
              </a:rPr>
              <a:t>🚫  NEVER paste API keys, passwords, or institutional credentials in your prompt</a:t>
            </a:r>
            <a:endParaRPr lang="en-US" sz="1150" dirty="0"/>
          </a:p>
        </p:txBody>
      </p:sp>
      <p:sp>
        <p:nvSpPr>
          <p:cNvPr id="12" name="Text 10"/>
          <p:cNvSpPr/>
          <p:nvPr/>
        </p:nvSpPr>
        <p:spPr>
          <a:xfrm>
            <a:off x="274320" y="3730752"/>
            <a:ext cx="8595360" cy="347472"/>
          </a:xfrm>
          <a:prstGeom prst="rect">
            <a:avLst/>
          </a:prstGeom>
          <a:noFill/>
          <a:ln/>
        </p:spPr>
        <p:txBody>
          <a:bodyPr wrap="square" rtlCol="0" anchor="ctr"/>
          <a:lstStyle/>
          <a:p>
            <a:pPr indent="0" marL="0">
              <a:buNone/>
            </a:pPr>
            <a:r>
              <a:rPr lang="en-US" sz="1150" dirty="0">
                <a:solidFill>
                  <a:srgbClr val="186A40"/>
                </a:solidFill>
                <a:latin typeface="Calibri" pitchFamily="34" charset="0"/>
                <a:ea typeface="Calibri" pitchFamily="34" charset="-122"/>
                <a:cs typeface="Calibri" pitchFamily="34" charset="-120"/>
              </a:rPr>
              <a:t>✅  Use synthetic/anonymised example data to illustrate your question</a:t>
            </a:r>
            <a:endParaRPr lang="en-US" sz="1150" dirty="0"/>
          </a:p>
        </p:txBody>
      </p:sp>
      <p:sp>
        <p:nvSpPr>
          <p:cNvPr id="13" name="Text 11"/>
          <p:cNvSpPr/>
          <p:nvPr/>
        </p:nvSpPr>
        <p:spPr>
          <a:xfrm>
            <a:off x="274320" y="4123944"/>
            <a:ext cx="8595360" cy="347472"/>
          </a:xfrm>
          <a:prstGeom prst="rect">
            <a:avLst/>
          </a:prstGeom>
          <a:noFill/>
          <a:ln/>
        </p:spPr>
        <p:txBody>
          <a:bodyPr wrap="square" rtlCol="0" anchor="ctr"/>
          <a:lstStyle/>
          <a:p>
            <a:pPr indent="0" marL="0">
              <a:buNone/>
            </a:pPr>
            <a:r>
              <a:rPr lang="en-US" sz="1150" dirty="0">
                <a:solidFill>
                  <a:srgbClr val="186A40"/>
                </a:solidFill>
                <a:latin typeface="Calibri" pitchFamily="34" charset="0"/>
                <a:ea typeface="Calibri" pitchFamily="34" charset="-122"/>
                <a:cs typeface="Calibri" pitchFamily="34" charset="-120"/>
              </a:rPr>
              <a:t>✅  If your institution has a self-hosted AI deployment, prefer that for sensitive work</a:t>
            </a:r>
            <a:endParaRPr lang="en-US" sz="1150" dirty="0"/>
          </a:p>
        </p:txBody>
      </p:sp>
      <p:sp>
        <p:nvSpPr>
          <p:cNvPr id="14" name="Text 12"/>
          <p:cNvSpPr/>
          <p:nvPr/>
        </p:nvSpPr>
        <p:spPr>
          <a:xfrm>
            <a:off x="274320" y="4517136"/>
            <a:ext cx="8595360" cy="347472"/>
          </a:xfrm>
          <a:prstGeom prst="rect">
            <a:avLst/>
          </a:prstGeom>
          <a:noFill/>
          <a:ln/>
        </p:spPr>
        <p:txBody>
          <a:bodyPr wrap="square" rtlCol="0" anchor="ctr"/>
          <a:lstStyle/>
          <a:p>
            <a:pPr indent="0" marL="0">
              <a:buNone/>
            </a:pPr>
            <a:r>
              <a:rPr lang="en-US" sz="1150" dirty="0">
                <a:solidFill>
                  <a:srgbClr val="186A40"/>
                </a:solidFill>
                <a:latin typeface="Calibri" pitchFamily="34" charset="0"/>
                <a:ea typeface="Calibri" pitchFamily="34" charset="-122"/>
                <a:cs typeface="Calibri" pitchFamily="34" charset="-120"/>
              </a:rPr>
              <a:t>ℹ️  Check your institution's AI usage policy — many universities now have guidance on this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4A3070"/>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Pitfall 4: Outdated Knowledge &amp; Over-Trust</a:t>
            </a:r>
            <a:endParaRPr lang="en-US" sz="2800" dirty="0"/>
          </a:p>
        </p:txBody>
      </p:sp>
      <p:sp>
        <p:nvSpPr>
          <p:cNvPr id="4" name="Shape 2"/>
          <p:cNvSpPr/>
          <p:nvPr/>
        </p:nvSpPr>
        <p:spPr>
          <a:xfrm>
            <a:off x="228600" y="960120"/>
            <a:ext cx="4114800" cy="3840480"/>
          </a:xfrm>
          <a:prstGeom prst="rect">
            <a:avLst/>
          </a:prstGeom>
          <a:solidFill>
            <a:srgbClr val="FFFFFF"/>
          </a:solidFill>
          <a:ln w="10160">
            <a:solidFill>
              <a:srgbClr val="C8B4E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28600" y="960120"/>
            <a:ext cx="4114800" cy="457200"/>
          </a:xfrm>
          <a:prstGeom prst="rect">
            <a:avLst/>
          </a:prstGeom>
          <a:solidFill>
            <a:srgbClr val="4A3070"/>
          </a:solidFill>
          <a:ln/>
        </p:spPr>
      </p:sp>
      <p:sp>
        <p:nvSpPr>
          <p:cNvPr id="6" name="Text 4"/>
          <p:cNvSpPr/>
          <p:nvPr/>
        </p:nvSpPr>
        <p:spPr>
          <a:xfrm>
            <a:off x="320040" y="978408"/>
            <a:ext cx="3931920" cy="420624"/>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Outdated Knowledge</a:t>
            </a:r>
            <a:endParaRPr lang="en-US" sz="1400" dirty="0"/>
          </a:p>
        </p:txBody>
      </p:sp>
      <p:sp>
        <p:nvSpPr>
          <p:cNvPr id="7" name="Text 5"/>
          <p:cNvSpPr/>
          <p:nvPr/>
        </p:nvSpPr>
        <p:spPr>
          <a:xfrm>
            <a:off x="365760" y="1508760"/>
            <a:ext cx="3794760" cy="219456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AI training has a cutoff date. It may not know about:</a:t>
            </a:r>
            <a:endParaRPr lang="en-US" sz="1150" dirty="0"/>
          </a:p>
          <a:p>
            <a:pPr indent="0" marL="0">
              <a:buNone/>
            </a:pP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Breaking changes in library APIs (e.g. NumPy 2.0, pandas 2.0 had many)</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Newly deprecated functions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Recent security patches</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New best practices in your field</a:t>
            </a:r>
            <a:endParaRPr lang="en-US" sz="1150" dirty="0"/>
          </a:p>
        </p:txBody>
      </p:sp>
      <p:sp>
        <p:nvSpPr>
          <p:cNvPr id="8" name="Text 6"/>
          <p:cNvSpPr/>
          <p:nvPr/>
        </p:nvSpPr>
        <p:spPr>
          <a:xfrm>
            <a:off x="365760" y="3749040"/>
            <a:ext cx="3794760" cy="594360"/>
          </a:xfrm>
          <a:prstGeom prst="rect">
            <a:avLst/>
          </a:prstGeom>
          <a:noFill/>
          <a:ln/>
        </p:spPr>
        <p:txBody>
          <a:bodyPr wrap="square" rtlCol="0" anchor="ctr"/>
          <a:lstStyle/>
          <a:p>
            <a:pPr indent="0" marL="0">
              <a:buNone/>
            </a:pPr>
            <a:r>
              <a:rPr lang="en-US" sz="1100" i="1" dirty="0">
                <a:solidFill>
                  <a:srgbClr val="5A4080"/>
                </a:solidFill>
                <a:latin typeface="Calibri" pitchFamily="34" charset="0"/>
                <a:ea typeface="Calibri" pitchFamily="34" charset="-122"/>
                <a:cs typeface="Calibri" pitchFamily="34" charset="-120"/>
              </a:rPr>
              <a:t>💡 Always check the official docs if something unexpected happens</a:t>
            </a:r>
            <a:endParaRPr lang="en-US" sz="1100" dirty="0"/>
          </a:p>
        </p:txBody>
      </p:sp>
      <p:sp>
        <p:nvSpPr>
          <p:cNvPr id="9" name="Shape 7"/>
          <p:cNvSpPr/>
          <p:nvPr/>
        </p:nvSpPr>
        <p:spPr>
          <a:xfrm>
            <a:off x="4800600" y="960120"/>
            <a:ext cx="4114800" cy="3840480"/>
          </a:xfrm>
          <a:prstGeom prst="rect">
            <a:avLst/>
          </a:prstGeom>
          <a:solidFill>
            <a:srgbClr val="FFFFFF"/>
          </a:solidFill>
          <a:ln w="10160">
            <a:solidFill>
              <a:srgbClr val="F0C0A0"/>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960120"/>
            <a:ext cx="4114800" cy="457200"/>
          </a:xfrm>
          <a:prstGeom prst="rect">
            <a:avLst/>
          </a:prstGeom>
          <a:solidFill>
            <a:srgbClr val="E87C2A"/>
          </a:solidFill>
          <a:ln/>
        </p:spPr>
      </p:sp>
      <p:sp>
        <p:nvSpPr>
          <p:cNvPr id="11" name="Text 9"/>
          <p:cNvSpPr/>
          <p:nvPr/>
        </p:nvSpPr>
        <p:spPr>
          <a:xfrm>
            <a:off x="4892040" y="978408"/>
            <a:ext cx="3931920" cy="420624"/>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Over-Trust / Skill Erosion</a:t>
            </a:r>
            <a:endParaRPr lang="en-US" sz="1400" dirty="0"/>
          </a:p>
        </p:txBody>
      </p:sp>
      <p:sp>
        <p:nvSpPr>
          <p:cNvPr id="12" name="Text 10"/>
          <p:cNvSpPr/>
          <p:nvPr/>
        </p:nvSpPr>
        <p:spPr>
          <a:xfrm>
            <a:off x="4937760" y="1508760"/>
            <a:ext cx="3794760" cy="219456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The biggest long-term risk:</a:t>
            </a:r>
            <a:endParaRPr lang="en-US" sz="1150" dirty="0"/>
          </a:p>
          <a:p>
            <a:pPr indent="0" marL="0">
              <a:buNone/>
            </a:pP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Accepting code you don't understand — and losing the ability to debug it later</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Skipping learning fundamentals because AI fills the gap</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Not being able to evaluate whether AI output is correct</a:t>
            </a:r>
            <a:endParaRPr lang="en-US" sz="1150" dirty="0"/>
          </a:p>
          <a:p>
            <a:pPr marL="342900" indent="-342900">
              <a:buSzPct val="100000"/>
              <a:buChar char="•"/>
            </a:pPr>
            <a:r>
              <a:rPr lang="en-US" sz="1150" dirty="0">
                <a:solidFill>
                  <a:srgbClr val="1A2B4A"/>
                </a:solidFill>
                <a:latin typeface="Calibri" pitchFamily="34" charset="0"/>
                <a:ea typeface="Calibri" pitchFamily="34" charset="-122"/>
                <a:cs typeface="Calibri" pitchFamily="34" charset="-120"/>
              </a:rPr>
              <a:t>Becoming dependent on a tool that may change, get worse, or become unavailable</a:t>
            </a:r>
            <a:endParaRPr lang="en-US" sz="1150" dirty="0"/>
          </a:p>
        </p:txBody>
      </p:sp>
      <p:sp>
        <p:nvSpPr>
          <p:cNvPr id="13" name="Text 11"/>
          <p:cNvSpPr/>
          <p:nvPr/>
        </p:nvSpPr>
        <p:spPr>
          <a:xfrm>
            <a:off x="4937760" y="3749040"/>
            <a:ext cx="3794760" cy="594360"/>
          </a:xfrm>
          <a:prstGeom prst="rect">
            <a:avLst/>
          </a:prstGeom>
          <a:noFill/>
          <a:ln/>
        </p:spPr>
        <p:txBody>
          <a:bodyPr wrap="square" rtlCol="0" anchor="ctr"/>
          <a:lstStyle/>
          <a:p>
            <a:pPr indent="0" marL="0">
              <a:buNone/>
            </a:pPr>
            <a:r>
              <a:rPr lang="en-US" sz="1100" i="1" dirty="0">
                <a:solidFill>
                  <a:srgbClr val="8B5020"/>
                </a:solidFill>
                <a:latin typeface="Calibri" pitchFamily="34" charset="0"/>
                <a:ea typeface="Calibri" pitchFamily="34" charset="-122"/>
                <a:cs typeface="Calibri" pitchFamily="34" charset="-120"/>
              </a:rPr>
              <a:t>💡 Use AI to move faster — not as a substitute for understanding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9E6E"/>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Best Practices: Your Checklist</a:t>
            </a:r>
            <a:endParaRPr lang="en-US" sz="2800" dirty="0"/>
          </a:p>
        </p:txBody>
      </p:sp>
      <p:sp>
        <p:nvSpPr>
          <p:cNvPr id="4" name="Shape 2"/>
          <p:cNvSpPr/>
          <p:nvPr/>
        </p:nvSpPr>
        <p:spPr>
          <a:xfrm>
            <a:off x="228600" y="960120"/>
            <a:ext cx="4251960" cy="178308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28600" y="960120"/>
            <a:ext cx="4251960" cy="384048"/>
          </a:xfrm>
          <a:prstGeom prst="rect">
            <a:avLst/>
          </a:prstGeom>
          <a:solidFill>
            <a:srgbClr val="0891B2"/>
          </a:solidFill>
          <a:ln/>
        </p:spPr>
      </p:sp>
      <p:sp>
        <p:nvSpPr>
          <p:cNvPr id="6" name="Text 4"/>
          <p:cNvSpPr/>
          <p:nvPr/>
        </p:nvSpPr>
        <p:spPr>
          <a:xfrm>
            <a:off x="365760" y="978408"/>
            <a:ext cx="3977640"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Prompting</a:t>
            </a:r>
            <a:endParaRPr lang="en-US" sz="1300" dirty="0"/>
          </a:p>
        </p:txBody>
      </p:sp>
      <p:sp>
        <p:nvSpPr>
          <p:cNvPr id="7" name="Text 5"/>
          <p:cNvSpPr/>
          <p:nvPr/>
        </p:nvSpPr>
        <p:spPr>
          <a:xfrm>
            <a:off x="365760" y="1417320"/>
            <a:ext cx="4023360" cy="123444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Be specific: language, library, column names, data shape</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Describe the expected output, not just the task</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Ask AI to explain what the code does step by step</a:t>
            </a:r>
            <a:endParaRPr lang="en-US" sz="1100" dirty="0"/>
          </a:p>
        </p:txBody>
      </p:sp>
      <p:sp>
        <p:nvSpPr>
          <p:cNvPr id="8" name="Shape 6"/>
          <p:cNvSpPr/>
          <p:nvPr/>
        </p:nvSpPr>
        <p:spPr>
          <a:xfrm>
            <a:off x="4663440" y="960120"/>
            <a:ext cx="4251960" cy="178308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4663440" y="960120"/>
            <a:ext cx="4251960" cy="384048"/>
          </a:xfrm>
          <a:prstGeom prst="rect">
            <a:avLst/>
          </a:prstGeom>
          <a:solidFill>
            <a:srgbClr val="0E4D8B"/>
          </a:solidFill>
          <a:ln/>
        </p:spPr>
      </p:sp>
      <p:sp>
        <p:nvSpPr>
          <p:cNvPr id="10" name="Text 8"/>
          <p:cNvSpPr/>
          <p:nvPr/>
        </p:nvSpPr>
        <p:spPr>
          <a:xfrm>
            <a:off x="4800600" y="978408"/>
            <a:ext cx="3977640"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Reviewing</a:t>
            </a:r>
            <a:endParaRPr lang="en-US" sz="1300" dirty="0"/>
          </a:p>
        </p:txBody>
      </p:sp>
      <p:sp>
        <p:nvSpPr>
          <p:cNvPr id="11" name="Text 9"/>
          <p:cNvSpPr/>
          <p:nvPr/>
        </p:nvSpPr>
        <p:spPr>
          <a:xfrm>
            <a:off x="4800600" y="1417320"/>
            <a:ext cx="4023360" cy="123444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Always read the code before running it</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Test with known inputs where you know the right answer</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Run your test suite (or write one) on AI-generated code</a:t>
            </a:r>
            <a:endParaRPr lang="en-US" sz="1100" dirty="0"/>
          </a:p>
        </p:txBody>
      </p:sp>
      <p:sp>
        <p:nvSpPr>
          <p:cNvPr id="12" name="Shape 10"/>
          <p:cNvSpPr/>
          <p:nvPr/>
        </p:nvSpPr>
        <p:spPr>
          <a:xfrm>
            <a:off x="228600" y="2880360"/>
            <a:ext cx="4251960" cy="178308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228600" y="2880360"/>
            <a:ext cx="4251960" cy="384048"/>
          </a:xfrm>
          <a:prstGeom prst="rect">
            <a:avLst/>
          </a:prstGeom>
          <a:solidFill>
            <a:srgbClr val="C0392B"/>
          </a:solidFill>
          <a:ln/>
        </p:spPr>
      </p:sp>
      <p:sp>
        <p:nvSpPr>
          <p:cNvPr id="14" name="Text 12"/>
          <p:cNvSpPr/>
          <p:nvPr/>
        </p:nvSpPr>
        <p:spPr>
          <a:xfrm>
            <a:off x="365760" y="2898648"/>
            <a:ext cx="3977640"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Privacy</a:t>
            </a:r>
            <a:endParaRPr lang="en-US" sz="1300" dirty="0"/>
          </a:p>
        </p:txBody>
      </p:sp>
      <p:sp>
        <p:nvSpPr>
          <p:cNvPr id="15" name="Text 13"/>
          <p:cNvSpPr/>
          <p:nvPr/>
        </p:nvSpPr>
        <p:spPr>
          <a:xfrm>
            <a:off x="365760" y="3337560"/>
            <a:ext cx="4023360" cy="123444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Use synthetic/anonymised example data in your prompts</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Never paste credentials, API keys, or participant data</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Check your institution's AI data policy</a:t>
            </a:r>
            <a:endParaRPr lang="en-US" sz="1100" dirty="0"/>
          </a:p>
        </p:txBody>
      </p:sp>
      <p:sp>
        <p:nvSpPr>
          <p:cNvPr id="16" name="Shape 14"/>
          <p:cNvSpPr/>
          <p:nvPr/>
        </p:nvSpPr>
        <p:spPr>
          <a:xfrm>
            <a:off x="4663440" y="2880360"/>
            <a:ext cx="4251960" cy="1783080"/>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4663440" y="2880360"/>
            <a:ext cx="4251960" cy="384048"/>
          </a:xfrm>
          <a:prstGeom prst="rect">
            <a:avLst/>
          </a:prstGeom>
          <a:solidFill>
            <a:srgbClr val="E87C2A"/>
          </a:solidFill>
          <a:ln/>
        </p:spPr>
      </p:sp>
      <p:sp>
        <p:nvSpPr>
          <p:cNvPr id="18" name="Text 16"/>
          <p:cNvSpPr/>
          <p:nvPr/>
        </p:nvSpPr>
        <p:spPr>
          <a:xfrm>
            <a:off x="4800600" y="2898648"/>
            <a:ext cx="3977640"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Staying sharp</a:t>
            </a:r>
            <a:endParaRPr lang="en-US" sz="1300" dirty="0"/>
          </a:p>
        </p:txBody>
      </p:sp>
      <p:sp>
        <p:nvSpPr>
          <p:cNvPr id="19" name="Text 17"/>
          <p:cNvSpPr/>
          <p:nvPr/>
        </p:nvSpPr>
        <p:spPr>
          <a:xfrm>
            <a:off x="4800600" y="3337560"/>
            <a:ext cx="4023360" cy="123444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Understand the code before accepting it</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Use AI to go faster — not to skip learning</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Verify results against known reference implementations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Hands-On Exercise (5 min)</a:t>
            </a:r>
            <a:endParaRPr lang="en-US" sz="2800" dirty="0"/>
          </a:p>
        </p:txBody>
      </p:sp>
      <p:sp>
        <p:nvSpPr>
          <p:cNvPr id="4" name="Text 2"/>
          <p:cNvSpPr/>
          <p:nvPr/>
        </p:nvSpPr>
        <p:spPr>
          <a:xfrm>
            <a:off x="274320" y="960120"/>
            <a:ext cx="8595360" cy="347472"/>
          </a:xfrm>
          <a:prstGeom prst="rect">
            <a:avLst/>
          </a:prstGeom>
          <a:noFill/>
          <a:ln/>
        </p:spPr>
        <p:txBody>
          <a:bodyPr wrap="square"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Option A — Use your own problem</a:t>
            </a:r>
            <a:endParaRPr lang="en-US" sz="1500" dirty="0"/>
          </a:p>
        </p:txBody>
      </p:sp>
      <p:sp>
        <p:nvSpPr>
          <p:cNvPr id="5" name="Text 3"/>
          <p:cNvSpPr/>
          <p:nvPr/>
        </p:nvSpPr>
        <p:spPr>
          <a:xfrm>
            <a:off x="274320" y="1325880"/>
            <a:ext cx="8595360" cy="731520"/>
          </a:xfrm>
          <a:prstGeom prst="rect">
            <a:avLst/>
          </a:prstGeom>
          <a:noFill/>
          <a:ln/>
        </p:spPr>
        <p:txBody>
          <a:bodyPr wrap="square" rtlCol="0" anchor="ctr"/>
          <a:lstStyle/>
          <a:p>
            <a:pPr indent="0" marL="0">
              <a:buNone/>
            </a:pPr>
            <a:r>
              <a:rPr lang="en-US" sz="1250" dirty="0">
                <a:solidFill>
                  <a:srgbClr val="1A2B4A"/>
                </a:solidFill>
                <a:latin typeface="Calibri" pitchFamily="34" charset="0"/>
                <a:ea typeface="Calibri" pitchFamily="34" charset="-122"/>
                <a:cs typeface="Calibri" pitchFamily="34" charset="-120"/>
              </a:rPr>
              <a:t>Think of a small coding task you've been putting off: a function to write, an error to diagnose, code to understand. Open claude.ai or chatgpt.com and try it using the strong-prompt tips from earlier. Notice what you get — and whether you can verify it.</a:t>
            </a:r>
            <a:endParaRPr lang="en-US" sz="1250" dirty="0"/>
          </a:p>
        </p:txBody>
      </p:sp>
      <p:sp>
        <p:nvSpPr>
          <p:cNvPr id="6" name="Shape 4"/>
          <p:cNvSpPr/>
          <p:nvPr/>
        </p:nvSpPr>
        <p:spPr>
          <a:xfrm>
            <a:off x="274320" y="2103120"/>
            <a:ext cx="8595360" cy="45720"/>
          </a:xfrm>
          <a:prstGeom prst="rect">
            <a:avLst/>
          </a:prstGeom>
          <a:solidFill>
            <a:srgbClr val="C8D8E8"/>
          </a:solidFill>
          <a:ln/>
        </p:spPr>
      </p:sp>
      <p:sp>
        <p:nvSpPr>
          <p:cNvPr id="7" name="Text 5"/>
          <p:cNvSpPr/>
          <p:nvPr/>
        </p:nvSpPr>
        <p:spPr>
          <a:xfrm>
            <a:off x="274320" y="2194560"/>
            <a:ext cx="8595360" cy="347472"/>
          </a:xfrm>
          <a:prstGeom prst="rect">
            <a:avLst/>
          </a:prstGeom>
          <a:noFill/>
          <a:ln/>
        </p:spPr>
        <p:txBody>
          <a:bodyPr wrap="square"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Option B — Use our example task</a:t>
            </a:r>
            <a:endParaRPr lang="en-US" sz="1500" dirty="0"/>
          </a:p>
        </p:txBody>
      </p:sp>
      <p:sp>
        <p:nvSpPr>
          <p:cNvPr id="8" name="Shape 6"/>
          <p:cNvSpPr/>
          <p:nvPr/>
        </p:nvSpPr>
        <p:spPr>
          <a:xfrm>
            <a:off x="274320" y="2606040"/>
            <a:ext cx="8595360" cy="1463040"/>
          </a:xfrm>
          <a:prstGeom prst="rect">
            <a:avLst/>
          </a:prstGeom>
          <a:solidFill>
            <a:srgbClr val="1E1E2E"/>
          </a:solidFill>
          <a:ln/>
          <a:effectLst>
            <a:outerShdw sx="100000" sy="100000" kx="0" ky="0" algn="bl" rotWithShape="0" blurRad="76200" dist="25400" dir="8100000">
              <a:srgbClr val="000000">
                <a:alpha val="12000"/>
              </a:srgbClr>
            </a:outerShdw>
          </a:effectLst>
        </p:spPr>
      </p:sp>
      <p:sp>
        <p:nvSpPr>
          <p:cNvPr id="9" name="Text 7"/>
          <p:cNvSpPr/>
          <p:nvPr/>
        </p:nvSpPr>
        <p:spPr>
          <a:xfrm>
            <a:off x="411480" y="2679192"/>
            <a:ext cx="8321040" cy="1325880"/>
          </a:xfrm>
          <a:prstGeom prst="rect">
            <a:avLst/>
          </a:prstGeom>
          <a:noFill/>
          <a:ln/>
        </p:spPr>
        <p:txBody>
          <a:bodyPr wrap="square" rtlCol="0" anchor="ctr"/>
          <a:lstStyle/>
          <a:p>
            <a:pPr indent="0" marL="0">
              <a:buNone/>
            </a:pPr>
            <a:r>
              <a:rPr lang="en-US" sz="1050" b="1" dirty="0">
                <a:solidFill>
                  <a:srgbClr val="7BAFD4"/>
                </a:solidFill>
                <a:latin typeface="Consolas" pitchFamily="34" charset="0"/>
                <a:ea typeface="Consolas" pitchFamily="34" charset="-122"/>
                <a:cs typeface="Consolas" pitchFamily="34" charset="-120"/>
              </a:rPr>
              <a:t>Prompt to try:
</a:t>
            </a:r>
            <a:pPr indent="0" marL="0">
              <a:buNone/>
            </a:pPr>
            <a:r>
              <a:rPr lang="en-US" sz="1050" dirty="0">
                <a:solidFill>
                  <a:srgbClr val="F8F8F2"/>
                </a:solidFill>
                <a:latin typeface="Consolas" pitchFamily="34" charset="0"/>
                <a:ea typeface="Consolas" pitchFamily="34" charset="-122"/>
                <a:cs typeface="Consolas" pitchFamily="34" charset="-120"/>
              </a:rPr>
              <a:t>"I have a pandas DataFrame with columns: subject_id, age, group (A/B), score_pre, score_post.
</a:t>
            </a:r>
            <a:pPr indent="0" marL="0">
              <a:buNone/>
            </a:pPr>
            <a:r>
              <a:rPr lang="en-US" sz="1050" dirty="0">
                <a:solidFill>
                  <a:srgbClr val="F8F8F2"/>
                </a:solidFill>
                <a:latin typeface="Consolas" pitchFamily="34" charset="0"/>
                <a:ea typeface="Consolas" pitchFamily="34" charset="-122"/>
                <a:cs typeface="Consolas" pitchFamily="34" charset="-120"/>
              </a:rPr>
              <a:t>Write a Python function that: (1) removes rows where score_pre or score_post is null;
</a:t>
            </a:r>
            <a:pPr indent="0" marL="0">
              <a:buNone/>
            </a:pPr>
            <a:r>
              <a:rPr lang="en-US" sz="1050" dirty="0">
                <a:solidFill>
                  <a:srgbClr val="F8F8F2"/>
                </a:solidFill>
                <a:latin typeface="Consolas" pitchFamily="34" charset="0"/>
                <a:ea typeface="Consolas" pitchFamily="34" charset="-122"/>
                <a:cs typeface="Consolas" pitchFamily="34" charset="-120"/>
              </a:rPr>
              <a:t>(2) computes a new column change = score_post - score_pre; (3) returns the mean change
</a:t>
            </a:r>
            <a:pPr indent="0" marL="0">
              <a:buNone/>
            </a:pPr>
            <a:r>
              <a:rPr lang="en-US" sz="1050" dirty="0">
                <a:solidFill>
                  <a:srgbClr val="F8F8F2"/>
                </a:solidFill>
                <a:latin typeface="Consolas" pitchFamily="34" charset="0"/>
                <a:ea typeface="Consolas" pitchFamily="34" charset="-122"/>
                <a:cs typeface="Consolas" pitchFamily="34" charset="-120"/>
              </a:rPr>
              <a:t>by group. Include a docstring and test it with a small example DataFrame."</a:t>
            </a:r>
            <a:endParaRPr lang="en-US" sz="1050" dirty="0"/>
          </a:p>
        </p:txBody>
      </p:sp>
      <p:sp>
        <p:nvSpPr>
          <p:cNvPr id="10" name="Text 8"/>
          <p:cNvSpPr/>
          <p:nvPr/>
        </p:nvSpPr>
        <p:spPr>
          <a:xfrm>
            <a:off x="274320" y="4160520"/>
            <a:ext cx="8595360" cy="384048"/>
          </a:xfrm>
          <a:prstGeom prst="rect">
            <a:avLst/>
          </a:prstGeom>
          <a:noFill/>
          <a:ln/>
        </p:spPr>
        <p:txBody>
          <a:bodyPr wrap="square" rtlCol="0" anchor="ctr"/>
          <a:lstStyle/>
          <a:p>
            <a:pPr indent="0" marL="0">
              <a:buNone/>
            </a:pPr>
            <a:r>
              <a:rPr lang="en-US" sz="1250" i="1" dirty="0">
                <a:solidFill>
                  <a:srgbClr val="5577A0"/>
                </a:solidFill>
                <a:latin typeface="Calibri" pitchFamily="34" charset="0"/>
                <a:ea typeface="Calibri" pitchFamily="34" charset="-122"/>
                <a:cs typeface="Calibri" pitchFamily="34" charset="-120"/>
              </a:rPr>
              <a:t>Then ask: 'Explain what each step does.' Can you spot any issues? What would you test?</a:t>
            </a:r>
            <a:endParaRPr lang="en-US" sz="1250" dirty="0"/>
          </a:p>
        </p:txBody>
      </p:sp>
      <p:sp>
        <p:nvSpPr>
          <p:cNvPr id="11" name="Shape 9"/>
          <p:cNvSpPr/>
          <p:nvPr/>
        </p:nvSpPr>
        <p:spPr>
          <a:xfrm>
            <a:off x="274320" y="4617720"/>
            <a:ext cx="8595360" cy="347472"/>
          </a:xfrm>
          <a:prstGeom prst="rect">
            <a:avLst/>
          </a:prstGeom>
          <a:solidFill>
            <a:srgbClr val="E8F4EE"/>
          </a:solidFill>
          <a:ln w="6350">
            <a:solidFill>
              <a:srgbClr val="88CCA0"/>
            </a:solidFill>
            <a:prstDash val="solid"/>
          </a:ln>
        </p:spPr>
      </p:sp>
      <p:sp>
        <p:nvSpPr>
          <p:cNvPr id="12" name="Text 10"/>
          <p:cNvSpPr/>
          <p:nvPr/>
        </p:nvSpPr>
        <p:spPr>
          <a:xfrm>
            <a:off x="411480" y="4636008"/>
            <a:ext cx="8321040" cy="310896"/>
          </a:xfrm>
          <a:prstGeom prst="rect">
            <a:avLst/>
          </a:prstGeom>
          <a:noFill/>
          <a:ln/>
        </p:spPr>
        <p:txBody>
          <a:bodyPr wrap="square" rtlCol="0" anchor="ctr"/>
          <a:lstStyle/>
          <a:p>
            <a:pPr indent="0" marL="0">
              <a:buNone/>
            </a:pPr>
            <a:r>
              <a:rPr lang="en-US" sz="1100" dirty="0">
                <a:solidFill>
                  <a:srgbClr val="186A40"/>
                </a:solidFill>
                <a:latin typeface="Calibri" pitchFamily="34" charset="0"/>
                <a:ea typeface="Calibri" pitchFamily="34" charset="-122"/>
                <a:cs typeface="Calibri" pitchFamily="34" charset="-120"/>
              </a:rPr>
              <a:t>Tip: if you don't have access yet — sign up at claude.ai or chatgpt.com (free tier works fine for this)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sp>
      <p:sp>
        <p:nvSpPr>
          <p:cNvPr id="3" name="Text 1"/>
          <p:cNvSpPr/>
          <p:nvPr/>
        </p:nvSpPr>
        <p:spPr>
          <a:xfrm>
            <a:off x="365760" y="274320"/>
            <a:ext cx="8412480" cy="5943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Key Takeaways</a:t>
            </a:r>
            <a:endParaRPr lang="en-US" sz="3400" dirty="0"/>
          </a:p>
        </p:txBody>
      </p:sp>
      <p:sp>
        <p:nvSpPr>
          <p:cNvPr id="4" name="Shape 2"/>
          <p:cNvSpPr/>
          <p:nvPr/>
        </p:nvSpPr>
        <p:spPr>
          <a:xfrm>
            <a:off x="365760" y="1097280"/>
            <a:ext cx="411480" cy="411480"/>
          </a:xfrm>
          <a:prstGeom prst="ellipse">
            <a:avLst/>
          </a:prstGeom>
          <a:solidFill>
            <a:srgbClr val="0891B2"/>
          </a:solidFill>
          <a:ln/>
        </p:spPr>
      </p:sp>
      <p:sp>
        <p:nvSpPr>
          <p:cNvPr id="5" name="Text 3"/>
          <p:cNvSpPr/>
          <p:nvPr/>
        </p:nvSpPr>
        <p:spPr>
          <a:xfrm>
            <a:off x="365760" y="1097280"/>
            <a:ext cx="41148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914400" y="1078992"/>
            <a:ext cx="7955280" cy="502920"/>
          </a:xfrm>
          <a:prstGeom prst="rect">
            <a:avLst/>
          </a:prstGeom>
          <a:noFill/>
          <a:ln/>
        </p:spPr>
        <p:txBody>
          <a:bodyPr wrap="square" rtlCol="0" anchor="ctr"/>
          <a:lstStyle/>
          <a:p>
            <a:pPr indent="0" marL="0">
              <a:buNone/>
            </a:pPr>
            <a:r>
              <a:rPr lang="en-US" sz="1400" dirty="0">
                <a:solidFill>
                  <a:srgbClr val="D4E8FF"/>
                </a:solidFill>
                <a:latin typeface="Calibri" pitchFamily="34" charset="0"/>
                <a:ea typeface="Calibri" pitchFamily="34" charset="-122"/>
                <a:cs typeface="Calibri" pitchFamily="34" charset="-120"/>
              </a:rPr>
              <a:t>AI is a fast, imperfect collaborator — not an oracle. Always review its output.</a:t>
            </a:r>
            <a:endParaRPr lang="en-US" sz="1400" dirty="0"/>
          </a:p>
        </p:txBody>
      </p:sp>
      <p:sp>
        <p:nvSpPr>
          <p:cNvPr id="7" name="Shape 5"/>
          <p:cNvSpPr/>
          <p:nvPr/>
        </p:nvSpPr>
        <p:spPr>
          <a:xfrm>
            <a:off x="365760" y="1874520"/>
            <a:ext cx="411480" cy="411480"/>
          </a:xfrm>
          <a:prstGeom prst="ellipse">
            <a:avLst/>
          </a:prstGeom>
          <a:solidFill>
            <a:srgbClr val="5B9BD5"/>
          </a:solidFill>
          <a:ln/>
        </p:spPr>
      </p:sp>
      <p:sp>
        <p:nvSpPr>
          <p:cNvPr id="8" name="Text 6"/>
          <p:cNvSpPr/>
          <p:nvPr/>
        </p:nvSpPr>
        <p:spPr>
          <a:xfrm>
            <a:off x="365760" y="1874520"/>
            <a:ext cx="41148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914400" y="1856232"/>
            <a:ext cx="7955280" cy="502920"/>
          </a:xfrm>
          <a:prstGeom prst="rect">
            <a:avLst/>
          </a:prstGeom>
          <a:noFill/>
          <a:ln/>
        </p:spPr>
        <p:txBody>
          <a:bodyPr wrap="square" rtlCol="0" anchor="ctr"/>
          <a:lstStyle/>
          <a:p>
            <a:pPr indent="0" marL="0">
              <a:buNone/>
            </a:pPr>
            <a:r>
              <a:rPr lang="en-US" sz="1400" dirty="0">
                <a:solidFill>
                  <a:srgbClr val="D4E8FF"/>
                </a:solidFill>
                <a:latin typeface="Calibri" pitchFamily="34" charset="0"/>
                <a:ea typeface="Calibri" pitchFamily="34" charset="-122"/>
                <a:cs typeface="Calibri" pitchFamily="34" charset="-120"/>
              </a:rPr>
              <a:t>Specific prompts get useful results. Vague prompts get vague (and often wrong) code.</a:t>
            </a:r>
            <a:endParaRPr lang="en-US" sz="1400" dirty="0"/>
          </a:p>
        </p:txBody>
      </p:sp>
      <p:sp>
        <p:nvSpPr>
          <p:cNvPr id="10" name="Shape 8"/>
          <p:cNvSpPr/>
          <p:nvPr/>
        </p:nvSpPr>
        <p:spPr>
          <a:xfrm>
            <a:off x="365760" y="2651760"/>
            <a:ext cx="411480" cy="411480"/>
          </a:xfrm>
          <a:prstGeom prst="ellipse">
            <a:avLst/>
          </a:prstGeom>
          <a:solidFill>
            <a:srgbClr val="0891B2"/>
          </a:solidFill>
          <a:ln/>
        </p:spPr>
      </p:sp>
      <p:sp>
        <p:nvSpPr>
          <p:cNvPr id="11" name="Text 9"/>
          <p:cNvSpPr/>
          <p:nvPr/>
        </p:nvSpPr>
        <p:spPr>
          <a:xfrm>
            <a:off x="365760" y="2651760"/>
            <a:ext cx="41148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914400" y="2633472"/>
            <a:ext cx="7955280" cy="502920"/>
          </a:xfrm>
          <a:prstGeom prst="rect">
            <a:avLst/>
          </a:prstGeom>
          <a:noFill/>
          <a:ln/>
        </p:spPr>
        <p:txBody>
          <a:bodyPr wrap="square" rtlCol="0" anchor="ctr"/>
          <a:lstStyle/>
          <a:p>
            <a:pPr indent="0" marL="0">
              <a:buNone/>
            </a:pPr>
            <a:r>
              <a:rPr lang="en-US" sz="1400" dirty="0">
                <a:solidFill>
                  <a:srgbClr val="D4E8FF"/>
                </a:solidFill>
                <a:latin typeface="Calibri" pitchFamily="34" charset="0"/>
                <a:ea typeface="Calibri" pitchFamily="34" charset="-122"/>
                <a:cs typeface="Calibri" pitchFamily="34" charset="-120"/>
              </a:rPr>
              <a:t>Test AI code like you'd test any code: with known inputs, edge cases, and validation.</a:t>
            </a:r>
            <a:endParaRPr lang="en-US" sz="1400" dirty="0"/>
          </a:p>
        </p:txBody>
      </p:sp>
      <p:sp>
        <p:nvSpPr>
          <p:cNvPr id="13" name="Shape 11"/>
          <p:cNvSpPr/>
          <p:nvPr/>
        </p:nvSpPr>
        <p:spPr>
          <a:xfrm>
            <a:off x="365760" y="3429000"/>
            <a:ext cx="411480" cy="411480"/>
          </a:xfrm>
          <a:prstGeom prst="ellipse">
            <a:avLst/>
          </a:prstGeom>
          <a:solidFill>
            <a:srgbClr val="E87C2A"/>
          </a:solidFill>
          <a:ln/>
        </p:spPr>
      </p:sp>
      <p:sp>
        <p:nvSpPr>
          <p:cNvPr id="14" name="Text 12"/>
          <p:cNvSpPr/>
          <p:nvPr/>
        </p:nvSpPr>
        <p:spPr>
          <a:xfrm>
            <a:off x="365760" y="3429000"/>
            <a:ext cx="41148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914400" y="3410712"/>
            <a:ext cx="7955280" cy="502920"/>
          </a:xfrm>
          <a:prstGeom prst="rect">
            <a:avLst/>
          </a:prstGeom>
          <a:noFill/>
          <a:ln/>
        </p:spPr>
        <p:txBody>
          <a:bodyPr wrap="square" rtlCol="0" anchor="ctr"/>
          <a:lstStyle/>
          <a:p>
            <a:pPr indent="0" marL="0">
              <a:buNone/>
            </a:pPr>
            <a:r>
              <a:rPr lang="en-US" sz="1400" dirty="0">
                <a:solidFill>
                  <a:srgbClr val="D4E8FF"/>
                </a:solidFill>
                <a:latin typeface="Calibri" pitchFamily="34" charset="0"/>
                <a:ea typeface="Calibri" pitchFamily="34" charset="-122"/>
                <a:cs typeface="Calibri" pitchFamily="34" charset="-120"/>
              </a:rPr>
              <a:t>Never paste real research data or credentials into a public AI chat window.</a:t>
            </a:r>
            <a:endParaRPr lang="en-US" sz="1400" dirty="0"/>
          </a:p>
        </p:txBody>
      </p:sp>
      <p:sp>
        <p:nvSpPr>
          <p:cNvPr id="16" name="Shape 14"/>
          <p:cNvSpPr/>
          <p:nvPr/>
        </p:nvSpPr>
        <p:spPr>
          <a:xfrm>
            <a:off x="365760" y="4206240"/>
            <a:ext cx="411480" cy="411480"/>
          </a:xfrm>
          <a:prstGeom prst="ellipse">
            <a:avLst/>
          </a:prstGeom>
          <a:solidFill>
            <a:srgbClr val="5B9BD5"/>
          </a:solidFill>
          <a:ln/>
        </p:spPr>
      </p:sp>
      <p:sp>
        <p:nvSpPr>
          <p:cNvPr id="17" name="Text 15"/>
          <p:cNvSpPr/>
          <p:nvPr/>
        </p:nvSpPr>
        <p:spPr>
          <a:xfrm>
            <a:off x="365760" y="4206240"/>
            <a:ext cx="41148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18" name="Text 16"/>
          <p:cNvSpPr/>
          <p:nvPr/>
        </p:nvSpPr>
        <p:spPr>
          <a:xfrm>
            <a:off x="914400" y="4187952"/>
            <a:ext cx="7955280" cy="502920"/>
          </a:xfrm>
          <a:prstGeom prst="rect">
            <a:avLst/>
          </a:prstGeom>
          <a:noFill/>
          <a:ln/>
        </p:spPr>
        <p:txBody>
          <a:bodyPr wrap="square" rtlCol="0" anchor="ctr"/>
          <a:lstStyle/>
          <a:p>
            <a:pPr indent="0" marL="0">
              <a:buNone/>
            </a:pPr>
            <a:r>
              <a:rPr lang="en-US" sz="1400" dirty="0">
                <a:solidFill>
                  <a:srgbClr val="D4E8FF"/>
                </a:solidFill>
                <a:latin typeface="Calibri" pitchFamily="34" charset="0"/>
                <a:ea typeface="Calibri" pitchFamily="34" charset="-122"/>
                <a:cs typeface="Calibri" pitchFamily="34" charset="-120"/>
              </a:rPr>
              <a:t>Use AI to go faster — but keep understanding what your code does.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8B"/>
          </a:solidFill>
          <a:ln/>
        </p:spPr>
      </p:sp>
      <p:sp>
        <p:nvSpPr>
          <p:cNvPr id="3" name="Text 1"/>
          <p:cNvSpPr/>
          <p:nvPr/>
        </p:nvSpPr>
        <p:spPr>
          <a:xfrm>
            <a:off x="365760" y="45720"/>
            <a:ext cx="841248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  Resources to Go Deeper</a:t>
            </a:r>
            <a:endParaRPr lang="en-US" sz="2800" dirty="0"/>
          </a:p>
        </p:txBody>
      </p:sp>
      <p:sp>
        <p:nvSpPr>
          <p:cNvPr id="4" name="Shape 2"/>
          <p:cNvSpPr/>
          <p:nvPr/>
        </p:nvSpPr>
        <p:spPr>
          <a:xfrm>
            <a:off x="228600" y="960120"/>
            <a:ext cx="8686800" cy="1207008"/>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28600" y="960120"/>
            <a:ext cx="73152" cy="1207008"/>
          </a:xfrm>
          <a:prstGeom prst="rect">
            <a:avLst/>
          </a:prstGeom>
          <a:solidFill>
            <a:srgbClr val="0891B2"/>
          </a:solidFill>
          <a:ln/>
        </p:spPr>
      </p:sp>
      <p:sp>
        <p:nvSpPr>
          <p:cNvPr id="6" name="Text 4"/>
          <p:cNvSpPr/>
          <p:nvPr/>
        </p:nvSpPr>
        <p:spPr>
          <a:xfrm>
            <a:off x="411480" y="1033272"/>
            <a:ext cx="8366760" cy="320040"/>
          </a:xfrm>
          <a:prstGeom prst="rect">
            <a:avLst/>
          </a:prstGeom>
          <a:noFill/>
          <a:ln/>
        </p:spPr>
        <p:txBody>
          <a:bodyPr wrap="square" rtlCol="0" anchor="ctr"/>
          <a:lstStyle/>
          <a:p>
            <a:pPr indent="0" marL="0">
              <a:buNone/>
            </a:pPr>
            <a:r>
              <a:rPr lang="en-US" sz="1300" b="1" dirty="0">
                <a:solidFill>
                  <a:srgbClr val="0891B2"/>
                </a:solidFill>
                <a:latin typeface="Georgia" pitchFamily="34" charset="0"/>
                <a:ea typeface="Georgia" pitchFamily="34" charset="-122"/>
                <a:cs typeface="Georgia" pitchFamily="34" charset="-120"/>
              </a:rPr>
              <a:t>Tools (free tiers available)</a:t>
            </a:r>
            <a:endParaRPr lang="en-US" sz="1300" dirty="0"/>
          </a:p>
        </p:txBody>
      </p:sp>
      <p:sp>
        <p:nvSpPr>
          <p:cNvPr id="7" name="Text 5"/>
          <p:cNvSpPr/>
          <p:nvPr/>
        </p:nvSpPr>
        <p:spPr>
          <a:xfrm>
            <a:off x="411480" y="1399032"/>
            <a:ext cx="8321040" cy="73152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claude.ai — Claude by Anthropic</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chatgpt.com — ChatGPT by OpenAI</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github.com/features/copilot — free for researchers (github.com/education)</a:t>
            </a:r>
            <a:endParaRPr lang="en-US" sz="1100" dirty="0"/>
          </a:p>
        </p:txBody>
      </p:sp>
      <p:sp>
        <p:nvSpPr>
          <p:cNvPr id="8" name="Shape 6"/>
          <p:cNvSpPr/>
          <p:nvPr/>
        </p:nvSpPr>
        <p:spPr>
          <a:xfrm>
            <a:off x="228600" y="2286000"/>
            <a:ext cx="8686800" cy="1207008"/>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228600" y="2286000"/>
            <a:ext cx="73152" cy="1207008"/>
          </a:xfrm>
          <a:prstGeom prst="rect">
            <a:avLst/>
          </a:prstGeom>
          <a:solidFill>
            <a:srgbClr val="0E4D8B"/>
          </a:solidFill>
          <a:ln/>
        </p:spPr>
      </p:sp>
      <p:sp>
        <p:nvSpPr>
          <p:cNvPr id="10" name="Text 8"/>
          <p:cNvSpPr/>
          <p:nvPr/>
        </p:nvSpPr>
        <p:spPr>
          <a:xfrm>
            <a:off x="411480" y="2359152"/>
            <a:ext cx="8366760" cy="320040"/>
          </a:xfrm>
          <a:prstGeom prst="rect">
            <a:avLst/>
          </a:prstGeom>
          <a:noFill/>
          <a:ln/>
        </p:spPr>
        <p:txBody>
          <a:bodyPr wrap="square" rtlCol="0" anchor="ctr"/>
          <a:lstStyle/>
          <a:p>
            <a:pPr indent="0" marL="0">
              <a:buNone/>
            </a:pPr>
            <a:r>
              <a:rPr lang="en-US" sz="1300" b="1" dirty="0">
                <a:solidFill>
                  <a:srgbClr val="0E4D8B"/>
                </a:solidFill>
                <a:latin typeface="Georgia" pitchFamily="34" charset="0"/>
                <a:ea typeface="Georgia" pitchFamily="34" charset="-122"/>
                <a:cs typeface="Georgia" pitchFamily="34" charset="-120"/>
              </a:rPr>
              <a:t>Guides &amp; Best Practices</a:t>
            </a:r>
            <a:endParaRPr lang="en-US" sz="1300" dirty="0"/>
          </a:p>
        </p:txBody>
      </p:sp>
      <p:sp>
        <p:nvSpPr>
          <p:cNvPr id="11" name="Text 9"/>
          <p:cNvSpPr/>
          <p:nvPr/>
        </p:nvSpPr>
        <p:spPr>
          <a:xfrm>
            <a:off x="411480" y="2724912"/>
            <a:ext cx="8321040" cy="73152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OpenSSF Security Guide for AI Code Assistants — best.openssf.org</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'Beyond the Vibes' — rigorous guide to AI coding agents — blog.tedivm.com</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Anthropic Prompt Engineering docs — docs.anthropic.com/en/docs/build-with-claude/prompt-engineering</a:t>
            </a:r>
            <a:endParaRPr lang="en-US" sz="1100" dirty="0"/>
          </a:p>
        </p:txBody>
      </p:sp>
      <p:sp>
        <p:nvSpPr>
          <p:cNvPr id="12" name="Shape 10"/>
          <p:cNvSpPr/>
          <p:nvPr/>
        </p:nvSpPr>
        <p:spPr>
          <a:xfrm>
            <a:off x="228600" y="3611880"/>
            <a:ext cx="8686800" cy="1207008"/>
          </a:xfrm>
          <a:prstGeom prst="rect">
            <a:avLst/>
          </a:prstGeom>
          <a:solidFill>
            <a:srgbClr val="FFFFFF"/>
          </a:solidFill>
          <a:ln w="6350">
            <a:solidFill>
              <a:srgbClr val="D8E8F4"/>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228600" y="3611880"/>
            <a:ext cx="73152" cy="1207008"/>
          </a:xfrm>
          <a:prstGeom prst="rect">
            <a:avLst/>
          </a:prstGeom>
          <a:solidFill>
            <a:srgbClr val="E87C2A"/>
          </a:solidFill>
          <a:ln/>
        </p:spPr>
      </p:sp>
      <p:sp>
        <p:nvSpPr>
          <p:cNvPr id="14" name="Text 12"/>
          <p:cNvSpPr/>
          <p:nvPr/>
        </p:nvSpPr>
        <p:spPr>
          <a:xfrm>
            <a:off x="411480" y="3685032"/>
            <a:ext cx="8366760" cy="320040"/>
          </a:xfrm>
          <a:prstGeom prst="rect">
            <a:avLst/>
          </a:prstGeom>
          <a:noFill/>
          <a:ln/>
        </p:spPr>
        <p:txBody>
          <a:bodyPr wrap="square" rtlCol="0" anchor="ctr"/>
          <a:lstStyle/>
          <a:p>
            <a:pPr indent="0" marL="0">
              <a:buNone/>
            </a:pPr>
            <a:r>
              <a:rPr lang="en-US" sz="1300" b="1" dirty="0">
                <a:solidFill>
                  <a:srgbClr val="E87C2A"/>
                </a:solidFill>
                <a:latin typeface="Georgia" pitchFamily="34" charset="0"/>
                <a:ea typeface="Georgia" pitchFamily="34" charset="-122"/>
                <a:cs typeface="Georgia" pitchFamily="34" charset="-120"/>
              </a:rPr>
              <a:t>Watch Out For</a:t>
            </a:r>
            <a:endParaRPr lang="en-US" sz="1300" dirty="0"/>
          </a:p>
        </p:txBody>
      </p:sp>
      <p:sp>
        <p:nvSpPr>
          <p:cNvPr id="15" name="Text 13"/>
          <p:cNvSpPr/>
          <p:nvPr/>
        </p:nvSpPr>
        <p:spPr>
          <a:xfrm>
            <a:off x="411480" y="4050792"/>
            <a:ext cx="8321040" cy="731520"/>
          </a:xfrm>
          <a:prstGeom prst="rect">
            <a:avLst/>
          </a:prstGeom>
          <a:noFill/>
          <a:ln/>
        </p:spPr>
        <p:txBody>
          <a:bodyPr wrap="square" rtlCol="0" anchor="ctr"/>
          <a:lstStyle/>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Your institution's AI usage policy (many now published)</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IEEE Spectrum — 'AI Coding Assistants: Newer models fail in insidious ways' (2026)</a:t>
            </a:r>
            <a:endParaRPr lang="en-US" sz="1100" dirty="0"/>
          </a:p>
          <a:p>
            <a:pPr marL="342900" indent="-342900">
              <a:buSzPct val="100000"/>
              <a:buChar char="•"/>
            </a:pPr>
            <a:r>
              <a:rPr lang="en-US" sz="1100" dirty="0">
                <a:solidFill>
                  <a:srgbClr val="1A2B4A"/>
                </a:solidFill>
                <a:latin typeface="Calibri" pitchFamily="34" charset="0"/>
                <a:ea typeface="Calibri" pitchFamily="34" charset="-122"/>
                <a:cs typeface="Calibri" pitchFamily="34" charset="-120"/>
              </a:rPr>
              <a:t>Ryz Labs — '10 Common Mistakes When Using AI Coding Assistants'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AI Tools for Research Code</dc:title>
  <dc:subject>PptxGenJS Presentation</dc:subject>
  <dc:creator>PptxGenJS</dc:creator>
  <cp:lastModifiedBy>PptxGenJS</cp:lastModifiedBy>
  <cp:revision>1</cp:revision>
  <dcterms:created xsi:type="dcterms:W3CDTF">2026-05-20T17:16:12Z</dcterms:created>
  <dcterms:modified xsi:type="dcterms:W3CDTF">2026-05-20T17:16:12Z</dcterms:modified>
</cp:coreProperties>
</file>